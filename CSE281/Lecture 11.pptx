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70" r:id="rId4"/>
    <p:sldId id="269" r:id="rId5"/>
    <p:sldId id="271" r:id="rId6"/>
    <p:sldId id="272" r:id="rId7"/>
    <p:sldId id="273" r:id="rId8"/>
    <p:sldId id="268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1" autoAdjust="0"/>
    <p:restoredTop sz="94660"/>
  </p:normalViewPr>
  <p:slideViewPr>
    <p:cSldViewPr snapToGrid="0">
      <p:cViewPr varScale="1">
        <p:scale>
          <a:sx n="83" d="100"/>
          <a:sy n="83" d="100"/>
        </p:scale>
        <p:origin x="59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12/28/2025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4000" dirty="0"/>
              <a:t>Introduction to Programming Language II(Java)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Fariha </a:t>
            </a:r>
            <a:r>
              <a:rPr lang="en-US" dirty="0" err="1"/>
              <a:t>Zahin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9092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25053" y="1480465"/>
            <a:ext cx="107418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Motivation: Why Exception Handling Matters?</a:t>
            </a:r>
          </a:p>
          <a:p>
            <a:endParaRPr lang="en-US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CF39478A-7116-D832-AE5F-D2B8C2722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5053" y="1803630"/>
            <a:ext cx="11134438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Programs often face abnormal situations during execution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Common causes include: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Invalid user input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Missing files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Network failures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Division by zero</a:t>
            </a:r>
            <a:endParaRPr lang="en-US" altLang="en-US" dirty="0">
              <a:latin typeface="Arial" panose="020B0604020202020204" pitchFamily="34" charset="0"/>
            </a:endParaRP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6357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C9EA2-7B7C-5993-5C55-9247B785A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CA77A1A-B634-A13D-7461-530E5721F9A4}"/>
              </a:ext>
            </a:extLst>
          </p:cNvPr>
          <p:cNvSpPr/>
          <p:nvPr/>
        </p:nvSpPr>
        <p:spPr>
          <a:xfrm>
            <a:off x="725053" y="1480465"/>
            <a:ext cx="107418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Motivation: Why Exception Handling Matters?</a:t>
            </a:r>
          </a:p>
          <a:p>
            <a:endParaRPr lang="en-US" b="1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7C02700-8F67-A1A7-9FDD-E5E669D113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5053" y="1982883"/>
            <a:ext cx="10469420" cy="29495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Without handling, programs may terminate abruptly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Exception handling improves:		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Program robustness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Maintainability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Code readability</a:t>
            </a:r>
          </a:p>
          <a:p>
            <a:pPr marL="742950" lvl="1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Separation of normal logic and error-handling logic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443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2DC42-EFFD-A339-062A-28C97585A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F348374-5D39-405F-3E55-C1F299C868CF}"/>
              </a:ext>
            </a:extLst>
          </p:cNvPr>
          <p:cNvSpPr/>
          <p:nvPr/>
        </p:nvSpPr>
        <p:spPr>
          <a:xfrm>
            <a:off x="725053" y="1332683"/>
            <a:ext cx="10741891" cy="4609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What is Exception Handling?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Exception: An event that disrupts the normal flow of the program.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Handling: Mechanism to detect and handle runtime problems.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Examples: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Division by zero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Accessing invalid array index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Reading a non-existent file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ct val="150000"/>
              </a:lnSpc>
            </a:pPr>
            <a:endParaRPr lang="en-US" b="1" dirty="0"/>
          </a:p>
          <a:p>
            <a:pPr>
              <a:lnSpc>
                <a:spcPct val="150000"/>
              </a:lnSpc>
            </a:pPr>
            <a:r>
              <a:rPr lang="en-US" b="1" dirty="0"/>
              <a:t>**Java provides a robust exception handling model using try, catch, throw, throws, and finally.</a:t>
            </a:r>
          </a:p>
        </p:txBody>
      </p:sp>
    </p:spTree>
    <p:extLst>
      <p:ext uri="{BB962C8B-B14F-4D97-AF65-F5344CB8AC3E}">
        <p14:creationId xmlns:p14="http://schemas.microsoft.com/office/powerpoint/2010/main" val="538677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57934-79F0-A106-E5C0-6A143876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31A2A5-2C1F-2BCA-2512-EA11E01F58E0}"/>
              </a:ext>
            </a:extLst>
          </p:cNvPr>
          <p:cNvSpPr/>
          <p:nvPr/>
        </p:nvSpPr>
        <p:spPr>
          <a:xfrm>
            <a:off x="854362" y="1813021"/>
            <a:ext cx="6096000" cy="294817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Types of Exceptions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Checked Exception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Checked at compile time.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Must be handled using try-catch or declared using throws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Program will not compile if ignored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Examples: IOException, </a:t>
            </a:r>
            <a:r>
              <a:rPr lang="en-US" dirty="0" err="1"/>
              <a:t>SQLException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25132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A8723-7720-5B82-CF93-E4AAFD0D1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9980B5D-9857-D9CF-7FF3-BCA852D883B6}"/>
              </a:ext>
            </a:extLst>
          </p:cNvPr>
          <p:cNvSpPr/>
          <p:nvPr/>
        </p:nvSpPr>
        <p:spPr>
          <a:xfrm>
            <a:off x="854362" y="1813021"/>
            <a:ext cx="6096000" cy="2948179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/>
              <a:t>Types of Exceptions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dirty="0"/>
              <a:t>2. Unchecked Exception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Occur at runtime.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Not checked at compile time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Usually caused by programming errors</a:t>
            </a:r>
          </a:p>
          <a:p>
            <a:pPr marL="742950" lvl="1" indent="-2857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Examples: </a:t>
            </a:r>
            <a:r>
              <a:rPr lang="en-US" dirty="0" err="1"/>
              <a:t>NullPointerException</a:t>
            </a:r>
            <a:r>
              <a:rPr lang="en-US" dirty="0"/>
              <a:t>, </a:t>
            </a:r>
            <a:r>
              <a:rPr lang="en-US" dirty="0" err="1"/>
              <a:t>ArithmeticException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41278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D9A20-860D-8C74-20E8-DB8F5BD6A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EF0849F-23A6-3DB0-8F5F-E1F5D56750C0}"/>
              </a:ext>
            </a:extLst>
          </p:cNvPr>
          <p:cNvSpPr/>
          <p:nvPr/>
        </p:nvSpPr>
        <p:spPr>
          <a:xfrm>
            <a:off x="226289" y="1748366"/>
            <a:ext cx="3274293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Error: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Serious system-level problems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meant to be handled by applications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Example: </a:t>
            </a:r>
            <a:r>
              <a:rPr lang="en-US" dirty="0" err="1"/>
              <a:t>OutOfMemoryError</a:t>
            </a:r>
            <a:endParaRPr lang="en-US" dirty="0"/>
          </a:p>
        </p:txBody>
      </p:sp>
      <p:pic>
        <p:nvPicPr>
          <p:cNvPr id="3" name="Picture 2" descr="A computer screen shot of a program&#10;&#10;AI-generated content may be incorrect.">
            <a:extLst>
              <a:ext uri="{FF2B5EF4-FFF2-40B4-BE49-F238E27FC236}">
                <a16:creationId xmlns:a16="http://schemas.microsoft.com/office/drawing/2014/main" id="{9D82A048-C99C-D03C-C00C-2D52A3898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8575" y="1511877"/>
            <a:ext cx="8353425" cy="4076700"/>
          </a:xfrm>
          <a:prstGeom prst="rect">
            <a:avLst/>
          </a:prstGeom>
        </p:spPr>
      </p:pic>
      <p:pic>
        <p:nvPicPr>
          <p:cNvPr id="6" name="Picture 5" descr="A screen shot of a computer code">
            <a:extLst>
              <a:ext uri="{FF2B5EF4-FFF2-40B4-BE49-F238E27FC236}">
                <a16:creationId xmlns:a16="http://schemas.microsoft.com/office/drawing/2014/main" id="{5C9E3D40-03A0-6E00-1D16-0C6088B66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286375"/>
            <a:ext cx="7753350" cy="157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7669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7AC9E4B1-0001-5D96-F54D-8C631F216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2879" y="1109455"/>
            <a:ext cx="5524500" cy="31146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13FD842-080A-7566-2FDF-084CE89829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2879" y="4816248"/>
            <a:ext cx="7181850" cy="14382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3D8CEE2-1EAD-4799-4C9B-A10755197FB8}"/>
              </a:ext>
            </a:extLst>
          </p:cNvPr>
          <p:cNvSpPr txBox="1"/>
          <p:nvPr/>
        </p:nvSpPr>
        <p:spPr>
          <a:xfrm>
            <a:off x="249382" y="1925843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 err="1"/>
              <a:t>ArithmeticException</a:t>
            </a:r>
            <a:endParaRPr lang="en-US" b="1" dirty="0"/>
          </a:p>
          <a:p>
            <a:r>
              <a:rPr lang="en-US" dirty="0"/>
              <a:t>Division by zero</a:t>
            </a:r>
          </a:p>
        </p:txBody>
      </p:sp>
    </p:spTree>
    <p:extLst>
      <p:ext uri="{BB962C8B-B14F-4D97-AF65-F5344CB8AC3E}">
        <p14:creationId xmlns:p14="http://schemas.microsoft.com/office/powerpoint/2010/main" val="27793750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948" y="1043708"/>
            <a:ext cx="7070103" cy="5814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4583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9618" y="1452480"/>
            <a:ext cx="465704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Difference Between Error and Exception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911452"/>
              </p:ext>
            </p:extLst>
          </p:nvPr>
        </p:nvGraphicFramePr>
        <p:xfrm>
          <a:off x="639618" y="2114045"/>
          <a:ext cx="10820400" cy="2743200"/>
        </p:xfrm>
        <a:graphic>
          <a:graphicData uri="http://schemas.openxmlformats.org/drawingml/2006/table">
            <a:tbl>
              <a:tblPr/>
              <a:tblGrid>
                <a:gridCol w="3606800">
                  <a:extLst>
                    <a:ext uri="{9D8B030D-6E8A-4147-A177-3AD203B41FA5}">
                      <a16:colId xmlns:a16="http://schemas.microsoft.com/office/drawing/2014/main" val="17249921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2315586211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1628457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Error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Exception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3649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Origin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Outside the control of program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Within program’s scope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99437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dirty="0"/>
                        <a:t>Recovery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Not usually recoverable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Can be handled using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81588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Examples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OutOfMemoryError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StackOverflowError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IOException, NumberFormatException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30984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Type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Unchecked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Checked or Unchecked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3052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/>
                        <a:t>Use of try-catch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Not advised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Strongly recommended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94126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96941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57382" y="1249509"/>
            <a:ext cx="6096000" cy="1754326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5 Keywords in Exception Handling</a:t>
            </a:r>
          </a:p>
          <a:p>
            <a:pPr>
              <a:buFont typeface="+mj-lt"/>
              <a:buAutoNum type="arabicPeriod"/>
            </a:pPr>
            <a:r>
              <a:rPr lang="en-US" dirty="0"/>
              <a:t>try – Block to monitor for exceptions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catch – Handles the exception</a:t>
            </a:r>
          </a:p>
          <a:p>
            <a:pPr>
              <a:buFont typeface="+mj-lt"/>
              <a:buAutoNum type="arabicPeriod"/>
            </a:pPr>
            <a:r>
              <a:rPr lang="en-US" dirty="0"/>
              <a:t>throw – Used to explicitly throw an exception</a:t>
            </a:r>
          </a:p>
          <a:p>
            <a:pPr>
              <a:buFont typeface="+mj-lt"/>
              <a:buAutoNum type="arabicPeriod"/>
            </a:pPr>
            <a:r>
              <a:rPr lang="en-US" dirty="0"/>
              <a:t>throws – Declares exceptions</a:t>
            </a:r>
          </a:p>
          <a:p>
            <a:pPr>
              <a:buFont typeface="+mj-lt"/>
              <a:buAutoNum type="arabicPeriod"/>
            </a:pPr>
            <a:r>
              <a:rPr lang="en-US" dirty="0"/>
              <a:t>finally – Always executes after try-catch</a:t>
            </a:r>
          </a:p>
        </p:txBody>
      </p:sp>
      <p:sp>
        <p:nvSpPr>
          <p:cNvPr id="3" name="Rectangle 2"/>
          <p:cNvSpPr/>
          <p:nvPr/>
        </p:nvSpPr>
        <p:spPr>
          <a:xfrm>
            <a:off x="757382" y="3198336"/>
            <a:ext cx="6096000" cy="147732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b="1" dirty="0"/>
              <a:t>try block</a:t>
            </a:r>
          </a:p>
          <a:p>
            <a:r>
              <a:rPr lang="en-US" b="1" dirty="0"/>
              <a:t>Used for:</a:t>
            </a:r>
            <a:r>
              <a:rPr lang="en-US" dirty="0"/>
              <a:t> Wrapping code that might throw an exception.</a:t>
            </a:r>
            <a:br>
              <a:rPr lang="en-US" dirty="0"/>
            </a:br>
            <a:r>
              <a:rPr lang="en-US" b="1" dirty="0"/>
              <a:t>Rules:</a:t>
            </a:r>
            <a:r>
              <a:rPr lang="en-US" dirty="0"/>
              <a:t> Must be followed by either a catch block, a finally block, or both.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3502" y="4675664"/>
            <a:ext cx="4921503" cy="158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48093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701" y="2531306"/>
            <a:ext cx="3232517" cy="136643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2582" y="1323354"/>
            <a:ext cx="884843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catch block</a:t>
            </a:r>
          </a:p>
          <a:p>
            <a:r>
              <a:rPr lang="en-US" b="1" dirty="0"/>
              <a:t>Used for:</a:t>
            </a:r>
            <a:r>
              <a:rPr lang="en-US" dirty="0"/>
              <a:t> Handling exceptions that are thrown inside the try block.</a:t>
            </a:r>
            <a:br>
              <a:rPr lang="en-US" dirty="0"/>
            </a:br>
            <a:r>
              <a:rPr lang="en-US" b="1" dirty="0"/>
              <a:t>Rules:</a:t>
            </a:r>
            <a:r>
              <a:rPr lang="en-US" dirty="0"/>
              <a:t> You can use multiple catch blocks for different exception types.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82" y="2383524"/>
            <a:ext cx="6240463" cy="398956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2582" y="4182367"/>
            <a:ext cx="382385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Only the first exception that occurs is handled. In this case, the array index error happens first, so the division is never reached.</a:t>
            </a:r>
          </a:p>
        </p:txBody>
      </p:sp>
    </p:spTree>
    <p:extLst>
      <p:ext uri="{BB962C8B-B14F-4D97-AF65-F5344CB8AC3E}">
        <p14:creationId xmlns:p14="http://schemas.microsoft.com/office/powerpoint/2010/main" val="1359144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94326" y="1295508"/>
            <a:ext cx="10945091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Why Child Exception First, Parent Last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Java matches exceptions from </a:t>
            </a:r>
            <a:r>
              <a:rPr lang="en-US" b="1" dirty="0"/>
              <a:t>top to bottom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When the parent class (Exception) comes </a:t>
            </a:r>
            <a:r>
              <a:rPr lang="en-US" b="1" dirty="0"/>
              <a:t>before</a:t>
            </a:r>
            <a:r>
              <a:rPr lang="en-US" dirty="0"/>
              <a:t> the child classes, the child catch blocks become </a:t>
            </a:r>
            <a:r>
              <a:rPr lang="en-US" b="1" dirty="0"/>
              <a:t>unreachable</a:t>
            </a:r>
            <a:r>
              <a:rPr lang="en-US" dirty="0"/>
              <a:t>, and this results in a </a:t>
            </a:r>
            <a:r>
              <a:rPr lang="en-US" b="1" dirty="0"/>
              <a:t>compile-time error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Correct Order:</a:t>
            </a:r>
            <a:r>
              <a:rPr lang="en-US" dirty="0"/>
              <a:t> Write the more </a:t>
            </a:r>
            <a:r>
              <a:rPr lang="en-US" b="1" dirty="0"/>
              <a:t>specific exceptions first</a:t>
            </a:r>
            <a:r>
              <a:rPr lang="en-US" dirty="0"/>
              <a:t>, and the </a:t>
            </a:r>
            <a:r>
              <a:rPr lang="en-US" b="1" dirty="0"/>
              <a:t>general one (Exception)</a:t>
            </a:r>
            <a:r>
              <a:rPr lang="en-US" dirty="0"/>
              <a:t> at the end.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332508" y="3253034"/>
            <a:ext cx="395653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Wrong Order (Compile-Time Error)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521" y="3855108"/>
            <a:ext cx="4540643" cy="249950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30498" y="3253034"/>
            <a:ext cx="43829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Correct Order (Child First, Parent Last)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191" y="3855108"/>
            <a:ext cx="5473981" cy="2176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5026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81890" y="1304881"/>
            <a:ext cx="1019694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finally block</a:t>
            </a:r>
          </a:p>
          <a:p>
            <a:r>
              <a:rPr lang="en-US" b="1" dirty="0"/>
              <a:t>Used for:</a:t>
            </a:r>
            <a:r>
              <a:rPr lang="en-US" dirty="0"/>
              <a:t> Code that should always run, whether an exception occurs or not.</a:t>
            </a:r>
            <a:br>
              <a:rPr lang="en-US" dirty="0"/>
            </a:br>
            <a:r>
              <a:rPr lang="en-US" b="1" dirty="0"/>
              <a:t>Rules:</a:t>
            </a:r>
            <a:r>
              <a:rPr lang="en-US" dirty="0"/>
              <a:t> Used for cleanup like closing files or releasing resources.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281" y="2360111"/>
            <a:ext cx="5911964" cy="3190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835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54181" y="1351063"/>
            <a:ext cx="1052945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throw keyword</a:t>
            </a:r>
          </a:p>
          <a:p>
            <a:r>
              <a:rPr lang="en-US" b="1" dirty="0"/>
              <a:t>Used for:</a:t>
            </a:r>
            <a:r>
              <a:rPr lang="en-US" dirty="0"/>
              <a:t> Manually throwing an exception (built-in or custom).</a:t>
            </a:r>
            <a:br>
              <a:rPr lang="en-US" dirty="0"/>
            </a:br>
            <a:r>
              <a:rPr lang="en-US" b="1" dirty="0"/>
              <a:t>Rules:</a:t>
            </a:r>
            <a:r>
              <a:rPr lang="en-US" dirty="0"/>
              <a:t> Only one exception can be thrown at a time using throw.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3694" y="2739389"/>
            <a:ext cx="6926084" cy="2719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58310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81891" y="1360300"/>
            <a:ext cx="1081578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throws keyword</a:t>
            </a:r>
          </a:p>
          <a:p>
            <a:r>
              <a:rPr lang="en-US" b="1" dirty="0"/>
              <a:t>Used for:</a:t>
            </a:r>
            <a:r>
              <a:rPr lang="en-US" dirty="0"/>
              <a:t> Declaring exceptions a method might throw.</a:t>
            </a:r>
            <a:br>
              <a:rPr lang="en-US" dirty="0"/>
            </a:br>
            <a:r>
              <a:rPr lang="en-US" b="1" dirty="0"/>
              <a:t>Rules:</a:t>
            </a:r>
            <a:r>
              <a:rPr lang="en-US" dirty="0"/>
              <a:t> Helps inform the caller to handle the exception.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9953" y="2493158"/>
            <a:ext cx="5842817" cy="354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16689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98765" y="1443841"/>
            <a:ext cx="11222180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/>
              <a:t>Custom User-Defined Exception in Java</a:t>
            </a:r>
            <a:br>
              <a:rPr lang="en-US" dirty="0"/>
            </a:br>
            <a:r>
              <a:rPr lang="en-US" dirty="0"/>
              <a:t>Java allows you to create your own exception classes by extending the built-in Exception class (or any of its subclasses). This helps you represent application-specific errors clearly.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Custom exceptions usually extend Exception (checked exceptions) or </a:t>
            </a:r>
            <a:r>
              <a:rPr lang="en-US" dirty="0" err="1"/>
              <a:t>RuntimeException</a:t>
            </a:r>
            <a:r>
              <a:rPr lang="en-US" dirty="0"/>
              <a:t> (unchecked exceptions).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You can add constructors and custom messages.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When your code detects a specific error condition, you throw your custom exception.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The caller handles it like any other exception using try-catch.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019" y="4012582"/>
            <a:ext cx="4978217" cy="2305089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7544" y="3971017"/>
            <a:ext cx="5007402" cy="2388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543" y="1533474"/>
            <a:ext cx="5600988" cy="276143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004290" y="4294909"/>
            <a:ext cx="7693891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This code defines a custom exception class named </a:t>
            </a:r>
            <a:r>
              <a:rPr lang="en-US" dirty="0" err="1"/>
              <a:t>MyException</a:t>
            </a:r>
            <a:r>
              <a:rPr lang="en-US" dirty="0"/>
              <a:t> without any constructor. The method check throws this exception when the input number is less than zero. In the main method, check is called inside a try block. If the exception occurs, it is caught in the catch block, and a simple message is printed. Since the custom exception has no constructor with a message, no detailed error message is available. This shows that defining a constructor is optional but useful for passing error details.</a:t>
            </a:r>
          </a:p>
        </p:txBody>
      </p:sp>
    </p:spTree>
    <p:extLst>
      <p:ext uri="{BB962C8B-B14F-4D97-AF65-F5344CB8AC3E}">
        <p14:creationId xmlns:p14="http://schemas.microsoft.com/office/powerpoint/2010/main" val="3127140088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545</TotalTime>
  <Words>716</Words>
  <Application>Microsoft Office PowerPoint</Application>
  <PresentationFormat>Widescreen</PresentationFormat>
  <Paragraphs>93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Century Gothic</vt:lpstr>
      <vt:lpstr>Wingdings</vt:lpstr>
      <vt:lpstr>Vapor Trail</vt:lpstr>
      <vt:lpstr>Introduction to Programming Language II(Java)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Fariha</dc:creator>
  <cp:lastModifiedBy>Ashraful Islam Paran</cp:lastModifiedBy>
  <cp:revision>23</cp:revision>
  <dcterms:created xsi:type="dcterms:W3CDTF">2025-05-24T10:47:44Z</dcterms:created>
  <dcterms:modified xsi:type="dcterms:W3CDTF">2025-12-28T15:27:03Z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2025-12-28T14:56:10Z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248d3fd5-07bc-47d9-926d-1556b634441f</vt:lpwstr>
  </property>
  <property fmtid="{D5CDD505-2E9C-101B-9397-08002B2CF9AE}" pid="7" name="MSIP_Label_defa4170-0d19-0005-0004-bc88714345d2_ActionId">
    <vt:lpwstr>b0e62726-c1a1-425b-b243-d065720cd42c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