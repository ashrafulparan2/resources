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Introduction to Programming Language II(Java)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Fariha </a:t>
            </a:r>
            <a:r>
              <a:rPr lang="en-US" dirty="0" err="1" smtClean="0"/>
              <a:t>Zahin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0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053" y="1332683"/>
            <a:ext cx="107418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Exception Handling?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Exception: An event that disrupts the normal flow of the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Handling: Mechanism to detect and handle runtime problems.</a:t>
            </a:r>
          </a:p>
          <a:p>
            <a:endParaRPr lang="en-US" b="1" dirty="0" smtClean="0"/>
          </a:p>
          <a:p>
            <a:r>
              <a:rPr lang="en-US" b="1" dirty="0" smtClean="0"/>
              <a:t>**Java </a:t>
            </a:r>
            <a:r>
              <a:rPr lang="en-US" b="1" dirty="0"/>
              <a:t>provides a robust exception handling model using try, catch, throw, throws, and finally.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5053" y="370647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Types of Exceptions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Checked Exception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Checked at compile time.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Examples: </a:t>
            </a:r>
            <a:r>
              <a:rPr lang="en-US" dirty="0" err="1"/>
              <a:t>IOException</a:t>
            </a:r>
            <a:r>
              <a:rPr lang="en-US" dirty="0"/>
              <a:t>, </a:t>
            </a:r>
            <a:r>
              <a:rPr lang="en-US" dirty="0" err="1"/>
              <a:t>SQLException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Unchecked Exception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Occur at runtime.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Examples: </a:t>
            </a:r>
            <a:r>
              <a:rPr lang="en-US" dirty="0" err="1"/>
              <a:t>NullPointerException</a:t>
            </a:r>
            <a:r>
              <a:rPr lang="en-US" dirty="0"/>
              <a:t>, </a:t>
            </a:r>
            <a:r>
              <a:rPr lang="en-US" dirty="0" err="1"/>
              <a:t>ArithmeticException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357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921" y="952575"/>
            <a:ext cx="6014879" cy="33510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796" y="4224130"/>
            <a:ext cx="6731346" cy="19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7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948" y="1043708"/>
            <a:ext cx="7070103" cy="581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5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8787" y="1276989"/>
            <a:ext cx="4657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Difference Between Error and Exception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911452"/>
              </p:ext>
            </p:extLst>
          </p:nvPr>
        </p:nvGraphicFramePr>
        <p:xfrm>
          <a:off x="639618" y="2114045"/>
          <a:ext cx="10820400" cy="274320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1724992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31558621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16284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649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Origin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Outside the control of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Within program’s 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43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usually recoverable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 be handled using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58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OutOfMemoryError, StackOverflowError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IOException, NumberFormatException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09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Unchecked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Checked or Unchecked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0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 of try-catch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advised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Strongly recommended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412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94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7382" y="124950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5 Keywords in Exception Handling</a:t>
            </a:r>
          </a:p>
          <a:p>
            <a:pPr>
              <a:buFont typeface="+mj-lt"/>
              <a:buAutoNum type="arabicPeriod"/>
            </a:pPr>
            <a:r>
              <a:rPr lang="en-US" dirty="0"/>
              <a:t>try – Block to monitor for exceptions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catch – Handles the exception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throw – Used to explicitly throw an exception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throws – Declares exceptions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finally – Always executes after try-catch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57382" y="31983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try block</a:t>
            </a:r>
          </a:p>
          <a:p>
            <a:r>
              <a:rPr lang="en-US" b="1" dirty="0"/>
              <a:t>Used for:</a:t>
            </a:r>
            <a:r>
              <a:rPr lang="en-US" dirty="0"/>
              <a:t> Wrapping code that might throw an exception.</a:t>
            </a:r>
            <a:br>
              <a:rPr lang="en-US" dirty="0"/>
            </a:br>
            <a:r>
              <a:rPr lang="en-US" b="1" dirty="0"/>
              <a:t>Rules:</a:t>
            </a:r>
            <a:r>
              <a:rPr lang="en-US" dirty="0"/>
              <a:t> Must be followed by either a catch block, a finally block, or both.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502" y="4675664"/>
            <a:ext cx="4921503" cy="158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09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01" y="2531306"/>
            <a:ext cx="3232517" cy="13664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2582" y="1323354"/>
            <a:ext cx="88484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catch block</a:t>
            </a:r>
          </a:p>
          <a:p>
            <a:r>
              <a:rPr lang="en-US" b="1" dirty="0"/>
              <a:t>Used for:</a:t>
            </a:r>
            <a:r>
              <a:rPr lang="en-US" dirty="0"/>
              <a:t> Handling exceptions that are thrown inside the try block.</a:t>
            </a:r>
            <a:br>
              <a:rPr lang="en-US" dirty="0"/>
            </a:br>
            <a:r>
              <a:rPr lang="en-US" b="1" dirty="0"/>
              <a:t>Rules:</a:t>
            </a:r>
            <a:r>
              <a:rPr lang="en-US" dirty="0"/>
              <a:t> You can use multiple catch blocks for different exception types.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482" y="2383524"/>
            <a:ext cx="6240463" cy="39895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2582" y="4182367"/>
            <a:ext cx="3823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Only the first exception that occurs is handled. In this case, the array index error happens first, so the division is never reached.</a:t>
            </a:r>
          </a:p>
        </p:txBody>
      </p:sp>
    </p:spTree>
    <p:extLst>
      <p:ext uri="{BB962C8B-B14F-4D97-AF65-F5344CB8AC3E}">
        <p14:creationId xmlns:p14="http://schemas.microsoft.com/office/powerpoint/2010/main" val="135914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94326" y="1295508"/>
            <a:ext cx="1094509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Child Exception First, Parent Last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 matches exceptions from </a:t>
            </a:r>
            <a:r>
              <a:rPr lang="en-US" b="1" dirty="0"/>
              <a:t>top to bottom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the parent class (Exception) comes </a:t>
            </a:r>
            <a:r>
              <a:rPr lang="en-US" b="1" dirty="0"/>
              <a:t>before</a:t>
            </a:r>
            <a:r>
              <a:rPr lang="en-US" dirty="0"/>
              <a:t> the child classes, the child catch blocks become </a:t>
            </a:r>
            <a:r>
              <a:rPr lang="en-US" b="1" dirty="0"/>
              <a:t>unreachable</a:t>
            </a:r>
            <a:r>
              <a:rPr lang="en-US" dirty="0"/>
              <a:t>, and this results in a </a:t>
            </a:r>
            <a:r>
              <a:rPr lang="en-US" b="1" dirty="0"/>
              <a:t>compile-time error</a:t>
            </a:r>
            <a:r>
              <a:rPr lang="en-US" dirty="0"/>
              <a:t>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Correct Order:</a:t>
            </a:r>
            <a:r>
              <a:rPr lang="en-US" dirty="0"/>
              <a:t> Write the more </a:t>
            </a:r>
            <a:r>
              <a:rPr lang="en-US" b="1" dirty="0"/>
              <a:t>specific exceptions first</a:t>
            </a:r>
            <a:r>
              <a:rPr lang="en-US" dirty="0"/>
              <a:t>, and the </a:t>
            </a:r>
            <a:r>
              <a:rPr lang="en-US" b="1" dirty="0"/>
              <a:t>general one (Exception)</a:t>
            </a:r>
            <a:r>
              <a:rPr lang="en-US" dirty="0"/>
              <a:t> at the 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2508" y="3253034"/>
            <a:ext cx="3956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Wrong Order (Compile-Time Error)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21" y="3855108"/>
            <a:ext cx="4540643" cy="24995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0498" y="3253034"/>
            <a:ext cx="4382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Correct Order (Child First, Parent Last)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191" y="3855108"/>
            <a:ext cx="5473981" cy="217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0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890" y="1304881"/>
            <a:ext cx="101969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finally block</a:t>
            </a:r>
          </a:p>
          <a:p>
            <a:r>
              <a:rPr lang="en-US" b="1" dirty="0"/>
              <a:t>Used for:</a:t>
            </a:r>
            <a:r>
              <a:rPr lang="en-US" dirty="0"/>
              <a:t> Code that should always run, whether an exception occurs or not.</a:t>
            </a:r>
            <a:br>
              <a:rPr lang="en-US" dirty="0"/>
            </a:br>
            <a:r>
              <a:rPr lang="en-US" b="1" dirty="0"/>
              <a:t>Rules:</a:t>
            </a:r>
            <a:r>
              <a:rPr lang="en-US" dirty="0"/>
              <a:t> Used for cleanup like closing files or releasing resources.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281" y="2360111"/>
            <a:ext cx="5911964" cy="319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83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4181" y="1351063"/>
            <a:ext cx="105294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throw keyword</a:t>
            </a:r>
          </a:p>
          <a:p>
            <a:r>
              <a:rPr lang="en-US" b="1" dirty="0"/>
              <a:t>Used for:</a:t>
            </a:r>
            <a:r>
              <a:rPr lang="en-US" dirty="0"/>
              <a:t> Manually throwing an exception (built-in or custom).</a:t>
            </a:r>
            <a:br>
              <a:rPr lang="en-US" dirty="0"/>
            </a:br>
            <a:r>
              <a:rPr lang="en-US" b="1" dirty="0"/>
              <a:t>Rules:</a:t>
            </a:r>
            <a:r>
              <a:rPr lang="en-US" dirty="0"/>
              <a:t> Only one exception can be thrown at a time using throw.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694" y="2739389"/>
            <a:ext cx="6926084" cy="271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31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891" y="1360300"/>
            <a:ext cx="108157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throws keyword</a:t>
            </a:r>
          </a:p>
          <a:p>
            <a:r>
              <a:rPr lang="en-US" b="1" dirty="0"/>
              <a:t>Used for:</a:t>
            </a:r>
            <a:r>
              <a:rPr lang="en-US" dirty="0"/>
              <a:t> Declaring exceptions a method might throw.</a:t>
            </a:r>
            <a:br>
              <a:rPr lang="en-US" dirty="0"/>
            </a:br>
            <a:r>
              <a:rPr lang="en-US" b="1" dirty="0"/>
              <a:t>Rules:</a:t>
            </a:r>
            <a:r>
              <a:rPr lang="en-US" dirty="0"/>
              <a:t> Helps inform the caller to handle the exception.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953" y="2493158"/>
            <a:ext cx="5842817" cy="354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68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8765" y="1443841"/>
            <a:ext cx="112221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Custom User-Defined Exception in </a:t>
            </a:r>
            <a:r>
              <a:rPr lang="en-US" b="1" dirty="0" smtClean="0"/>
              <a:t>Java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Java allows you to create your own exception classes by extending the built-in Exception class (or any of its subclasses). This helps you represent application-specific errors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 exceptions usually extend Exception (checked exceptions) or </a:t>
            </a:r>
            <a:r>
              <a:rPr lang="en-US" dirty="0" err="1"/>
              <a:t>RuntimeException</a:t>
            </a:r>
            <a:r>
              <a:rPr lang="en-US" dirty="0"/>
              <a:t> (unchecked exceptions).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add constructors and custom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your code detects a specific error condition, you throw your custom exception.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caller handles it like any other exception using try-catch.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9" y="4012582"/>
            <a:ext cx="4978217" cy="2305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44" y="3971017"/>
            <a:ext cx="5007402" cy="23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7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43" y="1533474"/>
            <a:ext cx="5600988" cy="27614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04290" y="4294909"/>
            <a:ext cx="76938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code defines a custom exception class named </a:t>
            </a:r>
            <a:r>
              <a:rPr lang="en-US" dirty="0" err="1"/>
              <a:t>MyException</a:t>
            </a:r>
            <a:r>
              <a:rPr lang="en-US" dirty="0"/>
              <a:t> without any constructor. The method check throws this exception when the input number is less than zero. In the main method, check is called inside a try block. If the exception occurs, it is caught in the catch block, and a simple message is printed. Since the custom exception has no constructor with a message, no detailed error message is available. This shows that defining a constructor is optional but useful for passing error details.</a:t>
            </a:r>
          </a:p>
        </p:txBody>
      </p:sp>
    </p:spTree>
    <p:extLst>
      <p:ext uri="{BB962C8B-B14F-4D97-AF65-F5344CB8AC3E}">
        <p14:creationId xmlns:p14="http://schemas.microsoft.com/office/powerpoint/2010/main" val="312714008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526</TotalTime>
  <Words>439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Introduction to Programming Language II(Java)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Fariha</cp:lastModifiedBy>
  <cp:revision>15</cp:revision>
  <dcterms:created xsi:type="dcterms:W3CDTF">2025-05-24T10:47:44Z</dcterms:created>
  <dcterms:modified xsi:type="dcterms:W3CDTF">2025-05-25T18:19:07Z</dcterms:modified>
</cp:coreProperties>
</file>