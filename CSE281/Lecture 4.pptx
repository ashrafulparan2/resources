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3" r:id="rId6"/>
    <p:sldId id="260" r:id="rId7"/>
    <p:sldId id="261" r:id="rId8"/>
    <p:sldId id="262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2" y="22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2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48A87A34-81AB-432B-8DAE-1953F412C126}" type="datetimeFigureOut">
              <a:rPr lang="en-US" dirty="0"/>
              <a:t>11/9/2025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2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dirty="0"/>
              <a:pPr/>
              <a:t>11/9/2025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11/9/2025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11/9/2025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11/9/2025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2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dirty="0"/>
              <a:pPr/>
              <a:t>11/9/2025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2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dirty="0"/>
              <a:pPr/>
              <a:t>11/9/2025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2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dirty="0"/>
              <a:pPr/>
              <a:t>11/9/2025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11/9/2025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11/9/2025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2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dirty="0"/>
              <a:pPr/>
              <a:t>11/9/2025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2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11/9/2025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599" y="1803405"/>
            <a:ext cx="10441710" cy="1825096"/>
          </a:xfrm>
        </p:spPr>
        <p:txBody>
          <a:bodyPr>
            <a:normAutofit/>
          </a:bodyPr>
          <a:lstStyle/>
          <a:p>
            <a:r>
              <a:rPr lang="en-US" sz="4000" dirty="0"/>
              <a:t>Introduction to Programming Language II(Java)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752B5B0-8943-F826-52ED-56F02571BE8F}"/>
              </a:ext>
            </a:extLst>
          </p:cNvPr>
          <p:cNvSpPr txBox="1"/>
          <p:nvPr/>
        </p:nvSpPr>
        <p:spPr>
          <a:xfrm>
            <a:off x="1510748" y="3628501"/>
            <a:ext cx="359133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Fariha Zahin</a:t>
            </a:r>
          </a:p>
          <a:p>
            <a:r>
              <a:rPr lang="en-US" dirty="0"/>
              <a:t>Lecturer</a:t>
            </a:r>
          </a:p>
          <a:p>
            <a:r>
              <a:rPr lang="en-US" dirty="0"/>
              <a:t>CSE, Southeast University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04183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2002" y="1955955"/>
            <a:ext cx="4650653" cy="43801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456873" y="960582"/>
            <a:ext cx="6945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Object Oriented Programming in JAVA</a:t>
            </a:r>
          </a:p>
        </p:txBody>
      </p:sp>
    </p:spTree>
    <p:extLst>
      <p:ext uri="{BB962C8B-B14F-4D97-AF65-F5344CB8AC3E}">
        <p14:creationId xmlns:p14="http://schemas.microsoft.com/office/powerpoint/2010/main" val="110865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618836" y="1545120"/>
            <a:ext cx="6834909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What is Inheritance?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Inheritance is a mechanism in Java where one class acquires the properties and behaviors (fields and methods) of another class.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The class that inherits is called </a:t>
            </a:r>
            <a:r>
              <a:rPr lang="en-US" b="1" dirty="0"/>
              <a:t>Subclass (Child class)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The class being inherited from is called </a:t>
            </a:r>
            <a:r>
              <a:rPr lang="en-US" b="1" dirty="0"/>
              <a:t>Superclass (Parent class)</a:t>
            </a:r>
            <a:r>
              <a:rPr lang="en-US" dirty="0"/>
              <a:t>.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8257" y="2169390"/>
            <a:ext cx="3547052" cy="308439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18836" y="3808075"/>
            <a:ext cx="6096000" cy="230832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b="1" dirty="0"/>
              <a:t>Why Use Inheritance?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Code Reusability</a:t>
            </a:r>
            <a:r>
              <a:rPr lang="en-US" dirty="0"/>
              <a:t>: Reuse existing code from the superclass.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Method Overriding</a:t>
            </a:r>
            <a:r>
              <a:rPr lang="en-US" dirty="0"/>
              <a:t>: Modify superclass methods in subclass.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Runtime Polymorphism</a:t>
            </a:r>
            <a:r>
              <a:rPr lang="en-US" dirty="0"/>
              <a:t>: Enables dynamic method dispatch.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Organizes Code</a:t>
            </a:r>
            <a:r>
              <a:rPr lang="en-US" dirty="0"/>
              <a:t>: Establishes a natural hierarchy.</a:t>
            </a:r>
          </a:p>
        </p:txBody>
      </p:sp>
    </p:spTree>
    <p:extLst>
      <p:ext uri="{BB962C8B-B14F-4D97-AF65-F5344CB8AC3E}">
        <p14:creationId xmlns:p14="http://schemas.microsoft.com/office/powerpoint/2010/main" val="26481755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0763" y="1460332"/>
            <a:ext cx="6751781" cy="380100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37308" y="2302163"/>
            <a:ext cx="458625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Types of Inheritance in Java</a:t>
            </a:r>
            <a:endParaRPr lang="en-US" dirty="0"/>
          </a:p>
          <a:p>
            <a:pPr>
              <a:buFont typeface="+mj-lt"/>
              <a:buAutoNum type="arabicPeriod"/>
            </a:pPr>
            <a:r>
              <a:rPr lang="en-US" b="1" dirty="0"/>
              <a:t>Single Inheritance</a:t>
            </a:r>
            <a:endParaRPr lang="en-US" dirty="0"/>
          </a:p>
          <a:p>
            <a:pPr>
              <a:buFont typeface="+mj-lt"/>
              <a:buAutoNum type="arabicPeriod"/>
            </a:pPr>
            <a:r>
              <a:rPr lang="en-US" b="1" dirty="0"/>
              <a:t>Multilevel Inheritance</a:t>
            </a:r>
            <a:endParaRPr lang="en-US" dirty="0"/>
          </a:p>
          <a:p>
            <a:pPr>
              <a:buFont typeface="+mj-lt"/>
              <a:buAutoNum type="arabicPeriod"/>
            </a:pPr>
            <a:r>
              <a:rPr lang="en-US" b="1" dirty="0"/>
              <a:t>Hierarchical Inheritance</a:t>
            </a:r>
            <a:r>
              <a:rPr lang="en-US" dirty="0"/>
              <a:t> (Note: Java does not support multiple inheritance through classes. It is achieved using interfaces.)</a:t>
            </a:r>
          </a:p>
        </p:txBody>
      </p:sp>
    </p:spTree>
    <p:extLst>
      <p:ext uri="{BB962C8B-B14F-4D97-AF65-F5344CB8AC3E}">
        <p14:creationId xmlns:p14="http://schemas.microsoft.com/office/powerpoint/2010/main" val="14004965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517236" y="1462483"/>
            <a:ext cx="8146473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**</a:t>
            </a:r>
            <a:r>
              <a:rPr lang="en-US" b="1" dirty="0"/>
              <a:t>Java uses the </a:t>
            </a:r>
            <a:r>
              <a:rPr lang="en-US" b="1" dirty="0">
                <a:solidFill>
                  <a:schemeClr val="accent5"/>
                </a:solidFill>
              </a:rPr>
              <a:t>extends</a:t>
            </a:r>
            <a:r>
              <a:rPr lang="en-US" b="1" dirty="0"/>
              <a:t> keyword to establish an inheritance relationship between a subclass and a superclass.</a:t>
            </a:r>
          </a:p>
          <a:p>
            <a:r>
              <a:rPr lang="en-US" dirty="0"/>
              <a:t>Syntax:</a:t>
            </a:r>
          </a:p>
          <a:p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8221" y="2779547"/>
            <a:ext cx="5082351" cy="129368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052945" y="4629926"/>
            <a:ext cx="940261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The subclass inherits accessible fields and methods from the superclass.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It allows the subclass to reuse, override, or add new functionality.</a:t>
            </a:r>
          </a:p>
        </p:txBody>
      </p:sp>
    </p:spTree>
    <p:extLst>
      <p:ext uri="{BB962C8B-B14F-4D97-AF65-F5344CB8AC3E}">
        <p14:creationId xmlns:p14="http://schemas.microsoft.com/office/powerpoint/2010/main" val="26840883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84406" y="1461716"/>
            <a:ext cx="21900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/>
              <a:t>Single Inheritance</a:t>
            </a:r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484406" y="1831048"/>
            <a:ext cx="8410212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 subclass inherits from only one superclass.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Promotes code reuse and method overriding.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C06224-38BF-D559-CB00-4295E6C7908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8096"/>
          <a:stretch>
            <a:fillRect/>
          </a:stretch>
        </p:blipFill>
        <p:spPr>
          <a:xfrm>
            <a:off x="5786835" y="823965"/>
            <a:ext cx="6988985" cy="561702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A36969E-CC9B-B18F-3C65-B9BE27348A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623" y="3035126"/>
            <a:ext cx="5438775" cy="3219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27179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84406" y="1461716"/>
            <a:ext cx="2648482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/>
              <a:t>Multilevel Inheritance </a:t>
            </a:r>
            <a:endParaRPr lang="en-US" dirty="0"/>
          </a:p>
          <a:p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483056" y="2191481"/>
            <a:ext cx="4947926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 class is derived from another derived class, forming a chain of inheritance.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Supports multi-level code reuse.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4293CAD-09C8-654F-7032-12AAA100EC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3025" y="76200"/>
            <a:ext cx="7038975" cy="67056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496406A-3531-1C97-44E8-738C8123F4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429000"/>
            <a:ext cx="5199542" cy="2961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34338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84406" y="1461716"/>
            <a:ext cx="294183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/>
              <a:t>Hierarchical</a:t>
            </a:r>
            <a:r>
              <a:rPr lang="en-US" dirty="0"/>
              <a:t> </a:t>
            </a:r>
            <a:r>
              <a:rPr lang="en-US" b="1" dirty="0"/>
              <a:t>Inheritance </a:t>
            </a:r>
            <a:endParaRPr lang="en-US" dirty="0"/>
          </a:p>
          <a:p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484406" y="2246854"/>
            <a:ext cx="478955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Multiple subclasses inherit from a </a:t>
            </a:r>
          </a:p>
          <a:p>
            <a:r>
              <a:rPr lang="en-US" dirty="0"/>
              <a:t> single superclass.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Promotes a hierarchical </a:t>
            </a:r>
          </a:p>
          <a:p>
            <a:r>
              <a:rPr lang="en-US" dirty="0"/>
              <a:t> classification.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987432F-BB2E-4AC1-1C71-EB52DB752B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2539" y="0"/>
            <a:ext cx="7479461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8AD0C9E-7F7F-1AF1-9FC8-A79B1687692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2188"/>
          <a:stretch>
            <a:fillRect/>
          </a:stretch>
        </p:blipFill>
        <p:spPr>
          <a:xfrm>
            <a:off x="116409" y="3447183"/>
            <a:ext cx="3952979" cy="30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68904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E5224E"/>
      </a:accent1>
      <a:accent2>
        <a:srgbClr val="9D074E"/>
      </a:accent2>
      <a:accent3>
        <a:srgbClr val="7F2294"/>
      </a:accent3>
      <a:accent4>
        <a:srgbClr val="8D65EA"/>
      </a:accent4>
      <a:accent5>
        <a:srgbClr val="588FE2"/>
      </a:accent5>
      <a:accent6>
        <a:srgbClr val="127CA4"/>
      </a:accent6>
      <a:hlink>
        <a:srgbClr val="FB4AB6"/>
      </a:hlink>
      <a:folHlink>
        <a:srgbClr val="F98FE9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6DB8EB18-3657-4051-A897-2ED38832359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842</TotalTime>
  <Words>239</Words>
  <Application>Microsoft Office PowerPoint</Application>
  <PresentationFormat>Widescreen</PresentationFormat>
  <Paragraphs>33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Century Gothic</vt:lpstr>
      <vt:lpstr>Vapor Trail</vt:lpstr>
      <vt:lpstr>Introduction to Programming Language II(Java)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Fariha</dc:creator>
  <cp:lastModifiedBy>Ashraful Islam Paran</cp:lastModifiedBy>
  <cp:revision>16</cp:revision>
  <dcterms:created xsi:type="dcterms:W3CDTF">2025-03-11T09:52:37Z</dcterms:created>
  <dcterms:modified xsi:type="dcterms:W3CDTF">2025-11-09T14:41:36Z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2025-11-09T14:41:33Z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248d3fd5-07bc-47d9-926d-1556b634441f</vt:lpwstr>
  </property>
  <property fmtid="{D5CDD505-2E9C-101B-9397-08002B2CF9AE}" pid="7" name="MSIP_Label_defa4170-0d19-0005-0004-bc88714345d2_ActionId">
    <vt:lpwstr>595146bc-f586-4031-b039-1d70d10db1b2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