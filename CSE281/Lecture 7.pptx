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4" autoAdjust="0"/>
    <p:restoredTop sz="94660"/>
  </p:normalViewPr>
  <p:slideViewPr>
    <p:cSldViewPr snapToGrid="0">
      <p:cViewPr varScale="1">
        <p:scale>
          <a:sx n="71" d="100"/>
          <a:sy n="71" d="100"/>
        </p:scale>
        <p:origin x="77" y="3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11/19/2025</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11/19/2025</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11/19/2025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11/19/2025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11/19/2025</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11/19/2025</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11/19/2025</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4000" dirty="0"/>
              <a:t>Introduction to Programming Language II(Java)</a:t>
            </a:r>
          </a:p>
        </p:txBody>
      </p:sp>
      <p:sp>
        <p:nvSpPr>
          <p:cNvPr id="6" name="TextBox 5">
            <a:extLst>
              <a:ext uri="{FF2B5EF4-FFF2-40B4-BE49-F238E27FC236}">
                <a16:creationId xmlns:a16="http://schemas.microsoft.com/office/drawing/2014/main" id="{0E402E41-654A-106A-0F5D-1E9C9E636E3D}"/>
              </a:ext>
            </a:extLst>
          </p:cNvPr>
          <p:cNvSpPr txBox="1"/>
          <p:nvPr/>
        </p:nvSpPr>
        <p:spPr>
          <a:xfrm>
            <a:off x="1533378" y="3628501"/>
            <a:ext cx="3601330" cy="923330"/>
          </a:xfrm>
          <a:prstGeom prst="rect">
            <a:avLst/>
          </a:prstGeom>
          <a:noFill/>
        </p:spPr>
        <p:txBody>
          <a:bodyPr wrap="square" rtlCol="0">
            <a:spAutoFit/>
          </a:bodyPr>
          <a:lstStyle/>
          <a:p>
            <a:r>
              <a:rPr lang="en-US"/>
              <a:t>Fariha Zahin</a:t>
            </a:r>
          </a:p>
          <a:p>
            <a:r>
              <a:rPr lang="en-US"/>
              <a:t>Lecturer</a:t>
            </a:r>
          </a:p>
          <a:p>
            <a:r>
              <a:rPr lang="en-US"/>
              <a:t>CSE, Southeast University</a:t>
            </a:r>
            <a:endParaRPr lang="en-US" dirty="0"/>
          </a:p>
        </p:txBody>
      </p:sp>
    </p:spTree>
    <p:extLst>
      <p:ext uri="{BB962C8B-B14F-4D97-AF65-F5344CB8AC3E}">
        <p14:creationId xmlns:p14="http://schemas.microsoft.com/office/powerpoint/2010/main" val="452785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708918" y="1406673"/>
            <a:ext cx="582723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s</a:t>
            </a:r>
            <a:r>
              <a:rPr kumimoji="0" lang="en-US" altLang="en-US" sz="1800" b="1" i="0" u="none" strike="noStrike" cap="none" normalizeH="0" baseline="0" dirty="0">
                <a:ln>
                  <a:noFill/>
                </a:ln>
                <a:solidFill>
                  <a:schemeClr val="tx1"/>
                </a:solidFill>
                <a:effectLst/>
                <a:latin typeface="Arial" panose="020B0604020202020204" pitchFamily="34" charset="0"/>
              </a:rPr>
              <a:t>uper</a:t>
            </a:r>
            <a:r>
              <a:rPr kumimoji="0" lang="en-US" altLang="en-US" sz="1800" b="1" i="0" u="none" strike="noStrike" cap="none" normalizeH="0" dirty="0">
                <a:ln>
                  <a:noFill/>
                </a:ln>
                <a:solidFill>
                  <a:schemeClr val="tx1"/>
                </a:solidFill>
                <a:effectLst/>
                <a:latin typeface="Arial" panose="020B0604020202020204" pitchFamily="34" charset="0"/>
              </a:rPr>
              <a:t> keyword: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It is used to refer to the immediate </a:t>
            </a:r>
            <a:r>
              <a:rPr kumimoji="0" lang="en-US" altLang="en-US" sz="1800" b="1" i="0" u="none" strike="noStrike" cap="none" normalizeH="0" baseline="0" dirty="0">
                <a:ln>
                  <a:noFill/>
                </a:ln>
                <a:solidFill>
                  <a:schemeClr val="tx1"/>
                </a:solidFill>
                <a:effectLst/>
                <a:latin typeface="Arial" panose="020B0604020202020204" pitchFamily="34" charset="0"/>
              </a:rPr>
              <a:t>parent class</a:t>
            </a:r>
            <a:r>
              <a:rPr kumimoji="0" lang="en-US" altLang="en-US" sz="1800" b="0" i="0" u="none" strike="noStrike" cap="none" normalizeH="0" baseline="0" dirty="0">
                <a:ln>
                  <a:noFill/>
                </a:ln>
                <a:solidFill>
                  <a:schemeClr val="tx1"/>
                </a:solidFill>
                <a:effectLst/>
                <a:latin typeface="Arial" panose="020B0604020202020204" pitchFamily="34" charset="0"/>
              </a:rPr>
              <a:t> object.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access: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Parent class constructor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Parent class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Parent class data members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5504195" y="2560835"/>
            <a:ext cx="6687805" cy="4187500"/>
          </a:xfrm>
          <a:prstGeom prst="rect">
            <a:avLst/>
          </a:prstGeom>
        </p:spPr>
      </p:pic>
      <p:sp>
        <p:nvSpPr>
          <p:cNvPr id="4" name="Rectangle 3"/>
          <p:cNvSpPr/>
          <p:nvPr/>
        </p:nvSpPr>
        <p:spPr>
          <a:xfrm>
            <a:off x="375868" y="3714997"/>
            <a:ext cx="5128327" cy="369332"/>
          </a:xfrm>
          <a:prstGeom prst="rect">
            <a:avLst/>
          </a:prstGeom>
        </p:spPr>
        <p:txBody>
          <a:bodyPr wrap="none">
            <a:spAutoFit/>
          </a:bodyPr>
          <a:lstStyle/>
          <a:p>
            <a:r>
              <a:rPr lang="en-US" b="1" dirty="0"/>
              <a:t>Using super to Access Parent Class Variables</a:t>
            </a:r>
          </a:p>
        </p:txBody>
      </p:sp>
      <p:sp>
        <p:nvSpPr>
          <p:cNvPr id="5" name="Rectangle 4"/>
          <p:cNvSpPr/>
          <p:nvPr/>
        </p:nvSpPr>
        <p:spPr>
          <a:xfrm>
            <a:off x="375868" y="4293926"/>
            <a:ext cx="4966694" cy="2308324"/>
          </a:xfrm>
          <a:prstGeom prst="rect">
            <a:avLst/>
          </a:prstGeom>
        </p:spPr>
        <p:txBody>
          <a:bodyPr wrap="square">
            <a:spAutoFit/>
          </a:bodyPr>
          <a:lstStyle/>
          <a:p>
            <a:r>
              <a:rPr lang="en-US" dirty="0"/>
              <a:t>In this code, the Child class has a variable x that hides the x variable from its Parent class. Inside the display method of Child, </a:t>
            </a:r>
            <a:r>
              <a:rPr lang="en-US" dirty="0" err="1"/>
              <a:t>super.x</a:t>
            </a:r>
            <a:r>
              <a:rPr lang="en-US" dirty="0"/>
              <a:t> is used to access the x from the parent class (value 10), rather than the one in the child class (value 20). This shows how super can resolve variable name conflicts in inheritance.</a:t>
            </a:r>
          </a:p>
        </p:txBody>
      </p:sp>
    </p:spTree>
    <p:extLst>
      <p:ext uri="{BB962C8B-B14F-4D97-AF65-F5344CB8AC3E}">
        <p14:creationId xmlns:p14="http://schemas.microsoft.com/office/powerpoint/2010/main" val="808394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6446" y="1856785"/>
            <a:ext cx="4621778" cy="369332"/>
          </a:xfrm>
          <a:prstGeom prst="rect">
            <a:avLst/>
          </a:prstGeom>
        </p:spPr>
        <p:txBody>
          <a:bodyPr wrap="none">
            <a:spAutoFit/>
          </a:bodyPr>
          <a:lstStyle/>
          <a:p>
            <a:r>
              <a:rPr lang="en-US" b="1" dirty="0"/>
              <a:t>Using super to Call Parent Class Method</a:t>
            </a:r>
          </a:p>
        </p:txBody>
      </p:sp>
      <p:sp>
        <p:nvSpPr>
          <p:cNvPr id="4" name="Rectangle 3"/>
          <p:cNvSpPr/>
          <p:nvPr/>
        </p:nvSpPr>
        <p:spPr>
          <a:xfrm>
            <a:off x="366446" y="2575437"/>
            <a:ext cx="3640476" cy="2862322"/>
          </a:xfrm>
          <a:prstGeom prst="rect">
            <a:avLst/>
          </a:prstGeom>
        </p:spPr>
        <p:txBody>
          <a:bodyPr wrap="square">
            <a:spAutoFit/>
          </a:bodyPr>
          <a:lstStyle/>
          <a:p>
            <a:r>
              <a:rPr lang="en-US" dirty="0"/>
              <a:t>The Child class overrides the greet method of the Parent class. Inside the child’s version of greet, </a:t>
            </a:r>
            <a:r>
              <a:rPr lang="en-US" dirty="0" err="1"/>
              <a:t>super.greet</a:t>
            </a:r>
            <a:r>
              <a:rPr lang="en-US" dirty="0"/>
              <a:t> is used to call the original method from the parent before printing its own message. This demonstrates how to invoke a superclass method when it is overridden in the subclass.</a:t>
            </a:r>
          </a:p>
        </p:txBody>
      </p:sp>
      <p:pic>
        <p:nvPicPr>
          <p:cNvPr id="5" name="Picture 4"/>
          <p:cNvPicPr>
            <a:picLocks noChangeAspect="1"/>
          </p:cNvPicPr>
          <p:nvPr/>
        </p:nvPicPr>
        <p:blipFill>
          <a:blip r:embed="rId2"/>
          <a:stretch>
            <a:fillRect/>
          </a:stretch>
        </p:blipFill>
        <p:spPr>
          <a:xfrm>
            <a:off x="4988224" y="2226117"/>
            <a:ext cx="5808073" cy="4531375"/>
          </a:xfrm>
          <a:prstGeom prst="rect">
            <a:avLst/>
          </a:prstGeom>
        </p:spPr>
      </p:pic>
    </p:spTree>
    <p:extLst>
      <p:ext uri="{BB962C8B-B14F-4D97-AF65-F5344CB8AC3E}">
        <p14:creationId xmlns:p14="http://schemas.microsoft.com/office/powerpoint/2010/main" val="329228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00782" y="2338206"/>
            <a:ext cx="6617241" cy="4134244"/>
          </a:xfrm>
          <a:prstGeom prst="rect">
            <a:avLst/>
          </a:prstGeom>
        </p:spPr>
      </p:pic>
      <p:sp>
        <p:nvSpPr>
          <p:cNvPr id="3" name="Rectangle 2"/>
          <p:cNvSpPr/>
          <p:nvPr/>
        </p:nvSpPr>
        <p:spPr>
          <a:xfrm>
            <a:off x="990220" y="1732569"/>
            <a:ext cx="6599884" cy="369332"/>
          </a:xfrm>
          <a:prstGeom prst="rect">
            <a:avLst/>
          </a:prstGeom>
        </p:spPr>
        <p:txBody>
          <a:bodyPr wrap="none">
            <a:spAutoFit/>
          </a:bodyPr>
          <a:lstStyle/>
          <a:p>
            <a:r>
              <a:rPr lang="en-US" dirty="0"/>
              <a:t>super() must be the first statement in a constructor if used.</a:t>
            </a:r>
          </a:p>
        </p:txBody>
      </p:sp>
      <p:sp>
        <p:nvSpPr>
          <p:cNvPr id="4" name="Rectangle 3"/>
          <p:cNvSpPr/>
          <p:nvPr/>
        </p:nvSpPr>
        <p:spPr>
          <a:xfrm>
            <a:off x="990220" y="1318154"/>
            <a:ext cx="4426212" cy="369332"/>
          </a:xfrm>
          <a:prstGeom prst="rect">
            <a:avLst/>
          </a:prstGeom>
        </p:spPr>
        <p:txBody>
          <a:bodyPr wrap="none">
            <a:spAutoFit/>
          </a:bodyPr>
          <a:lstStyle/>
          <a:p>
            <a:r>
              <a:rPr lang="en-US" b="1" dirty="0"/>
              <a:t>Using super to Call Parent Constructor</a:t>
            </a:r>
          </a:p>
        </p:txBody>
      </p:sp>
      <p:sp>
        <p:nvSpPr>
          <p:cNvPr id="5" name="Rectangle 4"/>
          <p:cNvSpPr/>
          <p:nvPr/>
        </p:nvSpPr>
        <p:spPr>
          <a:xfrm>
            <a:off x="990220" y="2572386"/>
            <a:ext cx="3862400" cy="2862322"/>
          </a:xfrm>
          <a:prstGeom prst="rect">
            <a:avLst/>
          </a:prstGeom>
        </p:spPr>
        <p:txBody>
          <a:bodyPr wrap="square">
            <a:spAutoFit/>
          </a:bodyPr>
          <a:lstStyle/>
          <a:p>
            <a:r>
              <a:rPr lang="en-US" dirty="0"/>
              <a:t>Here, the Child class constructor explicitly calls the no-argument constructor of the Parent class using super. This ensures the parent constructor runs first before executing the child constructor’s code. It illustrates how constructor chaining works between parent and child classes in Java.</a:t>
            </a:r>
          </a:p>
        </p:txBody>
      </p:sp>
    </p:spTree>
    <p:extLst>
      <p:ext uri="{BB962C8B-B14F-4D97-AF65-F5344CB8AC3E}">
        <p14:creationId xmlns:p14="http://schemas.microsoft.com/office/powerpoint/2010/main" val="2850084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271419" y="1509677"/>
            <a:ext cx="6091798" cy="4705329"/>
          </a:xfrm>
          <a:prstGeom prst="rect">
            <a:avLst/>
          </a:prstGeom>
        </p:spPr>
      </p:pic>
      <p:sp>
        <p:nvSpPr>
          <p:cNvPr id="3" name="Rectangle 2"/>
          <p:cNvSpPr/>
          <p:nvPr/>
        </p:nvSpPr>
        <p:spPr>
          <a:xfrm>
            <a:off x="654121" y="2154181"/>
            <a:ext cx="3835685" cy="3416320"/>
          </a:xfrm>
          <a:prstGeom prst="rect">
            <a:avLst/>
          </a:prstGeom>
        </p:spPr>
        <p:txBody>
          <a:bodyPr wrap="square">
            <a:spAutoFit/>
          </a:bodyPr>
          <a:lstStyle/>
          <a:p>
            <a:r>
              <a:rPr lang="en-US" dirty="0"/>
              <a:t>In this example, the Student class extends Person, and both have constructors that accept parameters. The Student constructor uses super to call the Person constructor and initialize the inherited name field. The main method creates a Student object, showing how both constructors are executed and how values are initialized through inheritance.</a:t>
            </a:r>
          </a:p>
        </p:txBody>
      </p:sp>
    </p:spTree>
    <p:extLst>
      <p:ext uri="{BB962C8B-B14F-4D97-AF65-F5344CB8AC3E}">
        <p14:creationId xmlns:p14="http://schemas.microsoft.com/office/powerpoint/2010/main" val="2973603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42C49-9DAF-6F4F-6078-A6EE6B455F8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C4ECB75-6C03-90CE-20FC-486D14D74ED2}"/>
              </a:ext>
            </a:extLst>
          </p:cNvPr>
          <p:cNvSpPr/>
          <p:nvPr/>
        </p:nvSpPr>
        <p:spPr>
          <a:xfrm>
            <a:off x="90702" y="1738544"/>
            <a:ext cx="3835685" cy="2031325"/>
          </a:xfrm>
          <a:prstGeom prst="rect">
            <a:avLst/>
          </a:prstGeom>
        </p:spPr>
        <p:txBody>
          <a:bodyPr wrap="square">
            <a:spAutoFit/>
          </a:bodyPr>
          <a:lstStyle/>
          <a:p>
            <a:r>
              <a:rPr lang="en-US" b="1" dirty="0"/>
              <a:t>super vs this</a:t>
            </a:r>
          </a:p>
          <a:p>
            <a:r>
              <a:rPr lang="en-US" dirty="0"/>
              <a:t>super → refers to the immediate parent class object</a:t>
            </a:r>
          </a:p>
          <a:p>
            <a:r>
              <a:rPr lang="en-US" dirty="0"/>
              <a:t>this → refers to the current object</a:t>
            </a:r>
          </a:p>
          <a:p>
            <a:r>
              <a:rPr lang="en-US" dirty="0"/>
              <a:t>They can be used together when necessary.</a:t>
            </a:r>
          </a:p>
        </p:txBody>
      </p:sp>
      <p:pic>
        <p:nvPicPr>
          <p:cNvPr id="5" name="Picture 4">
            <a:extLst>
              <a:ext uri="{FF2B5EF4-FFF2-40B4-BE49-F238E27FC236}">
                <a16:creationId xmlns:a16="http://schemas.microsoft.com/office/drawing/2014/main" id="{6CDFFF1B-DF9B-FF1F-A877-ED7A7067B67F}"/>
              </a:ext>
            </a:extLst>
          </p:cNvPr>
          <p:cNvPicPr>
            <a:picLocks noChangeAspect="1"/>
          </p:cNvPicPr>
          <p:nvPr/>
        </p:nvPicPr>
        <p:blipFill>
          <a:blip r:embed="rId2"/>
          <a:stretch>
            <a:fillRect/>
          </a:stretch>
        </p:blipFill>
        <p:spPr>
          <a:xfrm>
            <a:off x="4076700" y="123504"/>
            <a:ext cx="8115300" cy="5781675"/>
          </a:xfrm>
          <a:prstGeom prst="rect">
            <a:avLst/>
          </a:prstGeom>
        </p:spPr>
      </p:pic>
      <p:pic>
        <p:nvPicPr>
          <p:cNvPr id="7" name="Picture 6">
            <a:extLst>
              <a:ext uri="{FF2B5EF4-FFF2-40B4-BE49-F238E27FC236}">
                <a16:creationId xmlns:a16="http://schemas.microsoft.com/office/drawing/2014/main" id="{D8023E3F-9372-9E9C-136B-83636FE6E8DC}"/>
              </a:ext>
            </a:extLst>
          </p:cNvPr>
          <p:cNvPicPr>
            <a:picLocks noChangeAspect="1"/>
          </p:cNvPicPr>
          <p:nvPr/>
        </p:nvPicPr>
        <p:blipFill>
          <a:blip r:embed="rId3"/>
          <a:stretch>
            <a:fillRect/>
          </a:stretch>
        </p:blipFill>
        <p:spPr>
          <a:xfrm>
            <a:off x="193638" y="4565332"/>
            <a:ext cx="3228975" cy="1019175"/>
          </a:xfrm>
          <a:prstGeom prst="rect">
            <a:avLst/>
          </a:prstGeom>
        </p:spPr>
      </p:pic>
    </p:spTree>
    <p:extLst>
      <p:ext uri="{BB962C8B-B14F-4D97-AF65-F5344CB8AC3E}">
        <p14:creationId xmlns:p14="http://schemas.microsoft.com/office/powerpoint/2010/main" val="2206305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FD0F-8F86-31E0-7CC6-4BFE5B584C7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5AC3A5-ED32-614C-149B-05C2727AFAA3}"/>
              </a:ext>
            </a:extLst>
          </p:cNvPr>
          <p:cNvSpPr/>
          <p:nvPr/>
        </p:nvSpPr>
        <p:spPr>
          <a:xfrm>
            <a:off x="90702" y="1738544"/>
            <a:ext cx="3835685" cy="646331"/>
          </a:xfrm>
          <a:prstGeom prst="rect">
            <a:avLst/>
          </a:prstGeom>
        </p:spPr>
        <p:txBody>
          <a:bodyPr wrap="square">
            <a:spAutoFit/>
          </a:bodyPr>
          <a:lstStyle/>
          <a:p>
            <a:r>
              <a:rPr lang="en-US" b="1" dirty="0"/>
              <a:t>Calling Overloaded Parent Constructors</a:t>
            </a:r>
            <a:endParaRPr lang="en-US" dirty="0"/>
          </a:p>
        </p:txBody>
      </p:sp>
      <p:pic>
        <p:nvPicPr>
          <p:cNvPr id="4" name="Picture 3">
            <a:extLst>
              <a:ext uri="{FF2B5EF4-FFF2-40B4-BE49-F238E27FC236}">
                <a16:creationId xmlns:a16="http://schemas.microsoft.com/office/drawing/2014/main" id="{074F1446-BACC-6854-FC31-46953563552C}"/>
              </a:ext>
            </a:extLst>
          </p:cNvPr>
          <p:cNvPicPr>
            <a:picLocks noChangeAspect="1"/>
          </p:cNvPicPr>
          <p:nvPr/>
        </p:nvPicPr>
        <p:blipFill>
          <a:blip r:embed="rId2"/>
          <a:stretch>
            <a:fillRect/>
          </a:stretch>
        </p:blipFill>
        <p:spPr>
          <a:xfrm>
            <a:off x="4859964" y="0"/>
            <a:ext cx="7463619" cy="6858000"/>
          </a:xfrm>
          <a:prstGeom prst="rect">
            <a:avLst/>
          </a:prstGeom>
        </p:spPr>
      </p:pic>
      <p:pic>
        <p:nvPicPr>
          <p:cNvPr id="8" name="Picture 7">
            <a:extLst>
              <a:ext uri="{FF2B5EF4-FFF2-40B4-BE49-F238E27FC236}">
                <a16:creationId xmlns:a16="http://schemas.microsoft.com/office/drawing/2014/main" id="{D7072D66-5FFC-2756-F9F6-1C2D76716007}"/>
              </a:ext>
            </a:extLst>
          </p:cNvPr>
          <p:cNvPicPr>
            <a:picLocks noChangeAspect="1"/>
          </p:cNvPicPr>
          <p:nvPr/>
        </p:nvPicPr>
        <p:blipFill>
          <a:blip r:embed="rId3"/>
          <a:stretch>
            <a:fillRect/>
          </a:stretch>
        </p:blipFill>
        <p:spPr>
          <a:xfrm>
            <a:off x="716953" y="5180816"/>
            <a:ext cx="2324100" cy="971550"/>
          </a:xfrm>
          <a:prstGeom prst="rect">
            <a:avLst/>
          </a:prstGeom>
        </p:spPr>
      </p:pic>
    </p:spTree>
    <p:extLst>
      <p:ext uri="{BB962C8B-B14F-4D97-AF65-F5344CB8AC3E}">
        <p14:creationId xmlns:p14="http://schemas.microsoft.com/office/powerpoint/2010/main" val="6437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71DB-D447-FC3E-2ED5-F5B1101F583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0A03966-8B46-DC28-3010-08BDEB20478D}"/>
              </a:ext>
            </a:extLst>
          </p:cNvPr>
          <p:cNvSpPr/>
          <p:nvPr/>
        </p:nvSpPr>
        <p:spPr>
          <a:xfrm>
            <a:off x="90702" y="1738544"/>
            <a:ext cx="3835685" cy="646331"/>
          </a:xfrm>
          <a:prstGeom prst="rect">
            <a:avLst/>
          </a:prstGeom>
        </p:spPr>
        <p:txBody>
          <a:bodyPr wrap="square">
            <a:spAutoFit/>
          </a:bodyPr>
          <a:lstStyle/>
          <a:p>
            <a:r>
              <a:rPr lang="en-US" b="1"/>
              <a:t>super() is inserted automatically (only for no-arg)</a:t>
            </a:r>
            <a:endParaRPr lang="en-US" dirty="0"/>
          </a:p>
        </p:txBody>
      </p:sp>
      <p:pic>
        <p:nvPicPr>
          <p:cNvPr id="10" name="Picture 9">
            <a:extLst>
              <a:ext uri="{FF2B5EF4-FFF2-40B4-BE49-F238E27FC236}">
                <a16:creationId xmlns:a16="http://schemas.microsoft.com/office/drawing/2014/main" id="{CD50B38E-D7EF-18A6-0E63-0C092BE68AFD}"/>
              </a:ext>
            </a:extLst>
          </p:cNvPr>
          <p:cNvPicPr>
            <a:picLocks noChangeAspect="1"/>
          </p:cNvPicPr>
          <p:nvPr/>
        </p:nvPicPr>
        <p:blipFill>
          <a:blip r:embed="rId2"/>
          <a:stretch>
            <a:fillRect/>
          </a:stretch>
        </p:blipFill>
        <p:spPr>
          <a:xfrm>
            <a:off x="4146052" y="0"/>
            <a:ext cx="8239125" cy="5562600"/>
          </a:xfrm>
          <a:prstGeom prst="rect">
            <a:avLst/>
          </a:prstGeom>
        </p:spPr>
      </p:pic>
      <p:pic>
        <p:nvPicPr>
          <p:cNvPr id="12" name="Picture 11">
            <a:extLst>
              <a:ext uri="{FF2B5EF4-FFF2-40B4-BE49-F238E27FC236}">
                <a16:creationId xmlns:a16="http://schemas.microsoft.com/office/drawing/2014/main" id="{F365109C-0E95-A214-036F-1D2D30B2C06A}"/>
              </a:ext>
            </a:extLst>
          </p:cNvPr>
          <p:cNvPicPr>
            <a:picLocks noChangeAspect="1"/>
          </p:cNvPicPr>
          <p:nvPr/>
        </p:nvPicPr>
        <p:blipFill>
          <a:blip r:embed="rId3"/>
          <a:stretch>
            <a:fillRect/>
          </a:stretch>
        </p:blipFill>
        <p:spPr>
          <a:xfrm>
            <a:off x="4146052" y="5562600"/>
            <a:ext cx="4010025" cy="1000125"/>
          </a:xfrm>
          <a:prstGeom prst="rect">
            <a:avLst/>
          </a:prstGeom>
        </p:spPr>
      </p:pic>
    </p:spTree>
    <p:extLst>
      <p:ext uri="{BB962C8B-B14F-4D97-AF65-F5344CB8AC3E}">
        <p14:creationId xmlns:p14="http://schemas.microsoft.com/office/powerpoint/2010/main" val="804929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CE13-2723-0DB1-3D66-F58BBC2E02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B297654-1D26-D73B-873B-CA6E27FDE6B7}"/>
              </a:ext>
            </a:extLst>
          </p:cNvPr>
          <p:cNvSpPr/>
          <p:nvPr/>
        </p:nvSpPr>
        <p:spPr>
          <a:xfrm>
            <a:off x="90702" y="1738544"/>
            <a:ext cx="3835685" cy="646331"/>
          </a:xfrm>
          <a:prstGeom prst="rect">
            <a:avLst/>
          </a:prstGeom>
        </p:spPr>
        <p:txBody>
          <a:bodyPr wrap="square">
            <a:spAutoFit/>
          </a:bodyPr>
          <a:lstStyle/>
          <a:p>
            <a:r>
              <a:rPr lang="en-US" b="1"/>
              <a:t>super() is inserted automatically (only for no-arg)</a:t>
            </a:r>
            <a:endParaRPr lang="en-US" dirty="0"/>
          </a:p>
        </p:txBody>
      </p:sp>
      <p:pic>
        <p:nvPicPr>
          <p:cNvPr id="6" name="Picture 5">
            <a:extLst>
              <a:ext uri="{FF2B5EF4-FFF2-40B4-BE49-F238E27FC236}">
                <a16:creationId xmlns:a16="http://schemas.microsoft.com/office/drawing/2014/main" id="{A7AA141F-9F57-2FA2-1824-BEF5E7A81832}"/>
              </a:ext>
            </a:extLst>
          </p:cNvPr>
          <p:cNvPicPr>
            <a:picLocks noChangeAspect="1"/>
          </p:cNvPicPr>
          <p:nvPr/>
        </p:nvPicPr>
        <p:blipFill>
          <a:blip r:embed="rId2"/>
          <a:stretch>
            <a:fillRect/>
          </a:stretch>
        </p:blipFill>
        <p:spPr>
          <a:xfrm>
            <a:off x="4225545" y="0"/>
            <a:ext cx="7966455" cy="6858000"/>
          </a:xfrm>
          <a:prstGeom prst="rect">
            <a:avLst/>
          </a:prstGeom>
        </p:spPr>
      </p:pic>
      <p:pic>
        <p:nvPicPr>
          <p:cNvPr id="8" name="Picture 7">
            <a:extLst>
              <a:ext uri="{FF2B5EF4-FFF2-40B4-BE49-F238E27FC236}">
                <a16:creationId xmlns:a16="http://schemas.microsoft.com/office/drawing/2014/main" id="{3B37170C-D4BD-9DFF-6BB3-35671F5CFA33}"/>
              </a:ext>
            </a:extLst>
          </p:cNvPr>
          <p:cNvPicPr>
            <a:picLocks noChangeAspect="1"/>
          </p:cNvPicPr>
          <p:nvPr/>
        </p:nvPicPr>
        <p:blipFill>
          <a:blip r:embed="rId3"/>
          <a:stretch>
            <a:fillRect/>
          </a:stretch>
        </p:blipFill>
        <p:spPr>
          <a:xfrm>
            <a:off x="486615" y="4920334"/>
            <a:ext cx="2505075" cy="1019175"/>
          </a:xfrm>
          <a:prstGeom prst="rect">
            <a:avLst/>
          </a:prstGeom>
        </p:spPr>
      </p:pic>
    </p:spTree>
    <p:extLst>
      <p:ext uri="{BB962C8B-B14F-4D97-AF65-F5344CB8AC3E}">
        <p14:creationId xmlns:p14="http://schemas.microsoft.com/office/powerpoint/2010/main" val="249493154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TM04033937[[fn=Vapor Trail]]</Template>
  <TotalTime>39</TotalTime>
  <Words>353</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Century Gothic</vt:lpstr>
      <vt:lpstr>Vapor Trail</vt:lpstr>
      <vt:lpstr>Introduction to Programming Language II(Java)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Fariha</dc:creator>
  <cp:lastModifiedBy>Ashraful Islam Paran</cp:lastModifiedBy>
  <cp:revision>11</cp:revision>
  <dcterms:created xsi:type="dcterms:W3CDTF">2025-04-29T17:42:05Z</dcterms:created>
  <dcterms:modified xsi:type="dcterms:W3CDTF">2025-11-18T18:31:46Z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2025-11-18T18:31:46Z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248d3fd5-07bc-47d9-926d-1556b634441f</vt:lpwstr>
  </property>
  <property fmtid="{D5CDD505-2E9C-101B-9397-08002B2CF9AE}" pid="7" name="MSIP_Label_defa4170-0d19-0005-0004-bc88714345d2_ActionId">
    <vt:lpwstr>d4d6fee0-e618-4944-a4a2-37083723d307</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