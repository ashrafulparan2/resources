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6" r:id="rId9"/>
    <p:sldId id="269" r:id="rId10"/>
    <p:sldId id="273" r:id="rId11"/>
    <p:sldId id="270" r:id="rId12"/>
    <p:sldId id="271" r:id="rId13"/>
    <p:sldId id="261" r:id="rId14"/>
    <p:sldId id="262" r:id="rId15"/>
    <p:sldId id="263" r:id="rId16"/>
    <p:sldId id="272" r:id="rId17"/>
    <p:sldId id="264" r:id="rId18"/>
    <p:sldId id="265" r:id="rId19"/>
  </p:sldIdLst>
  <p:sldSz cx="12192000" cy="6858000"/>
  <p:notesSz cx="6858000" cy="9144000"/>
  <p:embeddedFontLst>
    <p:embeddedFont>
      <p:font typeface="Century Gothic" panose="020B050202020202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jItnNF+FWnZGGAu0CzS2xhWw4O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1A3733-7D95-42BB-FD53-892E3DE39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78B5DA49-C336-3A3D-1917-B8A0DF5462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45CC697E-E68A-97D7-F864-1CB6EAD36F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7262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BAD3BE2A-C986-E4DE-5E26-E53D221D6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57E8C919-C74E-D46B-C038-1BAEB985E6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55516571-CE1F-BB7D-DAF1-EAA739334A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66443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6BC87363-986B-F62E-B0DA-FD988EF8F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5F3E1DA8-F4C5-3051-A7D8-C2625DFDEC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86C02BBC-A2E4-7C3B-70FF-418E88E1F9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81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909D7B30-133C-1F0E-5838-A5D489C56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D6D6A29B-1470-0FB2-8B66-1CD8DB4DCA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BA7400CC-4DA2-1B05-491E-11E0B0DCA2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4400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6D258014-C14F-78A2-BCE1-8B2A161CF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01F569F4-5C68-54F4-B544-3124C8369A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6EC56E7D-54EA-C73D-AB8E-ACB1664C6A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02552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F8BC9EAA-3115-A626-3795-9FB867175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D9127759-A379-8F18-B6F5-9076BB97AE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AEF2BFEA-A9AD-D2D9-C403-5E4D123021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715880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D72AC296-4CB7-5AE4-B647-E227931F6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EDD3CF72-8EBC-8A89-7179-9C340BD90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9A6D4139-5F38-0329-A46D-C2D1589C46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208519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BC8B2A22-EC52-D987-96B6-D57AF7496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9AE3ABD9-F7F2-4D04-1C5C-E5E64D7FC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99F9CA78-372C-744E-D1C5-28194DCB7C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47001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12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dt" idx="10"/>
          </p:nvPr>
        </p:nvSpPr>
        <p:spPr>
          <a:xfrm>
            <a:off x="7909561" y="4314328"/>
            <a:ext cx="2910840" cy="374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ftr" idx="11"/>
          </p:nvPr>
        </p:nvSpPr>
        <p:spPr>
          <a:xfrm>
            <a:off x="1371600" y="4323845"/>
            <a:ext cx="640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sldNum" idx="12"/>
          </p:nvPr>
        </p:nvSpPr>
        <p:spPr>
          <a:xfrm>
            <a:off x="8077200" y="143086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3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3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3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4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5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5"/>
          <p:cNvSpPr txBox="1"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15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ftr" idx="11"/>
          </p:nvPr>
        </p:nvSpPr>
        <p:spPr>
          <a:xfrm>
            <a:off x="685800" y="381001"/>
            <a:ext cx="6991492" cy="36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6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7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7"/>
          <p:cNvSpPr txBox="1"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7"/>
          <p:cNvSpPr txBox="1">
            <a:spLocks noGrp="1"/>
          </p:cNvSpPr>
          <p:nvPr>
            <p:ph type="body" idx="2"/>
          </p:nvPr>
        </p:nvSpPr>
        <p:spPr>
          <a:xfrm>
            <a:off x="685800" y="3132666"/>
            <a:ext cx="5311775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7"/>
          <p:cNvSpPr txBox="1">
            <a:spLocks noGrp="1"/>
          </p:cNvSpPr>
          <p:nvPr>
            <p:ph type="body" idx="3"/>
          </p:nvPr>
        </p:nvSpPr>
        <p:spPr>
          <a:xfrm>
            <a:off x="6400800" y="2183802"/>
            <a:ext cx="51054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17"/>
          <p:cNvSpPr txBox="1">
            <a:spLocks noGrp="1"/>
          </p:cNvSpPr>
          <p:nvPr>
            <p:ph type="body" idx="4"/>
          </p:nvPr>
        </p:nvSpPr>
        <p:spPr>
          <a:xfrm>
            <a:off x="6172200" y="3132666"/>
            <a:ext cx="5334000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8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8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9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body" idx="1"/>
          </p:nvPr>
        </p:nvSpPr>
        <p:spPr>
          <a:xfrm>
            <a:off x="4995582" y="746759"/>
            <a:ext cx="6510618" cy="54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2"/>
          </p:nvPr>
        </p:nvSpPr>
        <p:spPr>
          <a:xfrm>
            <a:off x="685800" y="3124199"/>
            <a:ext cx="411480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0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0"/>
          <p:cNvSpPr>
            <a:spLocks noGrp="1"/>
          </p:cNvSpPr>
          <p:nvPr>
            <p:ph type="pic" idx="2"/>
          </p:nvPr>
        </p:nvSpPr>
        <p:spPr>
          <a:xfrm>
            <a:off x="7861238" y="751241"/>
            <a:ext cx="3644962" cy="5467443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20"/>
          <p:cNvSpPr txBox="1">
            <a:spLocks noGrp="1"/>
          </p:cNvSpPr>
          <p:nvPr>
            <p:ph type="body" idx="1"/>
          </p:nvPr>
        </p:nvSpPr>
        <p:spPr>
          <a:xfrm>
            <a:off x="685800" y="3124199"/>
            <a:ext cx="687324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amic Picture with Caption">
  <p:cSld name="Panoramic Picture with Caption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1"/>
          <p:cNvSpPr txBox="1"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>
            <a:spLocks noGrp="1"/>
          </p:cNvSpPr>
          <p:nvPr>
            <p:ph type="pic" idx="2"/>
          </p:nvPr>
        </p:nvSpPr>
        <p:spPr>
          <a:xfrm>
            <a:off x="681727" y="941439"/>
            <a:ext cx="10821840" cy="3478161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>
            <a:off x="685800" y="5516715"/>
            <a:ext cx="10820400" cy="701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aption">
  <p:cSld name="Title and Caption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22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22"/>
          <p:cNvSpPr txBox="1"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body" idx="1"/>
          </p:nvPr>
        </p:nvSpPr>
        <p:spPr>
          <a:xfrm>
            <a:off x="1024467" y="3649133"/>
            <a:ext cx="10130516" cy="999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2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with Caption">
  <p:cSld name="Quote with Caption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23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3"/>
          <p:cNvSpPr txBox="1"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body" idx="1"/>
          </p:nvPr>
        </p:nvSpPr>
        <p:spPr>
          <a:xfrm>
            <a:off x="1303865" y="3365556"/>
            <a:ext cx="9592736" cy="444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body" idx="2"/>
          </p:nvPr>
        </p:nvSpPr>
        <p:spPr>
          <a:xfrm>
            <a:off x="1024467" y="3959862"/>
            <a:ext cx="10151533" cy="679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3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3" name="Google Shape;93;p23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entury Gothic"/>
              <a:buNone/>
            </a:pPr>
            <a:r>
              <a:rPr lang="en-US" sz="8000" b="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94" name="Google Shape;94;p23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entury Gothic"/>
              <a:buNone/>
            </a:pPr>
            <a:r>
              <a:rPr lang="en-US" sz="8000" b="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Name Card">
  <p:cSld name="Name Card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4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4"/>
          <p:cNvSpPr txBox="1"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4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9" name="Google Shape;99;p24"/>
          <p:cNvSpPr txBox="1">
            <a:spLocks noGrp="1"/>
          </p:cNvSpPr>
          <p:nvPr>
            <p:ph type="dt" idx="10"/>
          </p:nvPr>
        </p:nvSpPr>
        <p:spPr>
          <a:xfrm>
            <a:off x="7814452" y="378883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ftr" idx="11"/>
          </p:nvPr>
        </p:nvSpPr>
        <p:spPr>
          <a:xfrm>
            <a:off x="685800" y="378883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4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lumn">
  <p:cSld name="3 Column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5"/>
          <p:cNvSpPr txBox="1"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5"/>
          <p:cNvSpPr txBox="1"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5" name="Google Shape;105;p25"/>
          <p:cNvSpPr txBox="1">
            <a:spLocks noGrp="1"/>
          </p:cNvSpPr>
          <p:nvPr>
            <p:ph type="body" idx="2"/>
          </p:nvPr>
        </p:nvSpPr>
        <p:spPr>
          <a:xfrm>
            <a:off x="685799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6" name="Google Shape;106;p25"/>
          <p:cNvSpPr txBox="1">
            <a:spLocks noGrp="1"/>
          </p:cNvSpPr>
          <p:nvPr>
            <p:ph type="body" idx="3"/>
          </p:nvPr>
        </p:nvSpPr>
        <p:spPr>
          <a:xfrm>
            <a:off x="4368800" y="2201333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7" name="Google Shape;107;p25"/>
          <p:cNvSpPr txBox="1">
            <a:spLocks noGrp="1"/>
          </p:cNvSpPr>
          <p:nvPr>
            <p:ph type="body" idx="4"/>
          </p:nvPr>
        </p:nvSpPr>
        <p:spPr>
          <a:xfrm>
            <a:off x="4366858" y="2904067"/>
            <a:ext cx="3456432" cy="3314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8" name="Google Shape;108;p25"/>
          <p:cNvSpPr txBox="1">
            <a:spLocks noGrp="1"/>
          </p:cNvSpPr>
          <p:nvPr>
            <p:ph type="body" idx="5"/>
          </p:nvPr>
        </p:nvSpPr>
        <p:spPr>
          <a:xfrm>
            <a:off x="8051800" y="2192866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9" name="Google Shape;109;p25"/>
          <p:cNvSpPr txBox="1">
            <a:spLocks noGrp="1"/>
          </p:cNvSpPr>
          <p:nvPr>
            <p:ph type="body" idx="6"/>
          </p:nvPr>
        </p:nvSpPr>
        <p:spPr>
          <a:xfrm>
            <a:off x="8051801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0" name="Google Shape;110;p25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5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5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Picture Column">
  <p:cSld name="3 Picture Column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6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6"/>
          <p:cNvSpPr txBox="1"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6" name="Google Shape;116;p26"/>
          <p:cNvSpPr>
            <a:spLocks noGrp="1"/>
          </p:cNvSpPr>
          <p:nvPr>
            <p:ph type="pic" idx="2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17" name="Google Shape;117;p26"/>
          <p:cNvSpPr txBox="1">
            <a:spLocks noGrp="1"/>
          </p:cNvSpPr>
          <p:nvPr>
            <p:ph type="body" idx="3"/>
          </p:nvPr>
        </p:nvSpPr>
        <p:spPr>
          <a:xfrm>
            <a:off x="688618" y="4873764"/>
            <a:ext cx="3451582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8" name="Google Shape;118;p26"/>
          <p:cNvSpPr txBox="1">
            <a:spLocks noGrp="1"/>
          </p:cNvSpPr>
          <p:nvPr>
            <p:ph type="body" idx="4"/>
          </p:nvPr>
        </p:nvSpPr>
        <p:spPr>
          <a:xfrm>
            <a:off x="4374263" y="4191000"/>
            <a:ext cx="3448935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9" name="Google Shape;119;p26"/>
          <p:cNvSpPr>
            <a:spLocks noGrp="1"/>
          </p:cNvSpPr>
          <p:nvPr>
            <p:ph type="pic" idx="5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20" name="Google Shape;120;p26"/>
          <p:cNvSpPr txBox="1">
            <a:spLocks noGrp="1"/>
          </p:cNvSpPr>
          <p:nvPr>
            <p:ph type="body" idx="6"/>
          </p:nvPr>
        </p:nvSpPr>
        <p:spPr>
          <a:xfrm>
            <a:off x="4374264" y="4873763"/>
            <a:ext cx="344893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1" name="Google Shape;121;p26"/>
          <p:cNvSpPr txBox="1">
            <a:spLocks noGrp="1"/>
          </p:cNvSpPr>
          <p:nvPr>
            <p:ph type="body" idx="7"/>
          </p:nvPr>
        </p:nvSpPr>
        <p:spPr>
          <a:xfrm>
            <a:off x="8049731" y="4191000"/>
            <a:ext cx="3456469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2" name="Google Shape;122;p26"/>
          <p:cNvSpPr>
            <a:spLocks noGrp="1"/>
          </p:cNvSpPr>
          <p:nvPr>
            <p:ph type="pic" idx="8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23" name="Google Shape;123;p26"/>
          <p:cNvSpPr txBox="1">
            <a:spLocks noGrp="1"/>
          </p:cNvSpPr>
          <p:nvPr>
            <p:ph type="body" idx="9"/>
          </p:nvPr>
        </p:nvSpPr>
        <p:spPr>
          <a:xfrm>
            <a:off x="8049731" y="4873761"/>
            <a:ext cx="345244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4" name="Google Shape;124;p26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6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6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7"/>
          <p:cNvSpPr txBox="1">
            <a:spLocks noGrp="1"/>
          </p:cNvSpPr>
          <p:nvPr>
            <p:ph type="body" idx="1"/>
          </p:nvPr>
        </p:nvSpPr>
        <p:spPr>
          <a:xfrm rot="5400000">
            <a:off x="4083938" y="-1203579"/>
            <a:ext cx="4024125" cy="10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2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28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8"/>
          <p:cNvSpPr txBox="1">
            <a:spLocks noGrp="1"/>
          </p:cNvSpPr>
          <p:nvPr>
            <p:ph type="title"/>
          </p:nvPr>
        </p:nvSpPr>
        <p:spPr>
          <a:xfrm rot="5400000">
            <a:off x="8525934" y="1667933"/>
            <a:ext cx="390313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8"/>
          <p:cNvSpPr txBox="1">
            <a:spLocks noGrp="1"/>
          </p:cNvSpPr>
          <p:nvPr>
            <p:ph type="body" idx="1"/>
          </p:nvPr>
        </p:nvSpPr>
        <p:spPr>
          <a:xfrm rot="5400000">
            <a:off x="3175000" y="-1405467"/>
            <a:ext cx="3903133" cy="8204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8"/>
          <p:cNvSpPr txBox="1">
            <a:spLocks noGrp="1"/>
          </p:cNvSpPr>
          <p:nvPr>
            <p:ph type="dt" idx="10"/>
          </p:nvPr>
        </p:nvSpPr>
        <p:spPr>
          <a:xfrm>
            <a:off x="7814452" y="379941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8"/>
          <p:cNvSpPr txBox="1">
            <a:spLocks noGrp="1"/>
          </p:cNvSpPr>
          <p:nvPr>
            <p:ph type="ftr" idx="11"/>
          </p:nvPr>
        </p:nvSpPr>
        <p:spPr>
          <a:xfrm>
            <a:off x="685800" y="381000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8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1" descr="C2-HD-TOP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0" y="0"/>
            <a:ext cx="12192000" cy="14414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1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  <a:defRPr sz="4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8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0" name="Google Shape;10;p1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</a:pPr>
            <a:r>
              <a:rPr lang="en-US" sz="4000"/>
              <a:t>INTRODUCTION TO PROGRAMMING LANGUAGE II(JAVA)</a:t>
            </a:r>
            <a:endParaRPr sz="4000"/>
          </a:p>
        </p:txBody>
      </p:sp>
      <p:sp>
        <p:nvSpPr>
          <p:cNvPr id="145" name="Google Shape;145;p1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/>
              <a:t>Fariha Zahin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"/>
          <p:cNvSpPr/>
          <p:nvPr/>
        </p:nvSpPr>
        <p:spPr>
          <a:xfrm>
            <a:off x="905162" y="1397475"/>
            <a:ext cx="10788073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What is Abstraction?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Definition:</a:t>
            </a:r>
            <a:b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Abstraction is the process of hiding implementation details and showing only functionality to the user.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Purpose:</a:t>
            </a:r>
            <a:b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Focus on </a:t>
            </a:r>
            <a:r>
              <a:rPr lang="en-US" sz="1800" i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what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an object does instead of </a:t>
            </a:r>
            <a:r>
              <a:rPr lang="en-US" sz="1800" i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how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it does it.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Achieved By: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Abstract Classes</a:t>
            </a:r>
            <a:endParaRPr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905150" y="4131248"/>
            <a:ext cx="6096000" cy="25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Abstract Class – Definition &amp; Features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Can have both abstract (without body) and concrete methods.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Can have member variables (fields).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Can have constructors.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Cannot be instantiated directly.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Partial abstraction(0-100%)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730" y="1438549"/>
            <a:ext cx="5044045" cy="38115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77775" y="801867"/>
            <a:ext cx="5899143" cy="2063787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3"/>
          <p:cNvSpPr/>
          <p:nvPr/>
        </p:nvSpPr>
        <p:spPr>
          <a:xfrm>
            <a:off x="5505180" y="2895117"/>
            <a:ext cx="6686820" cy="341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Animal is an abstract class.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It has an abstract method sound() with no body.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It also has a concrete method sleep() with implementation.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Dog is a non-abstract subclass of Animal.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Since Dog is not abstract, it must override the abstract method sound().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The method sleep() is inherited from Animal and used directly.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 the main() method, an object d of class Dog is created.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Calling d.sound() prints "Dog barks".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Calling d.sleep() prints "Animal is sleeping...".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1285" y="1452338"/>
            <a:ext cx="5004712" cy="3359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33721" y="1333991"/>
            <a:ext cx="5702593" cy="334027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/>
          <p:nvPr/>
        </p:nvSpPr>
        <p:spPr>
          <a:xfrm>
            <a:off x="362122" y="6389070"/>
            <a:ext cx="1127584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**Dog class is abstract,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you cannot create a direct object of Dog-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 will give a compile-time error.</a:t>
            </a:r>
            <a:endParaRPr/>
          </a:p>
        </p:txBody>
      </p:sp>
      <p:sp>
        <p:nvSpPr>
          <p:cNvPr id="166" name="Google Shape;166;p4"/>
          <p:cNvSpPr/>
          <p:nvPr/>
        </p:nvSpPr>
        <p:spPr>
          <a:xfrm>
            <a:off x="445249" y="4911742"/>
            <a:ext cx="8673093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Animal is abstract with abstract sound() and concrete sleep(). Dog is an abstract subclass with bark(). Beagle is a concrete subclass overriding sound(). In main(), a Dog reference points to a Beagle object. Abstract class references can refer to subclass objects. Calling d.sound() runs Beagle’s method; d.bark() and d.sleep() come from Dog and Animal.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1EF1BB8-6889-3F8E-E811-B6322D903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692053"/>
            <a:ext cx="491246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 abstract class can have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abstract methods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Concrete subclasses must implement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abstract methods.</a:t>
            </a:r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DAEA2F9-6E7D-BDB3-DF5D-55D5EA45E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515" y="4996167"/>
            <a:ext cx="2838450" cy="10096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075E67-96BA-2D3D-5C4B-6366F4538AF3}"/>
              </a:ext>
            </a:extLst>
          </p:cNvPr>
          <p:cNvSpPr txBox="1"/>
          <p:nvPr/>
        </p:nvSpPr>
        <p:spPr>
          <a:xfrm>
            <a:off x="5787957" y="394692"/>
            <a:ext cx="667317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Vehicle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start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stop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fuelType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"Uses fuel"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Car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Vehicle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start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"Car starts with key"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stop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"Car stops with brakes"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Main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Vehicle v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Car();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v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.start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v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.stop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v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.fuelType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EF65F51A-8918-CD6D-7883-46103D023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1B0F9A2-F913-5DBF-A059-25FF068EC01B}"/>
              </a:ext>
            </a:extLst>
          </p:cNvPr>
          <p:cNvSpPr txBox="1"/>
          <p:nvPr/>
        </p:nvSpPr>
        <p:spPr>
          <a:xfrm>
            <a:off x="5966300" y="435436"/>
            <a:ext cx="6118696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Shape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Shape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 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dirty="0" err="1">
                <a:solidFill>
                  <a:srgbClr val="871094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double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area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displayColor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"Color: "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Circle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Shape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Circle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 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super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dirty="0" err="1">
                <a:solidFill>
                  <a:srgbClr val="871094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area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Math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PI</a:t>
            </a:r>
            <a:r>
              <a:rPr lang="en-US" sz="1800" i="1" dirty="0"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*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radius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*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4B60B327-852B-5A0F-26AF-96D3F4E07F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919" y="1882701"/>
            <a:ext cx="5564221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Abstract classes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 have constructors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Constructor is invoked when a subclass object is created.</a:t>
            </a:r>
          </a:p>
        </p:txBody>
      </p:sp>
    </p:spTree>
    <p:extLst>
      <p:ext uri="{BB962C8B-B14F-4D97-AF65-F5344CB8AC3E}">
        <p14:creationId xmlns:p14="http://schemas.microsoft.com/office/powerpoint/2010/main" val="1021810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F21FE33A-8DBE-A676-44FF-48C10504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43201C-A791-A1DC-097C-E8A5A5E93F5F}"/>
              </a:ext>
            </a:extLst>
          </p:cNvPr>
          <p:cNvSpPr txBox="1"/>
          <p:nvPr/>
        </p:nvSpPr>
        <p:spPr>
          <a:xfrm>
            <a:off x="5966300" y="435436"/>
            <a:ext cx="6118696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calculateSalary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FullTimeEmployee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calculateSalary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"Salary: Fixed monthly salary"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PartTimeEmployee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calculateSalary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"Salary: Hourly based salary"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Main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e1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FullTimeEmployee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e2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PartTimeEmployee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e1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.calculateSalary();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e2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.calculateSalary();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70FF35-4053-B6CE-F342-2B83DDD2A2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53" y="1914435"/>
            <a:ext cx="532103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Abstract class references enable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runtime method dispatch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Method executed depends on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object type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not reference type.</a:t>
            </a:r>
          </a:p>
        </p:txBody>
      </p:sp>
      <p:pic>
        <p:nvPicPr>
          <p:cNvPr id="4" name="Picture 3" descr="A close up of a computer screen&#10;&#10;AI-generated content may be incorrect.">
            <a:extLst>
              <a:ext uri="{FF2B5EF4-FFF2-40B4-BE49-F238E27FC236}">
                <a16:creationId xmlns:a16="http://schemas.microsoft.com/office/drawing/2014/main" id="{12396FA9-EBC4-FD6B-D782-D03756058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15" y="4629859"/>
            <a:ext cx="2952750" cy="86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77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AACB2548-8694-A319-3D20-90290CABA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">
            <a:extLst>
              <a:ext uri="{FF2B5EF4-FFF2-40B4-BE49-F238E27FC236}">
                <a16:creationId xmlns:a16="http://schemas.microsoft.com/office/drawing/2014/main" id="{7434D46A-66C7-65E4-A065-00901D35EEEB}"/>
              </a:ext>
            </a:extLst>
          </p:cNvPr>
          <p:cNvSpPr/>
          <p:nvPr/>
        </p:nvSpPr>
        <p:spPr>
          <a:xfrm>
            <a:off x="2455590" y="1544336"/>
            <a:ext cx="6761017" cy="1754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 – Definition &amp; Features</a:t>
            </a:r>
            <a:endParaRPr dirty="0"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Char char="•"/>
            </a:pPr>
            <a:r>
              <a:rPr lang="en-US" sz="1800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All methods are implicitly public and abstract.</a:t>
            </a:r>
            <a:endParaRPr dirty="0"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Variables will be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constants (public static final).</a:t>
            </a:r>
            <a:endParaRPr dirty="0"/>
          </a:p>
          <a:p>
            <a:pPr marL="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Supports multiple inheritance.</a:t>
            </a:r>
            <a:endParaRPr dirty="0"/>
          </a:p>
          <a:p>
            <a:pPr marL="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Cannot have constructors or instance fields</a:t>
            </a:r>
            <a:endParaRPr dirty="0"/>
          </a:p>
          <a:p>
            <a:pPr marL="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100% abstraction.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dirty="0">
                <a:solidFill>
                  <a:schemeClr val="dk1"/>
                </a:solidFill>
              </a:rPr>
              <a:t>A class can implement an interface</a:t>
            </a: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172" name="Google Shape;172;p5">
            <a:extLst>
              <a:ext uri="{FF2B5EF4-FFF2-40B4-BE49-F238E27FC236}">
                <a16:creationId xmlns:a16="http://schemas.microsoft.com/office/drawing/2014/main" id="{4E6EDD05-942A-A9B5-F36C-ACEA1BFF01B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55590" y="3830743"/>
            <a:ext cx="7121942" cy="21913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2743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C4E45D4B-21DD-46CD-9387-E57BE7D00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948BD8-2CD3-1970-6BB2-F67FEA5CFE40}"/>
              </a:ext>
            </a:extLst>
          </p:cNvPr>
          <p:cNvSpPr txBox="1"/>
          <p:nvPr/>
        </p:nvSpPr>
        <p:spPr>
          <a:xfrm>
            <a:off x="5058383" y="1690062"/>
            <a:ext cx="768241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Bank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2000" i="1" dirty="0">
                <a:solidFill>
                  <a:srgbClr val="871094"/>
                </a:solidFill>
                <a:effectLst/>
                <a:latin typeface="JetBrains Mono"/>
              </a:rPr>
              <a:t>INTEREST_RATE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2000" dirty="0">
                <a:solidFill>
                  <a:srgbClr val="1750EB"/>
                </a:solidFill>
                <a:effectLst/>
                <a:latin typeface="JetBrains Mono"/>
              </a:rPr>
              <a:t>5.5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2000" dirty="0" err="1">
                <a:solidFill>
                  <a:srgbClr val="00627A"/>
                </a:solidFill>
                <a:effectLst/>
                <a:latin typeface="JetBrains Mono"/>
              </a:rPr>
              <a:t>calculateInterest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CityBank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Bank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 err="1">
                <a:solidFill>
                  <a:srgbClr val="00627A"/>
                </a:solidFill>
                <a:effectLst/>
                <a:latin typeface="JetBrains Mono"/>
              </a:rPr>
              <a:t>calculateInterest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"Interest Rate: "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US" sz="2000" i="1" dirty="0">
                <a:solidFill>
                  <a:srgbClr val="871094"/>
                </a:solidFill>
                <a:effectLst/>
                <a:latin typeface="JetBrains Mono"/>
              </a:rPr>
              <a:t>INTEREST_RATE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"%"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B655F4-57DB-A4BE-23C8-29FF3BC3D1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277" y="2887884"/>
            <a:ext cx="4066161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Interface variables are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 static final by default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Methods must be implemented as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9348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B36DBC44-724C-1034-5716-6EC8EE54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A3142B-6FDD-1020-87DB-E040DF2A6414}"/>
              </a:ext>
            </a:extLst>
          </p:cNvPr>
          <p:cNvSpPr txBox="1"/>
          <p:nvPr/>
        </p:nvSpPr>
        <p:spPr>
          <a:xfrm>
            <a:off x="5530986" y="302359"/>
            <a:ext cx="7682418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Shape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2000" i="1" dirty="0">
                <a:solidFill>
                  <a:srgbClr val="871094"/>
                </a:solidFill>
                <a:effectLst/>
                <a:latin typeface="JetBrains Mono"/>
              </a:rPr>
              <a:t>pi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2000" dirty="0">
                <a:solidFill>
                  <a:srgbClr val="1750EB"/>
                </a:solidFill>
                <a:effectLst/>
                <a:latin typeface="JetBrains Mono"/>
              </a:rPr>
              <a:t>3.1416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area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Circle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Shape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2000" dirty="0">
                <a:solidFill>
                  <a:srgbClr val="871094"/>
                </a:solidFill>
                <a:effectLst/>
                <a:latin typeface="JetBrains Mono"/>
              </a:rPr>
              <a:t>r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</a:t>
            </a:r>
            <a:r>
              <a:rPr lang="en-US" sz="2000" dirty="0"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double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area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lang="en-US" sz="2000" i="1" dirty="0">
                <a:solidFill>
                  <a:srgbClr val="871094"/>
                </a:solidFill>
                <a:effectLst/>
                <a:latin typeface="JetBrains Mono"/>
              </a:rPr>
              <a:t>pi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*</a:t>
            </a:r>
            <a:r>
              <a:rPr lang="en-US" sz="2000" dirty="0">
                <a:solidFill>
                  <a:srgbClr val="871094"/>
                </a:solidFill>
                <a:effectLst/>
                <a:latin typeface="JetBrains Mono"/>
              </a:rPr>
              <a:t>r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*</a:t>
            </a:r>
            <a:r>
              <a:rPr lang="en-US" sz="2000" dirty="0">
                <a:solidFill>
                  <a:srgbClr val="871094"/>
                </a:solidFill>
                <a:effectLst/>
                <a:latin typeface="JetBrains Mono"/>
              </a:rPr>
              <a:t>r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Main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Circle c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Circle();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c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.area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());;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Circle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pi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Shape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pi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0CF8965-6216-F30A-B63E-C6391813D7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277" y="2610887"/>
            <a:ext cx="4066161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800" dirty="0"/>
              <a:t>Every field in an interface is implicitly </a:t>
            </a:r>
            <a:r>
              <a:rPr lang="en-US" sz="1800" b="1" dirty="0"/>
              <a:t>public static final</a:t>
            </a:r>
            <a:r>
              <a:rPr lang="en-US" sz="1800" dirty="0"/>
              <a:t> (constant) </a:t>
            </a:r>
          </a:p>
          <a:p>
            <a:pPr marL="285750" lvl="0" indent="-285750"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800" dirty="0"/>
              <a:t>• Constants can be accessed using </a:t>
            </a:r>
            <a:r>
              <a:rPr lang="en-US" sz="1800" b="1" dirty="0"/>
              <a:t>interface name</a:t>
            </a:r>
            <a:r>
              <a:rPr lang="en-US" sz="1800" dirty="0"/>
              <a:t> (preferred) or </a:t>
            </a:r>
            <a:r>
              <a:rPr lang="en-US" sz="1800" b="1" dirty="0"/>
              <a:t>implementing class name</a:t>
            </a:r>
            <a:endParaRPr lang="en-US" sz="1800" dirty="0"/>
          </a:p>
        </p:txBody>
      </p:sp>
      <p:pic>
        <p:nvPicPr>
          <p:cNvPr id="5" name="Picture 4" descr="A white background with black dots&#10;&#10;AI-generated content may be incorrect.">
            <a:extLst>
              <a:ext uri="{FF2B5EF4-FFF2-40B4-BE49-F238E27FC236}">
                <a16:creationId xmlns:a16="http://schemas.microsoft.com/office/drawing/2014/main" id="{E19BF285-686E-9D58-38E2-12C49943C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307" y="5106919"/>
            <a:ext cx="2943225" cy="90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895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A7DDBEE0-141B-E603-F12B-1C263DCAC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755EF-DE19-BB77-B5D4-9D113F168C6A}"/>
              </a:ext>
            </a:extLst>
          </p:cNvPr>
          <p:cNvSpPr txBox="1"/>
          <p:nvPr/>
        </p:nvSpPr>
        <p:spPr>
          <a:xfrm>
            <a:off x="5359940" y="1145313"/>
            <a:ext cx="768241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Printable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print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Scannable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scan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Printer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Printable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Scannable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print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"Printing document"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scan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"Scanning document"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BAA6F90-4178-1709-BA6A-5E1ABE6797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460" y="2782669"/>
            <a:ext cx="40661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800" dirty="0"/>
              <a:t>Java supports </a:t>
            </a:r>
            <a:r>
              <a:rPr lang="en-US" sz="1800" b="1" dirty="0"/>
              <a:t>multiple inheritance through interfaces</a:t>
            </a:r>
            <a:r>
              <a:rPr lang="en-US" sz="1800" dirty="0"/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523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0CE21B49-862D-68C6-69AE-6DE409CEF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8CFA2F-84A7-3003-DD03-5049DFE72482}"/>
              </a:ext>
            </a:extLst>
          </p:cNvPr>
          <p:cNvSpPr txBox="1"/>
          <p:nvPr/>
        </p:nvSpPr>
        <p:spPr>
          <a:xfrm>
            <a:off x="5933872" y="302359"/>
            <a:ext cx="7682418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pay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CreditCardPayment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pay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"Paid using credit card"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MobileBankingPayment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pay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"Paid using mobile banking"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Main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p1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CreditCardPayment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p1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.pay();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p2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MobileBankingPayment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p2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.pay();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2E5033-F647-E3FD-A9EA-485FA37FF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460" y="2782669"/>
            <a:ext cx="40661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800" b="1" dirty="0"/>
              <a:t>Interface references </a:t>
            </a:r>
            <a:r>
              <a:rPr lang="en-US" sz="1800" dirty="0"/>
              <a:t>behave like abstract class references.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 descr="A close up of words&#10;&#10;AI-generated content may be incorrect.">
            <a:extLst>
              <a:ext uri="{FF2B5EF4-FFF2-40B4-BE49-F238E27FC236}">
                <a16:creationId xmlns:a16="http://schemas.microsoft.com/office/drawing/2014/main" id="{09020B6D-74EE-C674-07AE-9E7A0B0C0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734" y="5118775"/>
            <a:ext cx="3819525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323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9968" y="1894176"/>
            <a:ext cx="7130519" cy="449738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6"/>
          <p:cNvSpPr/>
          <p:nvPr/>
        </p:nvSpPr>
        <p:spPr>
          <a:xfrm>
            <a:off x="3566644" y="1369353"/>
            <a:ext cx="50032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Key Differences: Abstract Class vs Interface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7338" y="1362873"/>
            <a:ext cx="4566630" cy="31814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89644" y="1216521"/>
            <a:ext cx="4739810" cy="3442744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/>
          <p:nvPr/>
        </p:nvSpPr>
        <p:spPr>
          <a:xfrm>
            <a:off x="323273" y="4944240"/>
            <a:ext cx="9910618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Animal is an abstract class with abstract method sound() and concrete method sleep(). Pet is an interface with method play(). Dog is a concrete class that extends Animal and implements Pet. Dog overrides sound() and play() methods. In main(), a Dog object d is created. Calling d.sound() prints "Bark". Calling d.play() prints "Plays fetch". Calling d.sleep() prints "Sleeping...".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"/>
          <p:cNvSpPr/>
          <p:nvPr/>
        </p:nvSpPr>
        <p:spPr>
          <a:xfrm>
            <a:off x="378691" y="1388423"/>
            <a:ext cx="10991273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What is the Diamond Problem?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The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Diamond Problem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occurs in multiple inheritance when a class inherits the same method from two different parent classes or interfaces.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This causes ambiguity: which parent’s method should the child inherit or execute?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 languages like C++, this can lead to conflicts and complexity.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 avoids the diamond problem with classes by not allowing multiple class inheritance.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However, with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default methods can cause a similar ambiguity.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 requires the implementing class to explicitly override conflicting default methods to resolve this.</a:t>
            </a:r>
            <a:endParaRPr/>
          </a:p>
        </p:txBody>
      </p:sp>
      <p:pic>
        <p:nvPicPr>
          <p:cNvPr id="191" name="Google Shape;191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509" y="4110404"/>
            <a:ext cx="4479636" cy="2571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20145" y="3973746"/>
            <a:ext cx="5212915" cy="242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3239DA36-4406-D2A2-9A23-1269C377D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D1EFFB-07E7-8CEA-EF52-622E5CBBCF5E}"/>
              </a:ext>
            </a:extLst>
          </p:cNvPr>
          <p:cNvSpPr txBox="1"/>
          <p:nvPr/>
        </p:nvSpPr>
        <p:spPr>
          <a:xfrm>
            <a:off x="5933872" y="302359"/>
            <a:ext cx="768241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A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default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show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"Interface A"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B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default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show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"Interface B"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Demo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A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B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show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A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dirty="0" err="1">
                <a:solidFill>
                  <a:srgbClr val="0033B3"/>
                </a:solidFill>
                <a:effectLst/>
                <a:latin typeface="JetBrains Mono"/>
              </a:rPr>
              <a:t>super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.show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Main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Demo d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Demo();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d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.show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7D9ED32-3DB7-551D-DE45-76E5687A1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460" y="2505671"/>
            <a:ext cx="4066161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800" b="1" dirty="0"/>
              <a:t>Solution to Diamond Problem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sz="18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800" dirty="0"/>
              <a:t>    Java forces explicit override to resolve </a:t>
            </a:r>
            <a:r>
              <a:rPr lang="en-US" sz="1800" b="1" dirty="0"/>
              <a:t>default method conflicts</a:t>
            </a:r>
            <a:r>
              <a:rPr lang="en-US" sz="1800" dirty="0"/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D0AB48-DA0F-CF3F-8EB3-04AC4B631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51" y="5549528"/>
            <a:ext cx="2105025" cy="44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495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9"/>
          <p:cNvSpPr/>
          <p:nvPr/>
        </p:nvSpPr>
        <p:spPr>
          <a:xfrm>
            <a:off x="434109" y="1314486"/>
            <a:ext cx="8478982" cy="2862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Why Interfaces Support Multiple Inheritance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does not allow multiple inheritance with classes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to avoid complexity and ambiguity (like the "Diamond Problem").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However, Java allows a class to implement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multiple 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because interfaces only declare method signatures without implementation (except default methods).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This means a class can inherit method contracts from multiple interfaces without conflicts in code behavior.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 provide a way to achieve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multiple inheritance of type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safely and clearly.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4187" y="1332007"/>
            <a:ext cx="4235668" cy="274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47616" y="1079332"/>
            <a:ext cx="6090662" cy="3566557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0"/>
          <p:cNvSpPr/>
          <p:nvPr/>
        </p:nvSpPr>
        <p:spPr>
          <a:xfrm>
            <a:off x="203200" y="4076532"/>
            <a:ext cx="5541818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Flyable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and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Swimmable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are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declaring methods.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Duck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class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implements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both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providing implementations for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fly()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and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swim()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 This demonstrates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multiple inheritance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of behavior signatures via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 If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allowed multiple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class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inheritance, conflicts could arise.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avoid that by having no method body to conflict.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rgbClr val="000000"/>
      </a:dk1>
      <a:lt1>
        <a:srgbClr val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1650</Words>
  <Application>Microsoft Office PowerPoint</Application>
  <PresentationFormat>Widescreen</PresentationFormat>
  <Paragraphs>70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Century Gothic</vt:lpstr>
      <vt:lpstr>JetBrains Mono</vt:lpstr>
      <vt:lpstr>Vapor Trail</vt:lpstr>
      <vt:lpstr>INTRODUCTION TO PROGRAMMING LANGUAGE II(JAVA)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Fariha</dc:creator>
  <cp:lastModifiedBy>Ashraful Islam Paran</cp:lastModifiedBy>
  <cp:revision>10</cp:revision>
  <dcterms:created xsi:type="dcterms:W3CDTF">2025-05-17T11:45:22Z</dcterms:created>
  <dcterms:modified xsi:type="dcterms:W3CDTF">2025-12-16T13:21:14Z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2025-12-16T12:35:32Z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248d3fd5-07bc-47d9-926d-1556b634441f</vt:lpwstr>
  </property>
  <property fmtid="{D5CDD505-2E9C-101B-9397-08002B2CF9AE}" pid="7" name="MSIP_Label_defa4170-0d19-0005-0004-bc88714345d2_ActionId">
    <vt:lpwstr>ec5b0f26-6d7f-4106-b434-925ef696baf9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