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2" r:id="rId5"/>
    <p:sldId id="263" r:id="rId6"/>
    <p:sldId id="259" r:id="rId7"/>
    <p:sldId id="260" r:id="rId8"/>
    <p:sldId id="261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8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11/23/2025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11/23/2025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11/23/2025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11/23/2025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11/23/2025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11/23/2025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11/23/2025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Introduction to Programming Language II(Java)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733801"/>
            <a:ext cx="9448800" cy="685800"/>
          </a:xfrm>
        </p:spPr>
        <p:txBody>
          <a:bodyPr/>
          <a:lstStyle/>
          <a:p>
            <a:r>
              <a:rPr lang="en-US" dirty="0"/>
              <a:t>Fariha </a:t>
            </a:r>
            <a:r>
              <a:rPr lang="en-US" dirty="0" err="1"/>
              <a:t>Zahin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929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868217" y="1471136"/>
            <a:ext cx="895927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final keyword</a:t>
            </a:r>
          </a:p>
          <a:p>
            <a:r>
              <a:rPr lang="en-US" dirty="0"/>
              <a:t>final keyword is used to </a:t>
            </a:r>
            <a:r>
              <a:rPr lang="en-US" b="1" dirty="0"/>
              <a:t>restrict the user</a:t>
            </a:r>
            <a:r>
              <a:rPr lang="en-US" dirty="0"/>
              <a:t> in Java. It can be applied to: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Variables</a:t>
            </a:r>
            <a:r>
              <a:rPr lang="en-US" dirty="0"/>
              <a:t> – to make them constant (immutable)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Methods</a:t>
            </a:r>
            <a:r>
              <a:rPr lang="en-US" dirty="0"/>
              <a:t> – to prevent overriding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Classes</a:t>
            </a:r>
            <a:r>
              <a:rPr lang="en-US" dirty="0"/>
              <a:t> – to prevent inheritance</a:t>
            </a: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932873" y="3020538"/>
            <a:ext cx="478849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b="1" dirty="0">
                <a:latin typeface="Arial" panose="020B0604020202020204" pitchFamily="34" charset="0"/>
              </a:rPr>
              <a:t>f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inal Variable 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dirty="0">
                <a:latin typeface="Arial" panose="020B0604020202020204" pitchFamily="34" charset="0"/>
              </a:rPr>
              <a:t>final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variable is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constant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; its value cannot be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reassigned.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must be initialized at declaration o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constructor (if not static).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662" y="2798617"/>
            <a:ext cx="6066692" cy="375920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88495" y="5340988"/>
            <a:ext cx="574444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Declares a constant variable MAX. Attempting to </a:t>
            </a:r>
          </a:p>
          <a:p>
            <a:r>
              <a:rPr lang="en-US" dirty="0"/>
              <a:t>reassign it will cause a compile-time error. </a:t>
            </a:r>
          </a:p>
        </p:txBody>
      </p:sp>
    </p:spTree>
    <p:extLst>
      <p:ext uri="{BB962C8B-B14F-4D97-AF65-F5344CB8AC3E}">
        <p14:creationId xmlns:p14="http://schemas.microsoft.com/office/powerpoint/2010/main" val="1046688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03563" y="1351110"/>
            <a:ext cx="876531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Blank Final Variable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dirty="0"/>
              <a:t>blank final</a:t>
            </a:r>
            <a:r>
              <a:rPr lang="en-US" dirty="0"/>
              <a:t> variable is a final variable declared </a:t>
            </a:r>
            <a:r>
              <a:rPr lang="en-US" b="1" dirty="0"/>
              <a:t>without initialization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must be initialized </a:t>
            </a:r>
            <a:r>
              <a:rPr lang="en-US" b="1" dirty="0"/>
              <a:t>only once</a:t>
            </a:r>
            <a:r>
              <a:rPr lang="en-US" dirty="0"/>
              <a:t>, typically in the </a:t>
            </a:r>
            <a:r>
              <a:rPr lang="en-US" b="1" dirty="0"/>
              <a:t>constructor</a:t>
            </a:r>
            <a:r>
              <a:rPr lang="en-US" dirty="0"/>
              <a:t>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837" y="2367307"/>
            <a:ext cx="5558599" cy="418841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86327" y="4158825"/>
            <a:ext cx="52093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speed variable is declared but not initialized immediately. It's initialized once inside the constructor. Useful when the value depends on runtime input.</a:t>
            </a:r>
          </a:p>
        </p:txBody>
      </p:sp>
    </p:spTree>
    <p:extLst>
      <p:ext uri="{BB962C8B-B14F-4D97-AF65-F5344CB8AC3E}">
        <p14:creationId xmlns:p14="http://schemas.microsoft.com/office/powerpoint/2010/main" val="10390454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8AD5D-0D3A-BE2A-37D5-1CAD1C141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45C0EF-2163-61F8-B989-D8F6F2AC6377}"/>
              </a:ext>
            </a:extLst>
          </p:cNvPr>
          <p:cNvSpPr/>
          <p:nvPr/>
        </p:nvSpPr>
        <p:spPr>
          <a:xfrm>
            <a:off x="415636" y="1933001"/>
            <a:ext cx="374115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Blank Final Variable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dirty="0"/>
              <a:t>blank final</a:t>
            </a:r>
            <a:r>
              <a:rPr lang="en-US" dirty="0"/>
              <a:t> variable is a final variable declared </a:t>
            </a:r>
            <a:r>
              <a:rPr lang="en-US" b="1" dirty="0"/>
              <a:t>without initialization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must be initialized </a:t>
            </a:r>
            <a:r>
              <a:rPr lang="en-US" b="1" dirty="0"/>
              <a:t>only once</a:t>
            </a:r>
            <a:r>
              <a:rPr lang="en-US" dirty="0"/>
              <a:t>, typically in the </a:t>
            </a:r>
            <a:r>
              <a:rPr lang="en-US" b="1" dirty="0"/>
              <a:t>constructor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0C171C-5322-6F8A-778E-D9C4ECF1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434"/>
          <a:stretch>
            <a:fillRect/>
          </a:stretch>
        </p:blipFill>
        <p:spPr>
          <a:xfrm>
            <a:off x="4544716" y="0"/>
            <a:ext cx="7647284" cy="6622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356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064C8-7C9C-3619-BF96-977701DD8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C89B8BB-235A-E576-C916-98B233629B78}"/>
              </a:ext>
            </a:extLst>
          </p:cNvPr>
          <p:cNvSpPr/>
          <p:nvPr/>
        </p:nvSpPr>
        <p:spPr>
          <a:xfrm>
            <a:off x="415636" y="1933001"/>
            <a:ext cx="3741153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Blank Final Variable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dirty="0"/>
              <a:t>blank final</a:t>
            </a:r>
            <a:r>
              <a:rPr lang="en-US" dirty="0"/>
              <a:t> variable is a final variable declared </a:t>
            </a:r>
            <a:r>
              <a:rPr lang="en-US" b="1" dirty="0"/>
              <a:t>without initialization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must be initialized </a:t>
            </a:r>
            <a:r>
              <a:rPr lang="en-US" b="1" dirty="0"/>
              <a:t>only once</a:t>
            </a:r>
            <a:r>
              <a:rPr lang="en-US" dirty="0"/>
              <a:t>, typically in the </a:t>
            </a:r>
            <a:r>
              <a:rPr lang="en-US" b="1" dirty="0"/>
              <a:t>constructor</a:t>
            </a:r>
            <a:r>
              <a:rPr lang="en-US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13E4CC-6E15-EEE6-6573-B1CDE9FD1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175" y="850756"/>
            <a:ext cx="7743825" cy="5876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683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65018" y="1341873"/>
            <a:ext cx="9042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Static Blank Final Variable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 </a:t>
            </a:r>
            <a:r>
              <a:rPr lang="en-US" b="1" dirty="0"/>
              <a:t>static blank final</a:t>
            </a:r>
            <a:r>
              <a:rPr lang="en-US" dirty="0"/>
              <a:t> is a static final variable declared without a value.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must be initialized </a:t>
            </a:r>
            <a:r>
              <a:rPr lang="en-US" b="1" dirty="0"/>
              <a:t>once</a:t>
            </a:r>
            <a:r>
              <a:rPr lang="en-US" dirty="0"/>
              <a:t> in a </a:t>
            </a:r>
            <a:r>
              <a:rPr lang="en-US" b="1" dirty="0"/>
              <a:t>static block</a:t>
            </a:r>
            <a:r>
              <a:rPr lang="en-US" dirty="0"/>
              <a:t> (not constructor).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4313" y="2554009"/>
            <a:ext cx="6908155" cy="361523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03200" y="3161299"/>
            <a:ext cx="46736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 class-level final variable that's assigned in a static block. It's initialized once when the class is loaded, not per object.</a:t>
            </a:r>
          </a:p>
        </p:txBody>
      </p:sp>
    </p:spTree>
    <p:extLst>
      <p:ext uri="{BB962C8B-B14F-4D97-AF65-F5344CB8AC3E}">
        <p14:creationId xmlns:p14="http://schemas.microsoft.com/office/powerpoint/2010/main" val="1623930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0009" y="1350879"/>
            <a:ext cx="59795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Final Method</a:t>
            </a:r>
          </a:p>
          <a:p>
            <a:r>
              <a:rPr lang="en-US" dirty="0"/>
              <a:t>A final method </a:t>
            </a:r>
            <a:r>
              <a:rPr lang="en-US" b="1" dirty="0"/>
              <a:t>cannot be overridden</a:t>
            </a:r>
            <a:r>
              <a:rPr lang="en-US" dirty="0"/>
              <a:t> by subclasses.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9233" y="2123703"/>
            <a:ext cx="6426927" cy="41385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3274" y="4047989"/>
            <a:ext cx="4516582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method show() in the Parent class is marked as final, so the subclass Child cannot override it. This is used to protect method logic from being altered.</a:t>
            </a:r>
          </a:p>
        </p:txBody>
      </p:sp>
    </p:spTree>
    <p:extLst>
      <p:ext uri="{BB962C8B-B14F-4D97-AF65-F5344CB8AC3E}">
        <p14:creationId xmlns:p14="http://schemas.microsoft.com/office/powerpoint/2010/main" val="37698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22455" y="1350880"/>
            <a:ext cx="499527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Final Class</a:t>
            </a:r>
          </a:p>
          <a:p>
            <a:r>
              <a:rPr lang="en-US" dirty="0"/>
              <a:t>A final class </a:t>
            </a:r>
            <a:r>
              <a:rPr lang="en-US" b="1" dirty="0"/>
              <a:t>cannot be extended/inherited</a:t>
            </a:r>
            <a:r>
              <a:rPr lang="en-US" dirty="0"/>
              <a:t>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363" y="2115050"/>
            <a:ext cx="6205545" cy="404560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4945" y="2967335"/>
            <a:ext cx="4978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The class Vehicle is declared as final, so no other class can extend it. This is commonly used for utility or security-sensitive classes</a:t>
            </a:r>
          </a:p>
        </p:txBody>
      </p:sp>
    </p:spTree>
    <p:extLst>
      <p:ext uri="{BB962C8B-B14F-4D97-AF65-F5344CB8AC3E}">
        <p14:creationId xmlns:p14="http://schemas.microsoft.com/office/powerpoint/2010/main" val="64596813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E5224E"/>
      </a:accent1>
      <a:accent2>
        <a:srgbClr val="9D074E"/>
      </a:accent2>
      <a:accent3>
        <a:srgbClr val="7F2294"/>
      </a:accent3>
      <a:accent4>
        <a:srgbClr val="8D65EA"/>
      </a:accent4>
      <a:accent5>
        <a:srgbClr val="588FE2"/>
      </a:accent5>
      <a:accent6>
        <a:srgbClr val="127CA4"/>
      </a:accent6>
      <a:hlink>
        <a:srgbClr val="FB4AB6"/>
      </a:hlink>
      <a:folHlink>
        <a:srgbClr val="F98FE9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6DB8EB18-3657-4051-A897-2ED38832359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42</TotalTime>
  <Words>332</Words>
  <Application>Microsoft Office PowerPoint</Application>
  <PresentationFormat>Widescreen</PresentationFormat>
  <Paragraphs>34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Century Gothic</vt:lpstr>
      <vt:lpstr>Vapor Trail</vt:lpstr>
      <vt:lpstr>Introduction to Programming Language II(Java)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Fariha</dc:creator>
  <cp:lastModifiedBy>Ashraful Islam Paran</cp:lastModifiedBy>
  <cp:revision>12</cp:revision>
  <dcterms:created xsi:type="dcterms:W3CDTF">2025-05-03T16:24:42Z</dcterms:created>
  <dcterms:modified xsi:type="dcterms:W3CDTF">2025-11-23T14:23:38Z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2025-11-23T14:23:38Z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248d3fd5-07bc-47d9-926d-1556b634441f</vt:lpwstr>
  </property>
  <property fmtid="{D5CDD505-2E9C-101B-9397-08002B2CF9AE}" pid="7" name="MSIP_Label_defa4170-0d19-0005-0004-bc88714345d2_ActionId">
    <vt:lpwstr>bd4cc40b-b26c-46d2-b87e-9ef8135bd6b1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