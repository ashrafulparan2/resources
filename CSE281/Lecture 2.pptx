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4" r:id="rId8"/>
    <p:sldId id="268" r:id="rId9"/>
    <p:sldId id="266" r:id="rId10"/>
    <p:sldId id="269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98" autoAdjust="0"/>
    <p:restoredTop sz="93979" autoAdjust="0"/>
  </p:normalViewPr>
  <p:slideViewPr>
    <p:cSldViewPr snapToGrid="0">
      <p:cViewPr varScale="1">
        <p:scale>
          <a:sx n="69" d="100"/>
          <a:sy n="69" d="100"/>
        </p:scale>
        <p:origin x="47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48A87A34-81AB-432B-8DAE-1953F412C126}" type="datetimeFigureOut">
              <a:rPr lang="en-US" dirty="0"/>
              <a:t>7/13/2025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7/13/2025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7/13/2025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7/13/2025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7/13/2025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7/13/2025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7/13/2025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599" y="1803405"/>
            <a:ext cx="9979891" cy="1825096"/>
          </a:xfrm>
        </p:spPr>
        <p:txBody>
          <a:bodyPr>
            <a:noAutofit/>
          </a:bodyPr>
          <a:lstStyle/>
          <a:p>
            <a:r>
              <a:rPr lang="en-US" sz="4400" dirty="0" smtClean="0"/>
              <a:t>Introduction to Programming Language (Java</a:t>
            </a:r>
            <a:r>
              <a:rPr lang="en-US" sz="4400" dirty="0"/>
              <a:t>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24000" y="3628501"/>
            <a:ext cx="3251200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Fariha </a:t>
            </a:r>
            <a:r>
              <a:rPr lang="en-US" sz="2000" dirty="0" err="1"/>
              <a:t>Zahin</a:t>
            </a:r>
            <a:endParaRPr lang="en-US" sz="2000" dirty="0"/>
          </a:p>
          <a:p>
            <a:r>
              <a:rPr lang="en-US" sz="2000" dirty="0"/>
              <a:t>Lecturer</a:t>
            </a:r>
          </a:p>
          <a:p>
            <a:r>
              <a:rPr lang="en-US" sz="2000" dirty="0"/>
              <a:t>CSE, Southeast University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73962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63782" y="1267891"/>
            <a:ext cx="94488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What is a Class?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class is a blueprint for creating objects.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defines attributes (variables) and behaviors (methods</a:t>
            </a:r>
            <a:r>
              <a:rPr lang="en-US" dirty="0" smtClean="0"/>
              <a:t>).</a:t>
            </a:r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Example: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 smtClean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3027" y="3189118"/>
            <a:ext cx="3635834" cy="2038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3070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89890" y="1351017"/>
            <a:ext cx="993832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What is an Object?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An object is an instance of a class.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holds actual values and can invoke methods.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Example</a:t>
            </a:r>
            <a:r>
              <a:rPr lang="en-US" dirty="0"/>
              <a:t>: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7087" y="3110338"/>
            <a:ext cx="5785424" cy="870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9042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173017" y="1332499"/>
            <a:ext cx="890385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Creating a Class in Java</a:t>
            </a:r>
            <a:endParaRPr lang="en-US" dirty="0"/>
          </a:p>
          <a:p>
            <a:r>
              <a:rPr lang="en-US" dirty="0"/>
              <a:t>Define a class with attributes and methods.</a:t>
            </a:r>
          </a:p>
          <a:p>
            <a:endParaRPr lang="en-US" dirty="0" smtClean="0"/>
          </a:p>
          <a:p>
            <a:r>
              <a:rPr lang="en-US" dirty="0" smtClean="0"/>
              <a:t>Example</a:t>
            </a:r>
            <a:r>
              <a:rPr lang="en-US" dirty="0"/>
              <a:t>: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2841" y="2591913"/>
            <a:ext cx="8517200" cy="2007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6975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646545" y="1373249"/>
            <a:ext cx="4727576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Creating Objects in Java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1.Instantiate a class using the</a:t>
            </a:r>
            <a:r>
              <a:rPr kumimoji="0" lang="en-US" altLang="en-US" sz="18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new keyword.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5820" y="3351598"/>
            <a:ext cx="5621308" cy="235498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6545" y="2560982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Arial" panose="020B0604020202020204" pitchFamily="34" charset="0"/>
              </a:rPr>
              <a:t>Understanding the new keyword:</a:t>
            </a:r>
            <a:endParaRPr lang="en-US" altLang="en-US" dirty="0"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The new </a:t>
            </a:r>
            <a:r>
              <a:rPr lang="en-US" dirty="0"/>
              <a:t>keyword dynamically allocates memory for an object.</a:t>
            </a:r>
            <a:endParaRPr lang="en-US" altLang="en-US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It returns a reference to the newly created object.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6545" y="4250249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Arial" panose="020B0604020202020204" pitchFamily="34" charset="0"/>
              </a:rPr>
              <a:t>Steps involved: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n-US" altLang="en-US" dirty="0">
                <a:latin typeface="Arial" panose="020B0604020202020204" pitchFamily="34" charset="0"/>
              </a:rPr>
              <a:t>Memory allocation for the object.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 startAt="2"/>
            </a:pPr>
            <a:r>
              <a:rPr lang="en-US" altLang="en-US" dirty="0">
                <a:latin typeface="Arial" panose="020B0604020202020204" pitchFamily="34" charset="0"/>
              </a:rPr>
              <a:t>Constructor invocation to initialize the object.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 startAt="3"/>
            </a:pPr>
            <a:r>
              <a:rPr lang="en-US" altLang="en-US" dirty="0">
                <a:latin typeface="Arial" panose="020B0604020202020204" pitchFamily="34" charset="0"/>
              </a:rPr>
              <a:t>Reference assignment to the object.</a:t>
            </a:r>
          </a:p>
        </p:txBody>
      </p:sp>
    </p:spTree>
    <p:extLst>
      <p:ext uri="{BB962C8B-B14F-4D97-AF65-F5344CB8AC3E}">
        <p14:creationId xmlns:p14="http://schemas.microsoft.com/office/powerpoint/2010/main" val="6629804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79055" y="1419523"/>
            <a:ext cx="725978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2.Using </a:t>
            </a:r>
            <a:r>
              <a:rPr lang="en-US" dirty="0"/>
              <a:t>Constructors</a:t>
            </a:r>
          </a:p>
          <a:p>
            <a:r>
              <a:rPr lang="en-US" dirty="0"/>
              <a:t>A constructor initializes objects</a:t>
            </a:r>
            <a:r>
              <a:rPr lang="en-US" dirty="0" smtClean="0"/>
              <a:t>.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5055" y="1904939"/>
            <a:ext cx="5265963" cy="325376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79055" y="2065854"/>
            <a:ext cx="6096000" cy="480131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Properties of a Constructor in Java</a:t>
            </a:r>
          </a:p>
          <a:p>
            <a:r>
              <a:rPr lang="en-US" dirty="0"/>
              <a:t>1.Same Name as Class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A constructor must have the same name as the class.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 startAt="2"/>
            </a:pPr>
            <a:r>
              <a:rPr lang="en-US" altLang="en-US" dirty="0">
                <a:latin typeface="Arial" panose="020B0604020202020204" pitchFamily="34" charset="0"/>
              </a:rPr>
              <a:t>No Return Type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A constructor does not have a return type, not </a:t>
            </a:r>
            <a:r>
              <a:rPr lang="en-US" altLang="en-US" dirty="0" smtClean="0">
                <a:latin typeface="Arial" panose="020B0604020202020204" pitchFamily="34" charset="0"/>
              </a:rPr>
              <a:t>even void</a:t>
            </a:r>
            <a:endParaRPr lang="en-US" altLang="en-US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 startAt="3"/>
            </a:pPr>
            <a:r>
              <a:rPr lang="en-US" altLang="en-US" dirty="0">
                <a:latin typeface="Arial" panose="020B0604020202020204" pitchFamily="34" charset="0"/>
              </a:rPr>
              <a:t>Automatically Called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It is automatically invoked when an object of the class is created.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 startAt="4"/>
            </a:pPr>
            <a:r>
              <a:rPr lang="en-US" altLang="en-US" dirty="0">
                <a:latin typeface="Arial" panose="020B0604020202020204" pitchFamily="34" charset="0"/>
              </a:rPr>
              <a:t>Can Be Overloaded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Multiple constructors can be defined with different parameters (Constructor Overloading).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 startAt="5"/>
            </a:pPr>
            <a:r>
              <a:rPr lang="en-US" altLang="en-US" dirty="0">
                <a:latin typeface="Arial" panose="020B0604020202020204" pitchFamily="34" charset="0"/>
              </a:rPr>
              <a:t>Cannot Be Inherited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Constructors are not inherited by subclasses, but a subclass can call the parent class constructor </a:t>
            </a:r>
            <a:r>
              <a:rPr lang="en-US" altLang="en-US" dirty="0" smtClean="0">
                <a:latin typeface="Arial" panose="020B0604020202020204" pitchFamily="34" charset="0"/>
              </a:rPr>
              <a:t>using super keyword.</a:t>
            </a:r>
            <a:endParaRPr lang="en-US" altLang="en-US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48955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350982" y="2839366"/>
            <a:ext cx="5818909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Types of Constructors: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Default Constructor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 No parameters, initializes default values.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Parameterized Constructor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 Takes arguments to initialize object properties.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Copy Constructor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 Creates a new object by copying another object's values.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9891" y="1496641"/>
            <a:ext cx="5745397" cy="4993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3567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5273" y="943902"/>
            <a:ext cx="7296727" cy="5466133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06400" y="1517656"/>
            <a:ext cx="448887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Constructor Overloading in Java</a:t>
            </a:r>
          </a:p>
          <a:p>
            <a:r>
              <a:rPr lang="en-US" b="1" dirty="0"/>
              <a:t>Definition: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Constructor overloading in Java allows a class to have multiple constructors with different parameter lists. The appropriate constructor is selected based on the arguments passed during object creation.</a:t>
            </a:r>
          </a:p>
        </p:txBody>
      </p:sp>
    </p:spTree>
    <p:extLst>
      <p:ext uri="{BB962C8B-B14F-4D97-AF65-F5344CB8AC3E}">
        <p14:creationId xmlns:p14="http://schemas.microsoft.com/office/powerpoint/2010/main" val="3718975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8909" y="2056712"/>
            <a:ext cx="3731491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Use of this keyword:</a:t>
            </a:r>
          </a:p>
          <a:p>
            <a:r>
              <a:rPr lang="en-US" dirty="0" smtClean="0">
                <a:solidFill>
                  <a:schemeClr val="accent5"/>
                </a:solidFill>
              </a:rPr>
              <a:t>this</a:t>
            </a:r>
            <a:r>
              <a:rPr lang="en-US" dirty="0" smtClean="0"/>
              <a:t> keyword </a:t>
            </a:r>
            <a:r>
              <a:rPr lang="en-US" dirty="0"/>
              <a:t>in Java refers to the current </a:t>
            </a:r>
            <a:r>
              <a:rPr lang="en-US" dirty="0" smtClean="0"/>
              <a:t>object </a:t>
            </a:r>
            <a:r>
              <a:rPr lang="en-US" dirty="0"/>
              <a:t>of the class. It is used to refer to the current object's instance variables, methods, and constructors. </a:t>
            </a:r>
            <a:endParaRPr lang="en-US" dirty="0" smtClean="0"/>
          </a:p>
          <a:p>
            <a:r>
              <a:rPr lang="en-US" dirty="0" smtClean="0"/>
              <a:t>It </a:t>
            </a:r>
            <a:r>
              <a:rPr lang="en-US" dirty="0"/>
              <a:t>is commonly used in constructors to distinguish between instance variables and parameters when they have the same </a:t>
            </a:r>
            <a:r>
              <a:rPr lang="en-US" dirty="0" smtClean="0"/>
              <a:t>name.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3357" y="1378420"/>
            <a:ext cx="7283842" cy="4495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1784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1709" y="1371773"/>
            <a:ext cx="5950256" cy="4502381"/>
          </a:xfrm>
          <a:prstGeom prst="rect">
            <a:avLst/>
          </a:prstGeom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498765" y="2062586"/>
            <a:ext cx="5061527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b="1" dirty="0">
                <a:latin typeface="Arial" panose="020B0604020202020204" pitchFamily="34" charset="0"/>
              </a:rPr>
              <a:t> </a:t>
            </a:r>
            <a:r>
              <a:rPr lang="en-US" altLang="en-US" b="1" dirty="0" smtClean="0">
                <a:latin typeface="Arial" panose="020B0604020202020204" pitchFamily="34" charset="0"/>
              </a:rPr>
              <a:t>this() </a:t>
            </a:r>
            <a:r>
              <a:rPr lang="en-US" altLang="en-US" dirty="0" smtClean="0">
                <a:latin typeface="Arial" panose="020B0604020202020204" pitchFamily="34" charset="0"/>
              </a:rPr>
              <a:t>must be the </a:t>
            </a:r>
            <a:r>
              <a:rPr kumimoji="0" lang="en-US" alt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first statement 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 a constructor.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Helps in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constructor chaining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within the same class.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b="1" dirty="0" smtClean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b="1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 smtClean="0"/>
              <a:t>Constructor </a:t>
            </a:r>
            <a:r>
              <a:rPr lang="en-US" b="1" dirty="0"/>
              <a:t>chaining </a:t>
            </a:r>
            <a:r>
              <a:rPr lang="en-US" dirty="0"/>
              <a:t>is the process of calling one constructor from another constructor within the same class or from a parent class </a:t>
            </a:r>
            <a:r>
              <a:rPr lang="en-US" dirty="0" smtClean="0"/>
              <a:t>using </a:t>
            </a:r>
            <a:r>
              <a:rPr lang="en-US" b="1" dirty="0" smtClean="0"/>
              <a:t>this(). </a:t>
            </a:r>
            <a:r>
              <a:rPr lang="en-US" dirty="0"/>
              <a:t>It helps reduce code duplication and improves reusability.</a:t>
            </a:r>
            <a:endParaRPr kumimoji="0" lang="en-US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79630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109" y="1767480"/>
            <a:ext cx="8007292" cy="4203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628141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E5224E"/>
      </a:accent1>
      <a:accent2>
        <a:srgbClr val="9D074E"/>
      </a:accent2>
      <a:accent3>
        <a:srgbClr val="7F2294"/>
      </a:accent3>
      <a:accent4>
        <a:srgbClr val="8D65EA"/>
      </a:accent4>
      <a:accent5>
        <a:srgbClr val="588FE2"/>
      </a:accent5>
      <a:accent6>
        <a:srgbClr val="127CA4"/>
      </a:accent6>
      <a:hlink>
        <a:srgbClr val="FB4AB6"/>
      </a:hlink>
      <a:folHlink>
        <a:srgbClr val="F98FE9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6DB8EB18-3657-4051-A897-2ED38832359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9331</TotalTime>
  <Words>388</Words>
  <Application>Microsoft Office PowerPoint</Application>
  <PresentationFormat>Widescreen</PresentationFormat>
  <Paragraphs>56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Century Gothic</vt:lpstr>
      <vt:lpstr>Vapor Trail</vt:lpstr>
      <vt:lpstr>Introduction to Programming Language (Java)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Fariha</dc:creator>
  <cp:lastModifiedBy>Fariha</cp:lastModifiedBy>
  <cp:revision>27</cp:revision>
  <dcterms:created xsi:type="dcterms:W3CDTF">2025-03-04T09:32:42Z</dcterms:created>
  <dcterms:modified xsi:type="dcterms:W3CDTF">2025-07-13T15:52:32Z</dcterms:modified>
</cp:coreProperties>
</file>