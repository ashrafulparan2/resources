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1" r:id="rId8"/>
    <p:sldId id="265" r:id="rId9"/>
    <p:sldId id="262" r:id="rId10"/>
    <p:sldId id="263" r:id="rId11"/>
    <p:sldId id="267" r:id="rId12"/>
    <p:sldId id="268"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CF06F8A-81B5-440E-AA58-4F0EE66CB939}"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2995302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F06F8A-81B5-440E-AA58-4F0EE66CB939}"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1353223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CF06F8A-81B5-440E-AA58-4F0EE66CB939}"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31645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CF06F8A-81B5-440E-AA58-4F0EE66CB939}"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38792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CF06F8A-81B5-440E-AA58-4F0EE66CB939}" type="datetimeFigureOut">
              <a:rPr lang="en-US" smtClean="0"/>
              <a:t>10/30/2023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309076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CF06F8A-81B5-440E-AA58-4F0EE66CB939}" type="datetimeFigureOut">
              <a:rPr lang="en-US" smtClean="0"/>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156974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F06F8A-81B5-440E-AA58-4F0EE66CB939}" type="datetimeFigureOut">
              <a:rPr lang="en-US" smtClean="0"/>
              <a:t>10/30/2023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3973363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CF06F8A-81B5-440E-AA58-4F0EE66CB939}"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2585699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CF06F8A-81B5-440E-AA58-4F0EE66CB939}"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1181657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F06F8A-81B5-440E-AA58-4F0EE66CB939}"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14629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F06F8A-81B5-440E-AA58-4F0EE66CB939}"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E23A81-A0B6-475D-80ED-32049803375C}" type="slidenum">
              <a:rPr lang="en-US" smtClean="0"/>
              <a:t>‹#›</a:t>
            </a:fld>
            <a:endParaRPr lang="en-US"/>
          </a:p>
        </p:txBody>
      </p:sp>
    </p:spTree>
    <p:extLst>
      <p:ext uri="{BB962C8B-B14F-4D97-AF65-F5344CB8AC3E}">
        <p14:creationId xmlns:p14="http://schemas.microsoft.com/office/powerpoint/2010/main" val="3854979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06F8A-81B5-440E-AA58-4F0EE66CB939}" type="datetimeFigureOut">
              <a:rPr lang="en-US" smtClean="0"/>
              <a:t>10/30/2023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E23A81-A0B6-475D-80ED-32049803375C}" type="slidenum">
              <a:rPr lang="en-US" smtClean="0"/>
              <a:t>‹#›</a:t>
            </a:fld>
            <a:endParaRPr lang="en-US"/>
          </a:p>
        </p:txBody>
      </p:sp>
    </p:spTree>
    <p:extLst>
      <p:ext uri="{BB962C8B-B14F-4D97-AF65-F5344CB8AC3E}">
        <p14:creationId xmlns:p14="http://schemas.microsoft.com/office/powerpoint/2010/main" val="3293533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Basic of Shell Scripting</a:t>
            </a:r>
            <a:endParaRPr lang="en-US" dirty="0"/>
          </a:p>
        </p:txBody>
      </p:sp>
    </p:spTree>
    <p:extLst>
      <p:ext uri="{BB962C8B-B14F-4D97-AF65-F5344CB8AC3E}">
        <p14:creationId xmlns:p14="http://schemas.microsoft.com/office/powerpoint/2010/main" val="2560284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b="1" i="1" dirty="0"/>
          </a:p>
        </p:txBody>
      </p:sp>
      <p:pic>
        <p:nvPicPr>
          <p:cNvPr id="1026" name="Picture 2" descr="Introduction to Shell scrip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44437" y="1842293"/>
            <a:ext cx="7564581" cy="4780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48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Basic Terminology</a:t>
            </a:r>
            <a:endParaRPr lang="en-US" b="1" i="1" dirty="0"/>
          </a:p>
        </p:txBody>
      </p:sp>
      <p:sp>
        <p:nvSpPr>
          <p:cNvPr id="3" name="Content Placeholder 2"/>
          <p:cNvSpPr>
            <a:spLocks noGrp="1"/>
          </p:cNvSpPr>
          <p:nvPr>
            <p:ph idx="1"/>
          </p:nvPr>
        </p:nvSpPr>
        <p:spPr/>
        <p:txBody>
          <a:bodyPr>
            <a:normAutofit lnSpcReduction="10000"/>
          </a:bodyPr>
          <a:lstStyle/>
          <a:p>
            <a:pPr algn="just"/>
            <a:r>
              <a:rPr lang="en-US" dirty="0"/>
              <a:t> Shell is a command-line interface to run commands and shell scripts. Shells come in a variety of flavors, much as operating systems come in a variety of </a:t>
            </a:r>
            <a:r>
              <a:rPr lang="en-US" dirty="0" smtClean="0"/>
              <a:t>flavors.</a:t>
            </a:r>
          </a:p>
          <a:p>
            <a:pPr algn="just"/>
            <a:r>
              <a:rPr lang="en-US" dirty="0"/>
              <a:t>A terminal, also known as a shell, is a program that allows users to interact with their operating system through a command-line </a:t>
            </a:r>
            <a:r>
              <a:rPr lang="en-US" dirty="0" smtClean="0"/>
              <a:t>interface.</a:t>
            </a:r>
          </a:p>
          <a:p>
            <a:pPr marL="0" indent="0" algn="just" fontAlgn="base">
              <a:buNone/>
            </a:pPr>
            <a:r>
              <a:rPr lang="en-US" b="1" dirty="0"/>
              <a:t>Note:</a:t>
            </a:r>
          </a:p>
          <a:p>
            <a:pPr algn="just" fontAlgn="base"/>
            <a:r>
              <a:rPr lang="en-US" dirty="0"/>
              <a:t>Shell is an interface between the user and the operating system.</a:t>
            </a:r>
          </a:p>
          <a:p>
            <a:pPr algn="just" fontAlgn="base"/>
            <a:r>
              <a:rPr lang="en-US" dirty="0" err="1"/>
              <a:t>sh</a:t>
            </a:r>
            <a:r>
              <a:rPr lang="en-US" dirty="0"/>
              <a:t> implements the shell interface.</a:t>
            </a:r>
          </a:p>
          <a:p>
            <a:pPr algn="just" fontAlgn="base"/>
            <a:r>
              <a:rPr lang="en-US" dirty="0"/>
              <a:t>bash is a superset of sh.</a:t>
            </a:r>
          </a:p>
          <a:p>
            <a:pPr algn="just"/>
            <a:endParaRPr lang="en-US" dirty="0" smtClean="0"/>
          </a:p>
          <a:p>
            <a:endParaRPr lang="en-US" dirty="0"/>
          </a:p>
        </p:txBody>
      </p:sp>
    </p:spTree>
    <p:extLst>
      <p:ext uri="{BB962C8B-B14F-4D97-AF65-F5344CB8AC3E}">
        <p14:creationId xmlns:p14="http://schemas.microsoft.com/office/powerpoint/2010/main" val="306870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Introduction</a:t>
            </a:r>
            <a:br>
              <a:rPr lang="en-US" b="1" i="1" dirty="0" smtClean="0"/>
            </a:br>
            <a:r>
              <a:rPr lang="en-US" sz="2700" dirty="0"/>
              <a:t>Now a shell can accept a number of commands through a file, known as a shell script. A shell script contains a number of commands that are executed by a shell. </a:t>
            </a:r>
            <a:endParaRPr lang="en-US" sz="27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651" y="2009861"/>
            <a:ext cx="7734697" cy="4044271"/>
          </a:xfrm>
        </p:spPr>
      </p:pic>
    </p:spTree>
    <p:extLst>
      <p:ext uri="{BB962C8B-B14F-4D97-AF65-F5344CB8AC3E}">
        <p14:creationId xmlns:p14="http://schemas.microsoft.com/office/powerpoint/2010/main" val="1019823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dirty="0"/>
          </a:p>
        </p:txBody>
      </p:sp>
      <p:pic>
        <p:nvPicPr>
          <p:cNvPr id="4" name="Content Placeholder 3"/>
          <p:cNvPicPr>
            <a:picLocks noGrp="1" noChangeAspect="1"/>
          </p:cNvPicPr>
          <p:nvPr>
            <p:ph idx="1"/>
          </p:nvPr>
        </p:nvPicPr>
        <p:blipFill>
          <a:blip r:embed="rId2"/>
          <a:stretch>
            <a:fillRect/>
          </a:stretch>
        </p:blipFill>
        <p:spPr>
          <a:xfrm>
            <a:off x="1450109" y="1825625"/>
            <a:ext cx="9448800" cy="4351338"/>
          </a:xfrm>
          <a:prstGeom prst="rect">
            <a:avLst/>
          </a:prstGeom>
        </p:spPr>
      </p:pic>
    </p:spTree>
    <p:extLst>
      <p:ext uri="{BB962C8B-B14F-4D97-AF65-F5344CB8AC3E}">
        <p14:creationId xmlns:p14="http://schemas.microsoft.com/office/powerpoint/2010/main" val="3548767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dirty="0"/>
          </a:p>
        </p:txBody>
      </p:sp>
      <p:pic>
        <p:nvPicPr>
          <p:cNvPr id="4" name="Content Placeholder 3"/>
          <p:cNvPicPr>
            <a:picLocks noGrp="1" noChangeAspect="1"/>
          </p:cNvPicPr>
          <p:nvPr>
            <p:ph idx="1"/>
          </p:nvPr>
        </p:nvPicPr>
        <p:blipFill>
          <a:blip r:embed="rId2"/>
          <a:stretch>
            <a:fillRect/>
          </a:stretch>
        </p:blipFill>
        <p:spPr>
          <a:xfrm>
            <a:off x="1126836" y="1825625"/>
            <a:ext cx="9448800" cy="4351338"/>
          </a:xfrm>
          <a:prstGeom prst="rect">
            <a:avLst/>
          </a:prstGeom>
        </p:spPr>
      </p:pic>
    </p:spTree>
    <p:extLst>
      <p:ext uri="{BB962C8B-B14F-4D97-AF65-F5344CB8AC3E}">
        <p14:creationId xmlns:p14="http://schemas.microsoft.com/office/powerpoint/2010/main" val="1926875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dirty="0"/>
          </a:p>
        </p:txBody>
      </p:sp>
      <p:pic>
        <p:nvPicPr>
          <p:cNvPr id="4" name="Content Placeholder 3"/>
          <p:cNvPicPr>
            <a:picLocks noGrp="1" noChangeAspect="1"/>
          </p:cNvPicPr>
          <p:nvPr>
            <p:ph idx="1"/>
          </p:nvPr>
        </p:nvPicPr>
        <p:blipFill>
          <a:blip r:embed="rId2"/>
          <a:stretch>
            <a:fillRect/>
          </a:stretch>
        </p:blipFill>
        <p:spPr>
          <a:xfrm>
            <a:off x="1191492" y="1825625"/>
            <a:ext cx="9374908" cy="4351338"/>
          </a:xfrm>
          <a:prstGeom prst="rect">
            <a:avLst/>
          </a:prstGeom>
        </p:spPr>
      </p:pic>
    </p:spTree>
    <p:extLst>
      <p:ext uri="{BB962C8B-B14F-4D97-AF65-F5344CB8AC3E}">
        <p14:creationId xmlns:p14="http://schemas.microsoft.com/office/powerpoint/2010/main" val="3898951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 to Bash</a:t>
            </a:r>
            <a:endParaRPr lang="en-US" b="1" i="1" dirty="0"/>
          </a:p>
        </p:txBody>
      </p:sp>
      <p:sp>
        <p:nvSpPr>
          <p:cNvPr id="3" name="Content Placeholder 2"/>
          <p:cNvSpPr>
            <a:spLocks noGrp="1"/>
          </p:cNvSpPr>
          <p:nvPr>
            <p:ph idx="1"/>
          </p:nvPr>
        </p:nvSpPr>
        <p:spPr/>
        <p:txBody>
          <a:bodyPr>
            <a:normAutofit fontScale="92500" lnSpcReduction="20000"/>
          </a:bodyPr>
          <a:lstStyle/>
          <a:p>
            <a:pPr algn="just"/>
            <a:r>
              <a:rPr lang="en-US" dirty="0"/>
              <a:t>The Linux Bash is also known as </a:t>
            </a:r>
            <a:r>
              <a:rPr lang="en-US" b="1" dirty="0"/>
              <a:t>'Bourne-again Shell</a:t>
            </a:r>
            <a:r>
              <a:rPr lang="en-US" dirty="0"/>
              <a:t>.' It is a </a:t>
            </a:r>
            <a:r>
              <a:rPr lang="en-US" b="1" dirty="0"/>
              <a:t>command language interpreter</a:t>
            </a:r>
            <a:r>
              <a:rPr lang="en-US" dirty="0"/>
              <a:t> for the Linux based system. It is a replacement of Bourne shell (</a:t>
            </a:r>
            <a:r>
              <a:rPr lang="en-US" dirty="0" err="1"/>
              <a:t>sh</a:t>
            </a:r>
            <a:r>
              <a:rPr lang="en-US" dirty="0"/>
              <a:t>). It was developed under the GNU Project and written by </a:t>
            </a:r>
            <a:r>
              <a:rPr lang="en-US" b="1" dirty="0"/>
              <a:t>Brian Fox</a:t>
            </a:r>
            <a:r>
              <a:rPr lang="en-US" dirty="0"/>
              <a:t>. Nowadays, Bash is the default user shell of most of the Linux distributions.</a:t>
            </a:r>
          </a:p>
          <a:p>
            <a:pPr algn="just"/>
            <a:r>
              <a:rPr lang="en-US" dirty="0"/>
              <a:t>The Linux/Unix shell allows us to interact with the Linux system through the commands. It let us invoke an executable file to create a running process. Moreover, it also allows us to interact with the Linux file system. It is designed in such a way that we can perform all the Linux operations through Bash.</a:t>
            </a:r>
          </a:p>
          <a:p>
            <a:pPr algn="just"/>
            <a:r>
              <a:rPr lang="en-US" dirty="0"/>
              <a:t>The Bash is a </a:t>
            </a:r>
            <a:r>
              <a:rPr lang="en-US" b="1" dirty="0"/>
              <a:t>command language interpreter</a:t>
            </a:r>
            <a:r>
              <a:rPr lang="en-US" dirty="0"/>
              <a:t> as well as a </a:t>
            </a:r>
            <a:r>
              <a:rPr lang="en-US" b="1" dirty="0"/>
              <a:t>programming language</a:t>
            </a:r>
            <a:r>
              <a:rPr lang="en-US" dirty="0"/>
              <a:t>. It supports </a:t>
            </a:r>
            <a:r>
              <a:rPr lang="en-US" b="1" dirty="0"/>
              <a:t>variables, functions, and flow control</a:t>
            </a:r>
            <a:r>
              <a:rPr lang="en-US" dirty="0"/>
              <a:t>, like other programming languages. It can also read and execute the commands from a file, which is called a </a:t>
            </a:r>
            <a:r>
              <a:rPr lang="en-US" b="1" dirty="0"/>
              <a:t>shell script.</a:t>
            </a:r>
            <a:endParaRPr lang="en-US" dirty="0"/>
          </a:p>
          <a:p>
            <a:pPr algn="just"/>
            <a:endParaRPr lang="en-US" dirty="0"/>
          </a:p>
        </p:txBody>
      </p:sp>
    </p:spTree>
    <p:extLst>
      <p:ext uri="{BB962C8B-B14F-4D97-AF65-F5344CB8AC3E}">
        <p14:creationId xmlns:p14="http://schemas.microsoft.com/office/powerpoint/2010/main" val="3423848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dirty="0"/>
          </a:p>
        </p:txBody>
      </p:sp>
      <p:pic>
        <p:nvPicPr>
          <p:cNvPr id="4" name="Content Placeholder 3"/>
          <p:cNvPicPr>
            <a:picLocks noGrp="1" noChangeAspect="1"/>
          </p:cNvPicPr>
          <p:nvPr>
            <p:ph idx="1"/>
          </p:nvPr>
        </p:nvPicPr>
        <p:blipFill>
          <a:blip r:embed="rId2"/>
          <a:stretch>
            <a:fillRect/>
          </a:stretch>
        </p:blipFill>
        <p:spPr>
          <a:xfrm>
            <a:off x="2121720" y="1825625"/>
            <a:ext cx="7948559" cy="4351338"/>
          </a:xfrm>
          <a:prstGeom prst="rect">
            <a:avLst/>
          </a:prstGeom>
        </p:spPr>
      </p:pic>
    </p:spTree>
    <p:extLst>
      <p:ext uri="{BB962C8B-B14F-4D97-AF65-F5344CB8AC3E}">
        <p14:creationId xmlns:p14="http://schemas.microsoft.com/office/powerpoint/2010/main" val="3486148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1</a:t>
            </a:r>
            <a:r>
              <a:rPr lang="en-US" b="1" i="1" baseline="30000" dirty="0" smtClean="0"/>
              <a:t>st</a:t>
            </a:r>
            <a:r>
              <a:rPr lang="en-US" b="1" i="1" dirty="0" smtClean="0"/>
              <a:t> Shell Scripting Code</a:t>
            </a:r>
            <a:endParaRPr lang="en-US" b="1" i="1" dirty="0"/>
          </a:p>
        </p:txBody>
      </p:sp>
      <p:pic>
        <p:nvPicPr>
          <p:cNvPr id="4" name="Content Placeholder 3"/>
          <p:cNvPicPr>
            <a:picLocks noGrp="1" noChangeAspect="1"/>
          </p:cNvPicPr>
          <p:nvPr>
            <p:ph idx="1"/>
          </p:nvPr>
        </p:nvPicPr>
        <p:blipFill>
          <a:blip r:embed="rId2"/>
          <a:stretch>
            <a:fillRect/>
          </a:stretch>
        </p:blipFill>
        <p:spPr>
          <a:xfrm>
            <a:off x="1359940" y="1825625"/>
            <a:ext cx="9472119" cy="4351338"/>
          </a:xfrm>
          <a:prstGeom prst="rect">
            <a:avLst/>
          </a:prstGeom>
        </p:spPr>
      </p:pic>
    </p:spTree>
    <p:extLst>
      <p:ext uri="{BB962C8B-B14F-4D97-AF65-F5344CB8AC3E}">
        <p14:creationId xmlns:p14="http://schemas.microsoft.com/office/powerpoint/2010/main" val="1845580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Explanation</a:t>
            </a:r>
            <a:endParaRPr lang="en-US" b="1" i="1" dirty="0"/>
          </a:p>
        </p:txBody>
      </p:sp>
      <p:sp>
        <p:nvSpPr>
          <p:cNvPr id="3" name="Content Placeholder 2"/>
          <p:cNvSpPr>
            <a:spLocks noGrp="1"/>
          </p:cNvSpPr>
          <p:nvPr>
            <p:ph idx="1"/>
          </p:nvPr>
        </p:nvSpPr>
        <p:spPr/>
        <p:txBody>
          <a:bodyPr/>
          <a:lstStyle/>
          <a:p>
            <a:pPr marL="0" indent="0">
              <a:buNone/>
            </a:pPr>
            <a:r>
              <a:rPr lang="en-US" dirty="0"/>
              <a:t>Adding the Shebang</a:t>
            </a:r>
          </a:p>
          <a:p>
            <a:r>
              <a:rPr lang="en-US" dirty="0"/>
              <a:t>Bash scripts start with a shebang. Shebang is a combination of bash # and bang ! followed by the bash shell path. This is the first line of the script. Shebang tells the shell to execute it via bash shell. Shebang is simply an absolute path to the bash interpreter</a:t>
            </a:r>
            <a:r>
              <a:rPr lang="en-US" dirty="0" smtClean="0"/>
              <a:t>.</a:t>
            </a:r>
          </a:p>
          <a:p>
            <a:r>
              <a:rPr lang="en-US" dirty="0"/>
              <a:t>You can find your bash shell path </a:t>
            </a:r>
            <a:r>
              <a:rPr lang="en-US" dirty="0" smtClean="0"/>
              <a:t>using </a:t>
            </a:r>
            <a:r>
              <a:rPr lang="en-US" dirty="0"/>
              <a:t>the command</a:t>
            </a:r>
            <a:r>
              <a:rPr lang="en-US" dirty="0" smtClean="0"/>
              <a:t>: which bash</a:t>
            </a:r>
          </a:p>
          <a:p>
            <a:endParaRPr lang="en-US" dirty="0"/>
          </a:p>
        </p:txBody>
      </p:sp>
    </p:spTree>
    <p:extLst>
      <p:ext uri="{BB962C8B-B14F-4D97-AF65-F5344CB8AC3E}">
        <p14:creationId xmlns:p14="http://schemas.microsoft.com/office/powerpoint/2010/main" val="759725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Running the script</a:t>
            </a:r>
            <a:endParaRPr lang="en-US" b="1" i="1" dirty="0"/>
          </a:p>
        </p:txBody>
      </p:sp>
      <p:sp>
        <p:nvSpPr>
          <p:cNvPr id="3" name="Content Placeholder 2"/>
          <p:cNvSpPr>
            <a:spLocks noGrp="1"/>
          </p:cNvSpPr>
          <p:nvPr>
            <p:ph idx="1"/>
          </p:nvPr>
        </p:nvSpPr>
        <p:spPr/>
        <p:txBody>
          <a:bodyPr/>
          <a:lstStyle/>
          <a:p>
            <a:pPr marL="0" indent="0">
              <a:buNone/>
            </a:pPr>
            <a:r>
              <a:rPr lang="en-US" dirty="0"/>
              <a:t>You can run the script using any of the mentioned methods:</a:t>
            </a:r>
          </a:p>
          <a:p>
            <a:endParaRPr lang="en-US" dirty="0"/>
          </a:p>
          <a:p>
            <a:r>
              <a:rPr lang="en-US" dirty="0" err="1"/>
              <a:t>sh</a:t>
            </a:r>
            <a:r>
              <a:rPr lang="en-US" dirty="0"/>
              <a:t> run_all.sh</a:t>
            </a:r>
          </a:p>
          <a:p>
            <a:r>
              <a:rPr lang="en-US" dirty="0"/>
              <a:t>bash run_all.sh</a:t>
            </a:r>
          </a:p>
          <a:p>
            <a:r>
              <a:rPr lang="en-US" dirty="0"/>
              <a:t>./run_all.sh</a:t>
            </a:r>
          </a:p>
        </p:txBody>
      </p:sp>
    </p:spTree>
    <p:extLst>
      <p:ext uri="{BB962C8B-B14F-4D97-AF65-F5344CB8AC3E}">
        <p14:creationId xmlns:p14="http://schemas.microsoft.com/office/powerpoint/2010/main" val="100477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2</a:t>
            </a:r>
            <a:r>
              <a:rPr lang="en-US" b="1" i="1" baseline="30000" dirty="0" smtClean="0"/>
              <a:t>nd</a:t>
            </a:r>
            <a:r>
              <a:rPr lang="en-US" b="1" i="1" dirty="0" smtClean="0"/>
              <a:t> Example</a:t>
            </a:r>
            <a:endParaRPr lang="en-US" b="1" i="1" dirty="0"/>
          </a:p>
        </p:txBody>
      </p:sp>
      <p:sp>
        <p:nvSpPr>
          <p:cNvPr id="3" name="Content Placeholder 2"/>
          <p:cNvSpPr>
            <a:spLocks noGrp="1"/>
          </p:cNvSpPr>
          <p:nvPr>
            <p:ph idx="1"/>
          </p:nvPr>
        </p:nvSpPr>
        <p:spPr/>
        <p:txBody>
          <a:bodyPr/>
          <a:lstStyle/>
          <a:p>
            <a:r>
              <a:rPr lang="en-US" dirty="0" smtClean="0"/>
              <a:t>To read the output from the user.</a:t>
            </a:r>
            <a:endParaRPr lang="en-US" dirty="0"/>
          </a:p>
        </p:txBody>
      </p:sp>
      <p:pic>
        <p:nvPicPr>
          <p:cNvPr id="4" name="Picture 3"/>
          <p:cNvPicPr>
            <a:picLocks noChangeAspect="1"/>
          </p:cNvPicPr>
          <p:nvPr/>
        </p:nvPicPr>
        <p:blipFill>
          <a:blip r:embed="rId2"/>
          <a:stretch>
            <a:fillRect/>
          </a:stretch>
        </p:blipFill>
        <p:spPr>
          <a:xfrm>
            <a:off x="2352675" y="3534496"/>
            <a:ext cx="7486650" cy="1266825"/>
          </a:xfrm>
          <a:prstGeom prst="rect">
            <a:avLst/>
          </a:prstGeom>
        </p:spPr>
      </p:pic>
    </p:spTree>
    <p:extLst>
      <p:ext uri="{BB962C8B-B14F-4D97-AF65-F5344CB8AC3E}">
        <p14:creationId xmlns:p14="http://schemas.microsoft.com/office/powerpoint/2010/main" val="3634463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129</Words>
  <Application>Microsoft Office PowerPoint</Application>
  <PresentationFormat>Widescreen</PresentationFormat>
  <Paragraphs>31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Basic of Shell Scripting</vt:lpstr>
      <vt:lpstr>Introduction</vt:lpstr>
      <vt:lpstr>Basic Terminology</vt:lpstr>
      <vt:lpstr>Introduction Now a shell can accept a number of commands through a file, known as a shell script. A shell script contains a number of commands that are executed by a shell. </vt:lpstr>
      <vt:lpstr>Introduction</vt:lpstr>
      <vt:lpstr>Introduction</vt:lpstr>
      <vt:lpstr>Introduction</vt:lpstr>
      <vt:lpstr>Introduction to Bash</vt:lpstr>
      <vt:lpstr>Introduction</vt:lpstr>
      <vt:lpstr>1st Shell Scripting Code</vt:lpstr>
      <vt:lpstr>Explanation</vt:lpstr>
      <vt:lpstr>Running the script</vt:lpstr>
      <vt:lpstr>2nd Example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DIU</cp:lastModifiedBy>
  <cp:revision>5</cp:revision>
  <dcterms:created xsi:type="dcterms:W3CDTF">2023-10-29T08:00:27Z</dcterms:created>
  <dcterms:modified xsi:type="dcterms:W3CDTF">2023-10-30T07:35:15Z</dcterms:modified>
</cp:coreProperties>
</file>