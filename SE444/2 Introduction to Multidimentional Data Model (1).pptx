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  <p:sldId id="267" r:id="rId11"/>
    <p:sldId id="310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736D3-BF77-2CF3-83CF-016882E62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00F61-19AE-4DA0-ADF1-4AF9D05BC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96C9F-A15F-8D2F-0984-F5238F749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/>
              <a:t>Introduction</a:t>
            </a:r>
            <a:r>
              <a:rPr lang="en-US" spc="-5"/>
              <a:t> </a:t>
            </a:r>
            <a:r>
              <a:rPr lang="en-US"/>
              <a:t>to</a:t>
            </a:r>
            <a:r>
              <a:rPr lang="en-US" spc="5"/>
              <a:t> </a:t>
            </a:r>
            <a:r>
              <a:rPr lang="en-US" spc="-10"/>
              <a:t>Multidimensional</a:t>
            </a:r>
            <a:r>
              <a:rPr lang="en-US"/>
              <a:t> Data </a:t>
            </a:r>
            <a:r>
              <a:rPr lang="en-US" spc="-20"/>
              <a:t>Model</a:t>
            </a:r>
            <a:endParaRPr lang="en-US" spc="-2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93F5F-F107-E710-1B2E-4B0AA4C70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Musabbir</a:t>
            </a:r>
            <a:r>
              <a:rPr lang="en-US" spc="-40"/>
              <a:t> </a:t>
            </a:r>
            <a:r>
              <a:rPr lang="en-US" spc="-10"/>
              <a:t>Hasan</a:t>
            </a:r>
            <a:endParaRPr lang="en-US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53F3C-23D4-15EC-8CE9-3AE7DB09B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41323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56866-E353-4B09-2B5A-8362AFB3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A8CA1-4E64-5F2D-A81F-40F6438AA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5278B-CB81-27DB-4D54-BB5D1F0B3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/>
              <a:t>Introduction</a:t>
            </a:r>
            <a:r>
              <a:rPr lang="en-US" spc="-5"/>
              <a:t> </a:t>
            </a:r>
            <a:r>
              <a:rPr lang="en-US"/>
              <a:t>to</a:t>
            </a:r>
            <a:r>
              <a:rPr lang="en-US" spc="5"/>
              <a:t> </a:t>
            </a:r>
            <a:r>
              <a:rPr lang="en-US" spc="-10"/>
              <a:t>Multidimensional</a:t>
            </a:r>
            <a:r>
              <a:rPr lang="en-US"/>
              <a:t> Data </a:t>
            </a:r>
            <a:r>
              <a:rPr lang="en-US" spc="-20"/>
              <a:t>Model</a:t>
            </a:r>
            <a:endParaRPr lang="en-US" spc="-2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EFDA4-BC43-2559-860E-133F6606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Musabbir</a:t>
            </a:r>
            <a:r>
              <a:rPr lang="en-US" spc="-40"/>
              <a:t> </a:t>
            </a:r>
            <a:r>
              <a:rPr lang="en-US" spc="-10"/>
              <a:t>Hasan</a:t>
            </a:r>
            <a:endParaRPr lang="en-US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007F3-30BC-44B8-EF7B-585D87BB2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401146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06056-4B0B-4C9B-3F0E-215D42366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A5805-3716-73CF-2E89-11FADD69A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1E3E0-4E91-4358-492B-418DF27C8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/>
              <a:t>Introduction</a:t>
            </a:r>
            <a:r>
              <a:rPr lang="en-US" spc="-5"/>
              <a:t> </a:t>
            </a:r>
            <a:r>
              <a:rPr lang="en-US"/>
              <a:t>to</a:t>
            </a:r>
            <a:r>
              <a:rPr lang="en-US" spc="5"/>
              <a:t> </a:t>
            </a:r>
            <a:r>
              <a:rPr lang="en-US" spc="-10"/>
              <a:t>Multidimensional</a:t>
            </a:r>
            <a:r>
              <a:rPr lang="en-US"/>
              <a:t> Data </a:t>
            </a:r>
            <a:r>
              <a:rPr lang="en-US" spc="-20"/>
              <a:t>Model</a:t>
            </a:r>
            <a:endParaRPr lang="en-US" spc="-2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0CEFE-C3C4-A1AE-F149-5C062509B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Musabbir</a:t>
            </a:r>
            <a:r>
              <a:rPr lang="en-US" spc="-40"/>
              <a:t> </a:t>
            </a:r>
            <a:r>
              <a:rPr lang="en-US" spc="-10"/>
              <a:t>Hasan</a:t>
            </a:r>
            <a:endParaRPr lang="en-US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B93DB-FFA6-336B-D776-6E2F5DE8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770153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32C75-CEF2-EE5D-5BBC-01D9924FE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E0851-5D79-0172-EF38-545B569FC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DE0D0D-0271-344E-00F4-70C5B06A1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9275C-5C04-2B32-5BC0-D182684E4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/>
              <a:t>Introduction</a:t>
            </a:r>
            <a:r>
              <a:rPr lang="en-US" spc="-5"/>
              <a:t> </a:t>
            </a:r>
            <a:r>
              <a:rPr lang="en-US"/>
              <a:t>to</a:t>
            </a:r>
            <a:r>
              <a:rPr lang="en-US" spc="5"/>
              <a:t> </a:t>
            </a:r>
            <a:r>
              <a:rPr lang="en-US" spc="-10"/>
              <a:t>Multidimensional</a:t>
            </a:r>
            <a:r>
              <a:rPr lang="en-US"/>
              <a:t> Data </a:t>
            </a:r>
            <a:r>
              <a:rPr lang="en-US" spc="-20"/>
              <a:t>Model</a:t>
            </a:r>
            <a:endParaRPr lang="en-US" spc="-2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D540A-4923-7F41-E373-E2194892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Musabbir</a:t>
            </a:r>
            <a:r>
              <a:rPr lang="en-US" spc="-40"/>
              <a:t> </a:t>
            </a:r>
            <a:r>
              <a:rPr lang="en-US" spc="-10"/>
              <a:t>Hasan</a:t>
            </a:r>
            <a:endParaRPr lang="en-US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F0FA7-367E-C904-2724-28FD82A0B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67503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19622-B15F-85E8-648D-76581F04C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82F79-7C17-0AB5-3F3D-D877425D6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4DD0C-371B-EE8E-16ED-1B23DC56C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ED7439-58B2-7A94-53EC-06D44F96D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343291-5DBE-E727-B9DA-030E77E7F2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2AEAA5-732F-F697-9971-76EDC22A4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/>
              <a:t>Introduction</a:t>
            </a:r>
            <a:r>
              <a:rPr lang="en-US" spc="-5"/>
              <a:t> </a:t>
            </a:r>
            <a:r>
              <a:rPr lang="en-US"/>
              <a:t>to</a:t>
            </a:r>
            <a:r>
              <a:rPr lang="en-US" spc="5"/>
              <a:t> </a:t>
            </a:r>
            <a:r>
              <a:rPr lang="en-US" spc="-10"/>
              <a:t>Multidimensional</a:t>
            </a:r>
            <a:r>
              <a:rPr lang="en-US"/>
              <a:t> Data </a:t>
            </a:r>
            <a:r>
              <a:rPr lang="en-US" spc="-20"/>
              <a:t>Model</a:t>
            </a:r>
            <a:endParaRPr lang="en-US" spc="-2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0FC160-DFA1-AAF3-2F04-2FACDFB0F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Musabbir</a:t>
            </a:r>
            <a:r>
              <a:rPr lang="en-US" spc="-40"/>
              <a:t> </a:t>
            </a:r>
            <a:r>
              <a:rPr lang="en-US" spc="-10"/>
              <a:t>Hasan</a:t>
            </a:r>
            <a:endParaRPr lang="en-US" spc="-1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16068E-80E7-B617-E1E7-13F2F879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245052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FF239-97E7-5293-11AC-4156EB288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39708-ECCA-F40E-224A-79949D161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/>
              <a:t>Introduction</a:t>
            </a:r>
            <a:r>
              <a:rPr lang="en-US" spc="-5"/>
              <a:t> </a:t>
            </a:r>
            <a:r>
              <a:rPr lang="en-US"/>
              <a:t>to</a:t>
            </a:r>
            <a:r>
              <a:rPr lang="en-US" spc="5"/>
              <a:t> </a:t>
            </a:r>
            <a:r>
              <a:rPr lang="en-US" spc="-10"/>
              <a:t>Multidimensional</a:t>
            </a:r>
            <a:r>
              <a:rPr lang="en-US"/>
              <a:t> Data </a:t>
            </a:r>
            <a:r>
              <a:rPr lang="en-US" spc="-20"/>
              <a:t>Model</a:t>
            </a:r>
            <a:endParaRPr lang="en-US" spc="-2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F1CE0-6A9E-DD8E-0310-1DAE44C3D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Musabbir</a:t>
            </a:r>
            <a:r>
              <a:rPr lang="en-US" spc="-40"/>
              <a:t> </a:t>
            </a:r>
            <a:r>
              <a:rPr lang="en-US" spc="-10"/>
              <a:t>Hasan</a:t>
            </a:r>
            <a:endParaRPr lang="en-US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DF8488-EE66-AAB2-1DCB-34DFF5929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653904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8B85FC-75D1-9433-2432-C706B226F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/>
              <a:t>Introduction</a:t>
            </a:r>
            <a:r>
              <a:rPr lang="en-US" spc="-5"/>
              <a:t> </a:t>
            </a:r>
            <a:r>
              <a:rPr lang="en-US"/>
              <a:t>to</a:t>
            </a:r>
            <a:r>
              <a:rPr lang="en-US" spc="5"/>
              <a:t> </a:t>
            </a:r>
            <a:r>
              <a:rPr lang="en-US" spc="-10"/>
              <a:t>Multidimensional</a:t>
            </a:r>
            <a:r>
              <a:rPr lang="en-US"/>
              <a:t> Data </a:t>
            </a:r>
            <a:r>
              <a:rPr lang="en-US" spc="-20"/>
              <a:t>Model</a:t>
            </a:r>
            <a:endParaRPr lang="en-US" spc="-2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B0A9D-BB62-0C42-7BC2-D7E99161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Musabbir</a:t>
            </a:r>
            <a:r>
              <a:rPr lang="en-US" spc="-40"/>
              <a:t> </a:t>
            </a:r>
            <a:r>
              <a:rPr lang="en-US" spc="-10"/>
              <a:t>Hasan</a:t>
            </a:r>
            <a:endParaRPr lang="en-US" spc="-1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556AD-B4C7-BBFB-964F-CF1D755F5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16885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35F69-3683-5238-83E1-6B19FDD09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CAB8-D546-3918-BCE1-C503F8DC1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AE5CB-73CE-4719-42E2-A42C63078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F5B55-1E1B-FE13-59D0-8413DB546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/>
              <a:t>Introduction</a:t>
            </a:r>
            <a:r>
              <a:rPr lang="en-US" spc="-5"/>
              <a:t> </a:t>
            </a:r>
            <a:r>
              <a:rPr lang="en-US"/>
              <a:t>to</a:t>
            </a:r>
            <a:r>
              <a:rPr lang="en-US" spc="5"/>
              <a:t> </a:t>
            </a:r>
            <a:r>
              <a:rPr lang="en-US" spc="-10"/>
              <a:t>Multidimensional</a:t>
            </a:r>
            <a:r>
              <a:rPr lang="en-US"/>
              <a:t> Data </a:t>
            </a:r>
            <a:r>
              <a:rPr lang="en-US" spc="-20"/>
              <a:t>Model</a:t>
            </a:r>
            <a:endParaRPr lang="en-US" spc="-2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FCCA3-1F2B-4184-936F-123AB9FEC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Musabbir</a:t>
            </a:r>
            <a:r>
              <a:rPr lang="en-US" spc="-40"/>
              <a:t> </a:t>
            </a:r>
            <a:r>
              <a:rPr lang="en-US" spc="-10"/>
              <a:t>Hasan</a:t>
            </a:r>
            <a:endParaRPr lang="en-US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F9070-52C2-5EDC-0F1F-FE8A80BB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495825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150D7-670F-7197-BBBC-F32A9585B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41FCC6-3810-3526-0720-D427A6721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3C70F-4197-A721-E963-CE926CFAC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AA398-22D4-5C13-516F-769910ACC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/>
              <a:t>Introduction</a:t>
            </a:r>
            <a:r>
              <a:rPr lang="en-US" spc="-5"/>
              <a:t> </a:t>
            </a:r>
            <a:r>
              <a:rPr lang="en-US"/>
              <a:t>to</a:t>
            </a:r>
            <a:r>
              <a:rPr lang="en-US" spc="5"/>
              <a:t> </a:t>
            </a:r>
            <a:r>
              <a:rPr lang="en-US" spc="-10"/>
              <a:t>Multidimensional</a:t>
            </a:r>
            <a:r>
              <a:rPr lang="en-US"/>
              <a:t> Data </a:t>
            </a:r>
            <a:r>
              <a:rPr lang="en-US" spc="-20"/>
              <a:t>Model</a:t>
            </a:r>
            <a:endParaRPr lang="en-US" spc="-2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78F7F-9B12-87A2-B273-12ECEF5BC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Musabbir</a:t>
            </a:r>
            <a:r>
              <a:rPr lang="en-US" spc="-40"/>
              <a:t> </a:t>
            </a:r>
            <a:r>
              <a:rPr lang="en-US" spc="-10"/>
              <a:t>Hasan</a:t>
            </a:r>
            <a:endParaRPr lang="en-US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53250-AA23-9CD1-D87C-5DA55739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607686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15579-FDB2-3F15-AB94-4C7AC35EE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81E4FB-42EF-9C5C-F930-2692750AF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99C75-30EA-58FD-DB4C-3374A0381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/>
              <a:t>Introduction</a:t>
            </a:r>
            <a:r>
              <a:rPr lang="en-US" spc="-5"/>
              <a:t> </a:t>
            </a:r>
            <a:r>
              <a:rPr lang="en-US"/>
              <a:t>to</a:t>
            </a:r>
            <a:r>
              <a:rPr lang="en-US" spc="5"/>
              <a:t> </a:t>
            </a:r>
            <a:r>
              <a:rPr lang="en-US" spc="-10"/>
              <a:t>Multidimensional</a:t>
            </a:r>
            <a:r>
              <a:rPr lang="en-US"/>
              <a:t> Data </a:t>
            </a:r>
            <a:r>
              <a:rPr lang="en-US" spc="-20"/>
              <a:t>Model</a:t>
            </a:r>
            <a:endParaRPr lang="en-US" spc="-2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69764-A1C5-18D6-B3C9-4B1C01395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Musabbir</a:t>
            </a:r>
            <a:r>
              <a:rPr lang="en-US" spc="-40"/>
              <a:t> </a:t>
            </a:r>
            <a:r>
              <a:rPr lang="en-US" spc="-10"/>
              <a:t>Hasan</a:t>
            </a:r>
            <a:endParaRPr lang="en-US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B5DB6-37BD-963E-F3FA-E01158A51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674520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1E6A00-5DA7-AD92-6E93-927AF11E92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0CAA0-62F0-6EA0-97A6-FF8E281CD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D98C3-709E-98D1-2514-7847AEFB6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/>
              <a:t>Introduction</a:t>
            </a:r>
            <a:r>
              <a:rPr lang="en-US" spc="-5"/>
              <a:t> </a:t>
            </a:r>
            <a:r>
              <a:rPr lang="en-US"/>
              <a:t>to</a:t>
            </a:r>
            <a:r>
              <a:rPr lang="en-US" spc="5"/>
              <a:t> </a:t>
            </a:r>
            <a:r>
              <a:rPr lang="en-US" spc="-10"/>
              <a:t>Multidimensional</a:t>
            </a:r>
            <a:r>
              <a:rPr lang="en-US"/>
              <a:t> Data </a:t>
            </a:r>
            <a:r>
              <a:rPr lang="en-US" spc="-20"/>
              <a:t>Model</a:t>
            </a:r>
            <a:endParaRPr lang="en-US" spc="-2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32434-45F2-8889-C608-837C110F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Musabbir</a:t>
            </a:r>
            <a:r>
              <a:rPr lang="en-US" spc="-40"/>
              <a:t> </a:t>
            </a:r>
            <a:r>
              <a:rPr lang="en-US" spc="-10"/>
              <a:t>Hasan</a:t>
            </a:r>
            <a:endParaRPr lang="en-US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76583-1463-7B3B-6EAB-F22E5BB3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952085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999439-1E6C-E4BD-B8EA-CF891B894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8D8B1-5DDA-D464-EB35-7DE173673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79A7E-F4B4-82D3-968B-C55E04CFC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/>
              <a:t>Introduction</a:t>
            </a:r>
            <a:r>
              <a:rPr lang="en-US" spc="-5"/>
              <a:t> </a:t>
            </a:r>
            <a:r>
              <a:rPr lang="en-US"/>
              <a:t>to</a:t>
            </a:r>
            <a:r>
              <a:rPr lang="en-US" spc="5"/>
              <a:t> </a:t>
            </a:r>
            <a:r>
              <a:rPr lang="en-US" spc="-10"/>
              <a:t>Multidimensional</a:t>
            </a:r>
            <a:r>
              <a:rPr lang="en-US"/>
              <a:t> Data </a:t>
            </a:r>
            <a:r>
              <a:rPr lang="en-US" spc="-20"/>
              <a:t>Model</a:t>
            </a:r>
            <a:endParaRPr lang="en-US" spc="-2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888AB-11E8-A7F8-7337-095BE2B085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Musabbir</a:t>
            </a:r>
            <a:r>
              <a:rPr lang="en-US" spc="-40"/>
              <a:t> </a:t>
            </a:r>
            <a:r>
              <a:rPr lang="en-US" spc="-10"/>
              <a:t>Hasan</a:t>
            </a:r>
            <a:endParaRPr lang="en-US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53396-FE4E-80DF-DE57-09127B7CB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57168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0200" y="1361947"/>
            <a:ext cx="5941695" cy="207708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 marR="5080" indent="-635" algn="ctr">
              <a:lnSpc>
                <a:spcPct val="90200"/>
              </a:lnSpc>
              <a:spcBef>
                <a:spcPts val="665"/>
              </a:spcBef>
            </a:pPr>
            <a:r>
              <a:rPr sz="4800" dirty="0"/>
              <a:t>Introduction</a:t>
            </a:r>
            <a:r>
              <a:rPr sz="4800" spc="-180" dirty="0"/>
              <a:t> </a:t>
            </a:r>
            <a:r>
              <a:rPr sz="4800" spc="-25" dirty="0"/>
              <a:t>to </a:t>
            </a:r>
            <a:r>
              <a:rPr sz="4800" spc="-10" dirty="0"/>
              <a:t>Multidimensional</a:t>
            </a:r>
            <a:r>
              <a:rPr sz="4800" spc="-200" dirty="0"/>
              <a:t> </a:t>
            </a:r>
            <a:r>
              <a:rPr sz="4800" spc="-20" dirty="0"/>
              <a:t>Data </a:t>
            </a:r>
            <a:r>
              <a:rPr sz="4800" spc="-10" dirty="0"/>
              <a:t>Model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5547" y="2691385"/>
            <a:ext cx="6736080" cy="1080135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1618615" marR="5080" indent="-1606550">
              <a:lnSpc>
                <a:spcPct val="68800"/>
              </a:lnSpc>
              <a:spcBef>
                <a:spcPts val="1635"/>
              </a:spcBef>
            </a:pPr>
            <a:r>
              <a:rPr sz="4100" dirty="0"/>
              <a:t>Online</a:t>
            </a:r>
            <a:r>
              <a:rPr sz="4100" spc="-120" dirty="0"/>
              <a:t> </a:t>
            </a:r>
            <a:r>
              <a:rPr sz="4100" spc="-10" dirty="0"/>
              <a:t>Transaction</a:t>
            </a:r>
            <a:r>
              <a:rPr sz="4100" spc="-114" dirty="0"/>
              <a:t> </a:t>
            </a:r>
            <a:r>
              <a:rPr sz="4100" spc="-10" dirty="0"/>
              <a:t>Processing </a:t>
            </a:r>
            <a:r>
              <a:rPr sz="4100" dirty="0"/>
              <a:t>(OLTP)</a:t>
            </a:r>
            <a:r>
              <a:rPr sz="4100" spc="-210" dirty="0"/>
              <a:t> </a:t>
            </a:r>
            <a:r>
              <a:rPr sz="4100" spc="-10" dirty="0"/>
              <a:t>Systems</a:t>
            </a:r>
            <a:endParaRPr sz="41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390" y="611124"/>
            <a:ext cx="12712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OLTP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663180" cy="300355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11303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30" dirty="0">
                <a:latin typeface="Times New Roman"/>
                <a:cs typeface="Times New Roman"/>
              </a:rPr>
              <a:t>full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form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OLTP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80" dirty="0">
                <a:latin typeface="Times New Roman"/>
                <a:cs typeface="Times New Roman"/>
              </a:rPr>
              <a:t>is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55" dirty="0">
                <a:latin typeface="Times New Roman"/>
                <a:cs typeface="Times New Roman"/>
              </a:rPr>
              <a:t>Online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54" dirty="0">
                <a:latin typeface="Times New Roman"/>
                <a:cs typeface="Times New Roman"/>
              </a:rPr>
              <a:t>Transaction </a:t>
            </a:r>
            <a:r>
              <a:rPr sz="2800" spc="204" dirty="0">
                <a:latin typeface="Times New Roman"/>
                <a:cs typeface="Times New Roman"/>
              </a:rPr>
              <a:t>Processing.</a:t>
            </a:r>
            <a:endParaRPr sz="2800">
              <a:latin typeface="Times New Roman"/>
              <a:cs typeface="Times New Roman"/>
            </a:endParaRPr>
          </a:p>
          <a:p>
            <a:pPr marL="241300" marR="1473200" indent="-228600">
              <a:lnSpc>
                <a:spcPct val="91100"/>
              </a:lnSpc>
              <a:spcBef>
                <a:spcPts val="8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OLTP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80" dirty="0">
                <a:latin typeface="Times New Roman"/>
                <a:cs typeface="Times New Roman"/>
              </a:rPr>
              <a:t>is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50" dirty="0">
                <a:latin typeface="Times New Roman"/>
                <a:cs typeface="Times New Roman"/>
              </a:rPr>
              <a:t>an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operational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00" dirty="0">
                <a:latin typeface="Times New Roman"/>
                <a:cs typeface="Times New Roman"/>
              </a:rPr>
              <a:t>system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that </a:t>
            </a:r>
            <a:r>
              <a:rPr sz="2800" spc="295" dirty="0">
                <a:latin typeface="Times New Roman"/>
                <a:cs typeface="Times New Roman"/>
              </a:rPr>
              <a:t>supports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b="1" u="sng" spc="17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transaction-</a:t>
            </a:r>
            <a:r>
              <a:rPr sz="2800" b="1" u="sng" spc="13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oriented</a:t>
            </a:r>
            <a:r>
              <a:rPr sz="2800" b="1" spc="130" dirty="0">
                <a:latin typeface="Book Antiqua"/>
                <a:cs typeface="Book Antiqua"/>
              </a:rPr>
              <a:t> </a:t>
            </a:r>
            <a:r>
              <a:rPr sz="2800" spc="200" dirty="0">
                <a:latin typeface="Times New Roman"/>
                <a:cs typeface="Times New Roman"/>
              </a:rPr>
              <a:t>applications.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35" dirty="0">
                <a:latin typeface="Times New Roman"/>
                <a:cs typeface="Times New Roman"/>
              </a:rPr>
              <a:t>It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administers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85" dirty="0">
                <a:latin typeface="Times New Roman"/>
                <a:cs typeface="Times New Roman"/>
              </a:rPr>
              <a:t>day-</a:t>
            </a:r>
            <a:r>
              <a:rPr sz="2800" spc="125" dirty="0">
                <a:latin typeface="Times New Roman"/>
                <a:cs typeface="Times New Roman"/>
              </a:rPr>
              <a:t>to-</a:t>
            </a:r>
            <a:r>
              <a:rPr sz="2800" spc="270" dirty="0">
                <a:latin typeface="Times New Roman"/>
                <a:cs typeface="Times New Roman"/>
              </a:rPr>
              <a:t>day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transaction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45" dirty="0">
                <a:latin typeface="Times New Roman"/>
                <a:cs typeface="Times New Roman"/>
              </a:rPr>
              <a:t>of </a:t>
            </a:r>
            <a:r>
              <a:rPr sz="2800" spc="350" dirty="0">
                <a:latin typeface="Times New Roman"/>
                <a:cs typeface="Times New Roman"/>
              </a:rPr>
              <a:t>an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15" dirty="0">
                <a:latin typeface="Times New Roman"/>
                <a:cs typeface="Times New Roman"/>
              </a:rPr>
              <a:t>organization.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390" y="611124"/>
            <a:ext cx="12712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OLTP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56155"/>
            <a:ext cx="7578090" cy="433832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1300" marR="46355" indent="-228600">
              <a:lnSpc>
                <a:spcPct val="80400"/>
              </a:lnSpc>
              <a:spcBef>
                <a:spcPts val="7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OLTP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or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155" dirty="0">
                <a:latin typeface="Times New Roman"/>
                <a:cs typeface="Times New Roman"/>
              </a:rPr>
              <a:t>Online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65" dirty="0">
                <a:latin typeface="Times New Roman"/>
                <a:cs typeface="Times New Roman"/>
              </a:rPr>
              <a:t>Transaction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Processing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80" dirty="0">
                <a:latin typeface="Times New Roman"/>
                <a:cs typeface="Times New Roman"/>
              </a:rPr>
              <a:t>is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a type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data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processing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45" dirty="0">
                <a:latin typeface="Times New Roman"/>
                <a:cs typeface="Times New Roman"/>
              </a:rPr>
              <a:t>that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consists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45" dirty="0">
                <a:latin typeface="Times New Roman"/>
                <a:cs typeface="Times New Roman"/>
              </a:rPr>
              <a:t>of </a:t>
            </a:r>
            <a:r>
              <a:rPr sz="2800" spc="240" dirty="0">
                <a:latin typeface="Times New Roman"/>
                <a:cs typeface="Times New Roman"/>
              </a:rPr>
              <a:t>executing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number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b="1" u="sng" spc="18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transactions</a:t>
            </a:r>
            <a:r>
              <a:rPr sz="2800" b="1" spc="185" dirty="0">
                <a:latin typeface="Book Antiqua"/>
                <a:cs typeface="Book Antiqua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occurring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b="1" u="sng" spc="114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concurrently</a:t>
            </a:r>
            <a:r>
              <a:rPr sz="2800" spc="114" dirty="0">
                <a:latin typeface="Times New Roman"/>
                <a:cs typeface="Times New Roman"/>
              </a:rPr>
              <a:t>—</a:t>
            </a:r>
            <a:r>
              <a:rPr sz="2800" spc="210" dirty="0">
                <a:latin typeface="Times New Roman"/>
                <a:cs typeface="Times New Roman"/>
              </a:rPr>
              <a:t>online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15" dirty="0">
                <a:latin typeface="Times New Roman"/>
                <a:cs typeface="Times New Roman"/>
              </a:rPr>
              <a:t>banking, shopping,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order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60" dirty="0">
                <a:latin typeface="Times New Roman"/>
                <a:cs typeface="Times New Roman"/>
              </a:rPr>
              <a:t>entry,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or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sending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00" dirty="0">
                <a:latin typeface="Times New Roman"/>
                <a:cs typeface="Times New Roman"/>
              </a:rPr>
              <a:t>text </a:t>
            </a:r>
            <a:r>
              <a:rPr sz="2800" spc="240" dirty="0">
                <a:latin typeface="Times New Roman"/>
                <a:cs typeface="Times New Roman"/>
              </a:rPr>
              <a:t>messages,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for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example.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80300"/>
              </a:lnSpc>
              <a:spcBef>
                <a:spcPts val="9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35" dirty="0">
                <a:latin typeface="Times New Roman"/>
                <a:cs typeface="Times New Roman"/>
              </a:rPr>
              <a:t>These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transactions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traditionally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are </a:t>
            </a:r>
            <a:r>
              <a:rPr sz="2800" spc="280" dirty="0">
                <a:latin typeface="Times New Roman"/>
                <a:cs typeface="Times New Roman"/>
              </a:rPr>
              <a:t>referred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as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b="1" u="sng" spc="12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economic</a:t>
            </a:r>
            <a:r>
              <a:rPr sz="2800" b="1" dirty="0">
                <a:latin typeface="Book Antiqua"/>
                <a:cs typeface="Book Antiqua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b="1" u="sng" spc="13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financial</a:t>
            </a:r>
            <a:r>
              <a:rPr sz="2800" b="1" spc="130" dirty="0">
                <a:latin typeface="Book Antiqua"/>
                <a:cs typeface="Book Antiqua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transactions,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recorded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b="1" u="sng" spc="15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secured</a:t>
            </a:r>
            <a:r>
              <a:rPr sz="2800" b="1" spc="15" dirty="0">
                <a:latin typeface="Book Antiqua"/>
                <a:cs typeface="Book Antiqua"/>
              </a:rPr>
              <a:t> </a:t>
            </a:r>
            <a:r>
              <a:rPr sz="2800" spc="200" dirty="0">
                <a:latin typeface="Times New Roman"/>
                <a:cs typeface="Times New Roman"/>
              </a:rPr>
              <a:t>so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that </a:t>
            </a:r>
            <a:r>
              <a:rPr sz="2800" spc="350" dirty="0">
                <a:latin typeface="Times New Roman"/>
                <a:cs typeface="Times New Roman"/>
              </a:rPr>
              <a:t>an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enterprise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can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access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information </a:t>
            </a:r>
            <a:r>
              <a:rPr sz="2800" spc="285" dirty="0">
                <a:latin typeface="Times New Roman"/>
                <a:cs typeface="Times New Roman"/>
              </a:rPr>
              <a:t>anytime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for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accounting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or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60" dirty="0">
                <a:latin typeface="Times New Roman"/>
                <a:cs typeface="Times New Roman"/>
              </a:rPr>
              <a:t>reporting </a:t>
            </a:r>
            <a:r>
              <a:rPr sz="2800" spc="235" dirty="0">
                <a:latin typeface="Times New Roman"/>
                <a:cs typeface="Times New Roman"/>
              </a:rPr>
              <a:t>purposes.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390" y="611124"/>
            <a:ext cx="12712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OLTP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607934" cy="275082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marR="5080" indent="-228600">
              <a:lnSpc>
                <a:spcPct val="89800"/>
              </a:lnSpc>
              <a:spcBef>
                <a:spcPts val="440"/>
              </a:spcBef>
              <a:buChar char="•"/>
              <a:tabLst>
                <a:tab pos="241300" algn="l"/>
                <a:tab pos="329565" algn="l"/>
              </a:tabLst>
            </a:pPr>
            <a:r>
              <a:rPr sz="2800" dirty="0">
                <a:latin typeface="Arial"/>
                <a:cs typeface="Arial"/>
              </a:rPr>
              <a:t>	</a:t>
            </a:r>
            <a:r>
              <a:rPr sz="2800" spc="235" dirty="0">
                <a:latin typeface="Times New Roman"/>
                <a:cs typeface="Times New Roman"/>
              </a:rPr>
              <a:t>It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00" dirty="0">
                <a:latin typeface="Times New Roman"/>
                <a:cs typeface="Times New Roman"/>
              </a:rPr>
              <a:t>also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5" dirty="0">
                <a:latin typeface="Times New Roman"/>
                <a:cs typeface="Times New Roman"/>
              </a:rPr>
              <a:t>includes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any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65" dirty="0">
                <a:latin typeface="Times New Roman"/>
                <a:cs typeface="Times New Roman"/>
              </a:rPr>
              <a:t>kind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b="1" spc="175" dirty="0">
                <a:latin typeface="Book Antiqua"/>
                <a:cs typeface="Book Antiqua"/>
              </a:rPr>
              <a:t>interaction</a:t>
            </a:r>
            <a:r>
              <a:rPr sz="2800" b="1" spc="15" dirty="0">
                <a:latin typeface="Book Antiqua"/>
                <a:cs typeface="Book Antiqua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or </a:t>
            </a:r>
            <a:r>
              <a:rPr sz="2800" b="1" spc="160" dirty="0">
                <a:latin typeface="Book Antiqua"/>
                <a:cs typeface="Book Antiqua"/>
              </a:rPr>
              <a:t>action</a:t>
            </a:r>
            <a:r>
              <a:rPr sz="2800" b="1" dirty="0">
                <a:latin typeface="Book Antiqua"/>
                <a:cs typeface="Book Antiqua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such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as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downloading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15" dirty="0">
                <a:latin typeface="Times New Roman"/>
                <a:cs typeface="Times New Roman"/>
              </a:rPr>
              <a:t>pdfs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on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160" dirty="0">
                <a:latin typeface="Times New Roman"/>
                <a:cs typeface="Times New Roman"/>
              </a:rPr>
              <a:t>web </a:t>
            </a:r>
            <a:r>
              <a:rPr sz="2800" spc="190" dirty="0">
                <a:latin typeface="Times New Roman"/>
                <a:cs typeface="Times New Roman"/>
              </a:rPr>
              <a:t>page,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195" dirty="0">
                <a:latin typeface="Times New Roman"/>
                <a:cs typeface="Times New Roman"/>
              </a:rPr>
              <a:t>viewing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75" dirty="0">
                <a:latin typeface="Times New Roman"/>
                <a:cs typeface="Times New Roman"/>
              </a:rPr>
              <a:t>specific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75" dirty="0">
                <a:latin typeface="Times New Roman"/>
                <a:cs typeface="Times New Roman"/>
              </a:rPr>
              <a:t>video,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65" dirty="0">
                <a:latin typeface="Times New Roman"/>
                <a:cs typeface="Times New Roman"/>
              </a:rPr>
              <a:t>automatic </a:t>
            </a:r>
            <a:r>
              <a:rPr sz="2800" spc="295" dirty="0">
                <a:latin typeface="Times New Roman"/>
                <a:cs typeface="Times New Roman"/>
              </a:rPr>
              <a:t>maintenance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triggers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or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comments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on </a:t>
            </a:r>
            <a:r>
              <a:rPr sz="2800" spc="175" dirty="0">
                <a:latin typeface="Times New Roman"/>
                <a:cs typeface="Times New Roman"/>
              </a:rPr>
              <a:t>social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channels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45" dirty="0">
                <a:latin typeface="Times New Roman"/>
                <a:cs typeface="Times New Roman"/>
              </a:rPr>
              <a:t>that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maybe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critical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for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a </a:t>
            </a:r>
            <a:r>
              <a:rPr sz="2800" spc="250" dirty="0">
                <a:latin typeface="Times New Roman"/>
                <a:cs typeface="Times New Roman"/>
              </a:rPr>
              <a:t>business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record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serve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their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customers </a:t>
            </a:r>
            <a:r>
              <a:rPr sz="2800" spc="210" dirty="0">
                <a:latin typeface="Times New Roman"/>
                <a:cs typeface="Times New Roman"/>
              </a:rPr>
              <a:t>better.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390" y="611124"/>
            <a:ext cx="30537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Transactions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462520" cy="32715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234315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primary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04" dirty="0">
                <a:latin typeface="Times New Roman"/>
                <a:cs typeface="Times New Roman"/>
              </a:rPr>
              <a:t>definition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for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04" dirty="0">
                <a:latin typeface="Times New Roman"/>
                <a:cs typeface="Times New Roman"/>
              </a:rPr>
              <a:t>transactions— </a:t>
            </a:r>
            <a:r>
              <a:rPr sz="2800" spc="210" dirty="0">
                <a:latin typeface="Times New Roman"/>
                <a:cs typeface="Times New Roman"/>
              </a:rPr>
              <a:t>economic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or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125" dirty="0">
                <a:latin typeface="Times New Roman"/>
                <a:cs typeface="Times New Roman"/>
              </a:rPr>
              <a:t>financial—</a:t>
            </a:r>
            <a:r>
              <a:rPr sz="2800" spc="305" dirty="0">
                <a:latin typeface="Times New Roman"/>
                <a:cs typeface="Times New Roman"/>
              </a:rPr>
              <a:t>remains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the </a:t>
            </a:r>
            <a:r>
              <a:rPr sz="2800" spc="229" dirty="0">
                <a:latin typeface="Times New Roman"/>
                <a:cs typeface="Times New Roman"/>
              </a:rPr>
              <a:t>foundation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for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85" dirty="0">
                <a:latin typeface="Times New Roman"/>
                <a:cs typeface="Times New Roman"/>
              </a:rPr>
              <a:t>most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OLTP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60" dirty="0">
                <a:latin typeface="Times New Roman"/>
                <a:cs typeface="Times New Roman"/>
              </a:rPr>
              <a:t>systems.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9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110" dirty="0">
                <a:latin typeface="Times New Roman"/>
                <a:cs typeface="Times New Roman"/>
              </a:rPr>
              <a:t>So,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online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transaction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processing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95" dirty="0">
                <a:latin typeface="Times New Roman"/>
                <a:cs typeface="Times New Roman"/>
              </a:rPr>
              <a:t>typically </a:t>
            </a:r>
            <a:r>
              <a:rPr sz="2800" spc="200" dirty="0">
                <a:latin typeface="Times New Roman"/>
                <a:cs typeface="Times New Roman"/>
              </a:rPr>
              <a:t>involves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inserting,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updating,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300" dirty="0">
                <a:latin typeface="Times New Roman"/>
                <a:cs typeface="Times New Roman"/>
              </a:rPr>
              <a:t>and/or </a:t>
            </a:r>
            <a:r>
              <a:rPr sz="2800" spc="215" dirty="0">
                <a:latin typeface="Times New Roman"/>
                <a:cs typeface="Times New Roman"/>
              </a:rPr>
              <a:t>deleting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small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10" dirty="0">
                <a:latin typeface="Times New Roman"/>
                <a:cs typeface="Times New Roman"/>
              </a:rPr>
              <a:t>amounts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data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in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00" dirty="0">
                <a:latin typeface="Times New Roman"/>
                <a:cs typeface="Times New Roman"/>
              </a:rPr>
              <a:t>data </a:t>
            </a:r>
            <a:r>
              <a:rPr sz="2800" spc="280" dirty="0">
                <a:latin typeface="Times New Roman"/>
                <a:cs typeface="Times New Roman"/>
              </a:rPr>
              <a:t>store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60" dirty="0">
                <a:latin typeface="Times New Roman"/>
                <a:cs typeface="Times New Roman"/>
              </a:rPr>
              <a:t>collect,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54" dirty="0">
                <a:latin typeface="Times New Roman"/>
                <a:cs typeface="Times New Roman"/>
              </a:rPr>
              <a:t>manage,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secure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60" dirty="0">
                <a:latin typeface="Times New Roman"/>
                <a:cs typeface="Times New Roman"/>
              </a:rPr>
              <a:t>those transactions.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390" y="611124"/>
            <a:ext cx="12712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OLTP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502525" cy="19888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OLTP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80" dirty="0">
                <a:latin typeface="Times New Roman"/>
                <a:cs typeface="Times New Roman"/>
              </a:rPr>
              <a:t>is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90" dirty="0">
                <a:latin typeface="Times New Roman"/>
                <a:cs typeface="Times New Roman"/>
              </a:rPr>
              <a:t>basically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95" dirty="0">
                <a:latin typeface="Times New Roman"/>
                <a:cs typeface="Times New Roman"/>
              </a:rPr>
              <a:t>focused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on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b="1" u="sng" spc="114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query</a:t>
            </a:r>
            <a:r>
              <a:rPr sz="2800" b="1" spc="114" dirty="0">
                <a:latin typeface="Book Antiqua"/>
                <a:cs typeface="Book Antiqua"/>
              </a:rPr>
              <a:t> </a:t>
            </a:r>
            <a:r>
              <a:rPr sz="2800" b="1" u="sng" spc="12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processing</a:t>
            </a:r>
            <a:r>
              <a:rPr sz="2800" spc="120" dirty="0">
                <a:latin typeface="Times New Roman"/>
                <a:cs typeface="Times New Roman"/>
              </a:rPr>
              <a:t>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65" dirty="0">
                <a:latin typeface="Times New Roman"/>
                <a:cs typeface="Times New Roman"/>
              </a:rPr>
              <a:t>maintaining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b="1" u="sng" spc="20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data</a:t>
            </a:r>
            <a:r>
              <a:rPr sz="2800" b="1" u="sng" spc="1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2800" b="1" u="sng" spc="17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integrity</a:t>
            </a:r>
            <a:r>
              <a:rPr sz="2800" b="1" spc="15" dirty="0">
                <a:latin typeface="Book Antiqua"/>
                <a:cs typeface="Book Antiqua"/>
              </a:rPr>
              <a:t> </a:t>
            </a:r>
            <a:r>
              <a:rPr sz="2800" spc="190" dirty="0">
                <a:latin typeface="Times New Roman"/>
                <a:cs typeface="Times New Roman"/>
              </a:rPr>
              <a:t>in </a:t>
            </a:r>
            <a:r>
              <a:rPr sz="2800" b="1" u="sng" spc="10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multi-</a:t>
            </a:r>
            <a:r>
              <a:rPr sz="2800" b="1" u="sng" spc="19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access</a:t>
            </a:r>
            <a:r>
              <a:rPr sz="2800" b="1" u="sng" spc="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2800" b="1" u="sng" spc="17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environments</a:t>
            </a:r>
            <a:r>
              <a:rPr sz="2800" b="1" spc="10" dirty="0">
                <a:latin typeface="Book Antiqua"/>
                <a:cs typeface="Book Antiqua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as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35" dirty="0">
                <a:latin typeface="Times New Roman"/>
                <a:cs typeface="Times New Roman"/>
              </a:rPr>
              <a:t>well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as </a:t>
            </a:r>
            <a:r>
              <a:rPr sz="2800" spc="210" dirty="0">
                <a:latin typeface="Times New Roman"/>
                <a:cs typeface="Times New Roman"/>
              </a:rPr>
              <a:t>effectiveness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45" dirty="0">
                <a:latin typeface="Times New Roman"/>
                <a:cs typeface="Times New Roman"/>
              </a:rPr>
              <a:t>that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180" dirty="0">
                <a:latin typeface="Times New Roman"/>
                <a:cs typeface="Times New Roman"/>
              </a:rPr>
              <a:t>is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10" dirty="0">
                <a:latin typeface="Times New Roman"/>
                <a:cs typeface="Times New Roman"/>
              </a:rPr>
              <a:t>measured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by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b="1" u="sng" spc="16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total</a:t>
            </a:r>
            <a:r>
              <a:rPr sz="2800" b="1" spc="165" dirty="0">
                <a:latin typeface="Book Antiqua"/>
                <a:cs typeface="Book Antiqua"/>
              </a:rPr>
              <a:t> </a:t>
            </a:r>
            <a:r>
              <a:rPr sz="2800" b="1" u="sng" spc="14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number</a:t>
            </a:r>
            <a:r>
              <a:rPr sz="2800" b="1" u="sng" spc="2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of</a:t>
            </a:r>
            <a:r>
              <a:rPr sz="2800" b="1" u="sng" spc="2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2800" b="1" u="sng" spc="19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transactions</a:t>
            </a:r>
            <a:r>
              <a:rPr sz="2800" b="1" u="sng" spc="2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2800" b="1" u="sng" spc="14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per</a:t>
            </a:r>
            <a:r>
              <a:rPr sz="2800" b="1" u="sng" spc="2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2800" b="1" u="sng" spc="11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second</a:t>
            </a:r>
            <a:r>
              <a:rPr sz="2800" spc="1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3350" y="2691385"/>
            <a:ext cx="6339840" cy="1080135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2367280" marR="5080" indent="-2355215">
              <a:lnSpc>
                <a:spcPct val="68800"/>
              </a:lnSpc>
              <a:spcBef>
                <a:spcPts val="1635"/>
              </a:spcBef>
            </a:pPr>
            <a:r>
              <a:rPr sz="4100" dirty="0"/>
              <a:t>Online</a:t>
            </a:r>
            <a:r>
              <a:rPr sz="4100" spc="-110" dirty="0"/>
              <a:t> </a:t>
            </a:r>
            <a:r>
              <a:rPr sz="4100" dirty="0"/>
              <a:t>Analytical</a:t>
            </a:r>
            <a:r>
              <a:rPr sz="4100" spc="-100" dirty="0"/>
              <a:t> </a:t>
            </a:r>
            <a:r>
              <a:rPr sz="4100" spc="-10" dirty="0"/>
              <a:t>Processing (OLAP)</a:t>
            </a:r>
            <a:endParaRPr sz="41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OLAP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678420" cy="4582792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41300" marR="66675" indent="-228600" algn="just">
              <a:lnSpc>
                <a:spcPct val="907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155" dirty="0">
                <a:latin typeface="Times New Roman"/>
                <a:cs typeface="Times New Roman"/>
              </a:rPr>
              <a:t>Online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analytical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processing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45" dirty="0">
                <a:latin typeface="Times New Roman"/>
                <a:cs typeface="Times New Roman"/>
              </a:rPr>
              <a:t>(OLAP)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45" dirty="0">
                <a:latin typeface="Times New Roman"/>
                <a:cs typeface="Times New Roman"/>
              </a:rPr>
              <a:t>is </a:t>
            </a:r>
            <a:r>
              <a:rPr sz="2800" spc="250" dirty="0">
                <a:latin typeface="Times New Roman"/>
                <a:cs typeface="Times New Roman"/>
              </a:rPr>
              <a:t>software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technology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you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can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use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analyze </a:t>
            </a:r>
            <a:r>
              <a:rPr sz="2800" spc="250" dirty="0">
                <a:latin typeface="Times New Roman"/>
                <a:cs typeface="Times New Roman"/>
              </a:rPr>
              <a:t>business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data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from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b="1" spc="220" dirty="0">
                <a:latin typeface="Times New Roman"/>
                <a:cs typeface="Times New Roman"/>
              </a:rPr>
              <a:t>different</a:t>
            </a:r>
            <a:r>
              <a:rPr sz="2800" b="1" spc="15" dirty="0">
                <a:latin typeface="Times New Roman"/>
                <a:cs typeface="Times New Roman"/>
              </a:rPr>
              <a:t> </a:t>
            </a:r>
            <a:r>
              <a:rPr sz="2800" b="1" spc="245" dirty="0">
                <a:latin typeface="Times New Roman"/>
                <a:cs typeface="Times New Roman"/>
              </a:rPr>
              <a:t>points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70" dirty="0">
                <a:latin typeface="Times New Roman"/>
                <a:cs typeface="Times New Roman"/>
              </a:rPr>
              <a:t>of</a:t>
            </a:r>
            <a:r>
              <a:rPr sz="2800" b="1" spc="20" dirty="0">
                <a:latin typeface="Times New Roman"/>
                <a:cs typeface="Times New Roman"/>
              </a:rPr>
              <a:t> </a:t>
            </a:r>
            <a:r>
              <a:rPr sz="2800" b="1" spc="110" dirty="0">
                <a:latin typeface="Times New Roman"/>
                <a:cs typeface="Times New Roman"/>
              </a:rPr>
              <a:t>view</a:t>
            </a:r>
            <a:r>
              <a:rPr sz="2800" spc="11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241300" marR="425450" indent="-228600" algn="just">
              <a:lnSpc>
                <a:spcPct val="902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15" dirty="0">
                <a:latin typeface="Times New Roman"/>
                <a:cs typeface="Times New Roman"/>
              </a:rPr>
              <a:t>Organizations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b="1" spc="170" dirty="0">
                <a:latin typeface="Times New Roman"/>
                <a:cs typeface="Times New Roman"/>
              </a:rPr>
              <a:t>collect</a:t>
            </a:r>
            <a:r>
              <a:rPr sz="2800" b="1" spc="20" dirty="0">
                <a:latin typeface="Times New Roman"/>
                <a:cs typeface="Times New Roman"/>
              </a:rPr>
              <a:t> </a:t>
            </a:r>
            <a:r>
              <a:rPr sz="2800" b="1" spc="325" dirty="0">
                <a:latin typeface="Times New Roman"/>
                <a:cs typeface="Times New Roman"/>
              </a:rPr>
              <a:t>and</a:t>
            </a:r>
            <a:r>
              <a:rPr sz="2800" b="1" spc="15" dirty="0">
                <a:latin typeface="Times New Roman"/>
                <a:cs typeface="Times New Roman"/>
              </a:rPr>
              <a:t> </a:t>
            </a:r>
            <a:r>
              <a:rPr sz="2800" b="1" spc="280" dirty="0">
                <a:latin typeface="Times New Roman"/>
                <a:cs typeface="Times New Roman"/>
              </a:rPr>
              <a:t>store</a:t>
            </a:r>
            <a:r>
              <a:rPr sz="2800" b="1" spc="10" dirty="0">
                <a:latin typeface="Times New Roman"/>
                <a:cs typeface="Times New Roman"/>
              </a:rPr>
              <a:t> </a:t>
            </a:r>
            <a:r>
              <a:rPr sz="2800" b="1" spc="320" dirty="0">
                <a:latin typeface="Times New Roman"/>
                <a:cs typeface="Times New Roman"/>
              </a:rPr>
              <a:t>data</a:t>
            </a:r>
            <a:r>
              <a:rPr sz="2800" b="1" spc="15" dirty="0">
                <a:latin typeface="Times New Roman"/>
                <a:cs typeface="Times New Roman"/>
              </a:rPr>
              <a:t> </a:t>
            </a:r>
            <a:r>
              <a:rPr sz="2800" spc="225" dirty="0">
                <a:latin typeface="Times New Roman"/>
                <a:cs typeface="Times New Roman"/>
              </a:rPr>
              <a:t>from multiple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data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sources,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such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as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90" dirty="0">
                <a:latin typeface="Times New Roman"/>
                <a:cs typeface="Times New Roman"/>
              </a:rPr>
              <a:t>websites, </a:t>
            </a:r>
            <a:r>
              <a:rPr sz="2800" spc="215" dirty="0">
                <a:latin typeface="Times New Roman"/>
                <a:cs typeface="Times New Roman"/>
              </a:rPr>
              <a:t>applications,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65" dirty="0">
                <a:latin typeface="Times New Roman"/>
                <a:cs typeface="Times New Roman"/>
              </a:rPr>
              <a:t>smart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meters,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internal </a:t>
            </a:r>
            <a:r>
              <a:rPr sz="2800" spc="260" dirty="0">
                <a:latin typeface="Times New Roman"/>
                <a:cs typeface="Times New Roman"/>
              </a:rPr>
              <a:t>systems.</a:t>
            </a:r>
            <a:endParaRPr sz="280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00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50" dirty="0">
                <a:latin typeface="Times New Roman"/>
                <a:cs typeface="Times New Roman"/>
              </a:rPr>
              <a:t>OLAP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combines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groups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this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data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into </a:t>
            </a:r>
            <a:r>
              <a:rPr sz="2800" spc="235" dirty="0">
                <a:latin typeface="Times New Roman"/>
                <a:cs typeface="Times New Roman"/>
              </a:rPr>
              <a:t>categories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provide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actionable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insights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45" dirty="0">
                <a:latin typeface="Times New Roman"/>
                <a:cs typeface="Times New Roman"/>
              </a:rPr>
              <a:t>for </a:t>
            </a:r>
            <a:r>
              <a:rPr sz="2800" spc="260" dirty="0">
                <a:latin typeface="Times New Roman"/>
                <a:cs typeface="Times New Roman"/>
              </a:rPr>
              <a:t>strategic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planning.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OLAP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56155"/>
            <a:ext cx="7668259" cy="412242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1300" marR="5080" indent="-228600">
              <a:lnSpc>
                <a:spcPct val="80400"/>
              </a:lnSpc>
              <a:spcBef>
                <a:spcPts val="7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0" dirty="0">
                <a:latin typeface="Times New Roman"/>
                <a:cs typeface="Times New Roman"/>
              </a:rPr>
              <a:t>For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example,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retailer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stores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data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54" dirty="0">
                <a:latin typeface="Times New Roman"/>
                <a:cs typeface="Times New Roman"/>
              </a:rPr>
              <a:t>about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35" dirty="0">
                <a:latin typeface="Times New Roman"/>
                <a:cs typeface="Times New Roman"/>
              </a:rPr>
              <a:t>all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products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it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65" dirty="0">
                <a:latin typeface="Times New Roman"/>
                <a:cs typeface="Times New Roman"/>
              </a:rPr>
              <a:t>sells,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such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as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25" dirty="0">
                <a:latin typeface="Times New Roman"/>
                <a:cs typeface="Times New Roman"/>
              </a:rPr>
              <a:t>color,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65" dirty="0">
                <a:latin typeface="Times New Roman"/>
                <a:cs typeface="Times New Roman"/>
              </a:rPr>
              <a:t>size, </a:t>
            </a:r>
            <a:r>
              <a:rPr sz="2800" spc="195" dirty="0">
                <a:latin typeface="Times New Roman"/>
                <a:cs typeface="Times New Roman"/>
              </a:rPr>
              <a:t>cost,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75" dirty="0">
                <a:latin typeface="Times New Roman"/>
                <a:cs typeface="Times New Roman"/>
              </a:rPr>
              <a:t>location.</a:t>
            </a:r>
            <a:endParaRPr sz="2800">
              <a:latin typeface="Times New Roman"/>
              <a:cs typeface="Times New Roman"/>
            </a:endParaRPr>
          </a:p>
          <a:p>
            <a:pPr marL="241300" marR="668020" indent="-228600">
              <a:lnSpc>
                <a:spcPct val="795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retailer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00" dirty="0">
                <a:latin typeface="Times New Roman"/>
                <a:cs typeface="Times New Roman"/>
              </a:rPr>
              <a:t>also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85" dirty="0">
                <a:latin typeface="Times New Roman"/>
                <a:cs typeface="Times New Roman"/>
              </a:rPr>
              <a:t>collects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customer </a:t>
            </a:r>
            <a:r>
              <a:rPr sz="2800" spc="295" dirty="0">
                <a:latin typeface="Times New Roman"/>
                <a:cs typeface="Times New Roman"/>
              </a:rPr>
              <a:t>purchase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65" dirty="0">
                <a:latin typeface="Times New Roman"/>
                <a:cs typeface="Times New Roman"/>
              </a:rPr>
              <a:t>data,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such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as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35" dirty="0">
                <a:latin typeface="Times New Roman"/>
                <a:cs typeface="Times New Roman"/>
              </a:rPr>
              <a:t>name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the </a:t>
            </a:r>
            <a:r>
              <a:rPr sz="2800" spc="270" dirty="0">
                <a:latin typeface="Times New Roman"/>
                <a:cs typeface="Times New Roman"/>
              </a:rPr>
              <a:t>items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85" dirty="0">
                <a:latin typeface="Times New Roman"/>
                <a:cs typeface="Times New Roman"/>
              </a:rPr>
              <a:t>ordered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total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sales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15" dirty="0">
                <a:latin typeface="Times New Roman"/>
                <a:cs typeface="Times New Roman"/>
              </a:rPr>
              <a:t>value,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in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a </a:t>
            </a:r>
            <a:r>
              <a:rPr sz="2800" spc="220" dirty="0">
                <a:latin typeface="Times New Roman"/>
                <a:cs typeface="Times New Roman"/>
              </a:rPr>
              <a:t>different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54" dirty="0">
                <a:latin typeface="Times New Roman"/>
                <a:cs typeface="Times New Roman"/>
              </a:rPr>
              <a:t>system.</a:t>
            </a:r>
            <a:endParaRPr sz="2800">
              <a:latin typeface="Times New Roman"/>
              <a:cs typeface="Times New Roman"/>
            </a:endParaRPr>
          </a:p>
          <a:p>
            <a:pPr marL="241300" marR="133350" indent="-228600">
              <a:lnSpc>
                <a:spcPct val="802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50" dirty="0">
                <a:latin typeface="Times New Roman"/>
                <a:cs typeface="Times New Roman"/>
              </a:rPr>
              <a:t>OLAP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combines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00" dirty="0">
                <a:latin typeface="Times New Roman"/>
                <a:cs typeface="Times New Roman"/>
              </a:rPr>
              <a:t>datasets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answer </a:t>
            </a:r>
            <a:r>
              <a:rPr sz="2800" spc="240" dirty="0">
                <a:latin typeface="Times New Roman"/>
                <a:cs typeface="Times New Roman"/>
              </a:rPr>
              <a:t>questions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such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as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which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80" dirty="0">
                <a:latin typeface="Times New Roman"/>
                <a:cs typeface="Times New Roman"/>
              </a:rPr>
              <a:t>color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products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are </a:t>
            </a:r>
            <a:r>
              <a:rPr sz="2800" spc="300" dirty="0">
                <a:latin typeface="Times New Roman"/>
                <a:cs typeface="Times New Roman"/>
              </a:rPr>
              <a:t>more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60" dirty="0">
                <a:latin typeface="Times New Roman"/>
                <a:cs typeface="Times New Roman"/>
              </a:rPr>
              <a:t>popular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how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product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60" dirty="0">
                <a:latin typeface="Times New Roman"/>
                <a:cs typeface="Times New Roman"/>
              </a:rPr>
              <a:t>placement impacts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95" dirty="0">
                <a:latin typeface="Times New Roman"/>
                <a:cs typeface="Times New Roman"/>
              </a:rPr>
              <a:t>sales.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F7247D-D952-C1B4-2486-4AC205EA2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3E1FA5A-3BBC-CC47-D5CC-B1A6DE35A4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390" y="309372"/>
            <a:ext cx="7729219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0" dirty="0"/>
              <a:t>OLTP vs OLAP</a:t>
            </a: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2A169D8-92E2-3B93-3D6C-435869F7CFED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DA8E716-229A-747A-8D84-7F8D1B6774D3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604E055-9395-EBC1-0ABC-3E46948B548E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8EBB4A-BA76-D864-E8A3-795F12A47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646791"/>
              </p:ext>
            </p:extLst>
          </p:nvPr>
        </p:nvGraphicFramePr>
        <p:xfrm>
          <a:off x="381000" y="1397000"/>
          <a:ext cx="8229600" cy="46990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414359353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577571597"/>
                    </a:ext>
                  </a:extLst>
                </a:gridCol>
              </a:tblGrid>
              <a:tr h="5244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OLTP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OLAP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709206"/>
                  </a:ext>
                </a:extLst>
              </a:tr>
              <a:tr h="81783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Current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Historical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264674"/>
                  </a:ext>
                </a:extLst>
              </a:tr>
              <a:tr h="944067">
                <a:tc>
                  <a:txBody>
                    <a:bodyPr/>
                    <a:lstStyle/>
                    <a:p>
                      <a:pPr marL="0" algn="ctr" fontAlgn="t">
                        <a:buNone/>
                      </a:pPr>
                      <a:r>
                        <a:rPr lang="en-US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 Day-to-day transactional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eaLnBrk="1" fontAlgn="auto" latinLnBrk="0" hangingPunct="1">
                        <a:buNone/>
                      </a:pPr>
                      <a:r>
                        <a:rPr lang="en-US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Data analysis &amp; decision-making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900713"/>
                  </a:ext>
                </a:extLst>
              </a:tr>
              <a:tr h="136365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Normalized data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 Star schema or snowflake schema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65876"/>
                  </a:ext>
                </a:extLst>
              </a:tr>
              <a:tr h="5244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Simple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Complex Queries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27757"/>
                  </a:ext>
                </a:extLst>
              </a:tr>
              <a:tr h="5244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Ex. 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Ex. </a:t>
                      </a:r>
                      <a:r>
                        <a:rPr lang="en-US" sz="2400" dirty="0" err="1"/>
                        <a:t>PowerBI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761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106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3587" y="2691385"/>
            <a:ext cx="5076190" cy="1080135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814705" marR="5080" indent="-802640">
              <a:lnSpc>
                <a:spcPct val="68800"/>
              </a:lnSpc>
              <a:spcBef>
                <a:spcPts val="1635"/>
              </a:spcBef>
            </a:pPr>
            <a:r>
              <a:rPr sz="4100" dirty="0"/>
              <a:t>Multidimensional</a:t>
            </a:r>
            <a:r>
              <a:rPr sz="4100" spc="-170" dirty="0"/>
              <a:t> </a:t>
            </a:r>
            <a:r>
              <a:rPr sz="4100" spc="-20" dirty="0"/>
              <a:t>Data </a:t>
            </a:r>
            <a:r>
              <a:rPr sz="4100" spc="-10" dirty="0"/>
              <a:t>Representation</a:t>
            </a:r>
            <a:endParaRPr sz="41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95" dirty="0"/>
              <a:t> </a:t>
            </a:r>
            <a:r>
              <a:rPr spc="-10" dirty="0"/>
              <a:t>Multidimensional</a:t>
            </a:r>
            <a:r>
              <a:rPr spc="-85" dirty="0"/>
              <a:t> </a:t>
            </a:r>
            <a:r>
              <a:rPr spc="-20" dirty="0"/>
              <a:t>Data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548245" cy="15951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5" dirty="0">
                <a:latin typeface="Times New Roman"/>
                <a:cs typeface="Times New Roman"/>
              </a:rPr>
              <a:t>The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multidimensional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data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model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85" dirty="0">
                <a:latin typeface="Times New Roman"/>
                <a:cs typeface="Times New Roman"/>
              </a:rPr>
              <a:t>supports </a:t>
            </a:r>
            <a:r>
              <a:rPr sz="2800" spc="320" dirty="0">
                <a:latin typeface="Times New Roman"/>
                <a:cs typeface="Times New Roman"/>
              </a:rPr>
              <a:t>data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representation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operations </a:t>
            </a:r>
            <a:r>
              <a:rPr sz="2800" spc="175" dirty="0">
                <a:latin typeface="Times New Roman"/>
                <a:cs typeface="Times New Roman"/>
              </a:rPr>
              <a:t>specifically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tailored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for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b="1" u="sng" spc="114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decision</a:t>
            </a:r>
            <a:r>
              <a:rPr sz="2800" b="1" u="sng" spc="2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2800" b="1" u="sng" spc="11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support</a:t>
            </a:r>
            <a:r>
              <a:rPr sz="2800" b="1" spc="110" dirty="0">
                <a:latin typeface="Book Antiqua"/>
                <a:cs typeface="Book Antiqua"/>
              </a:rPr>
              <a:t> </a:t>
            </a:r>
            <a:r>
              <a:rPr sz="2800" b="1" u="sng" spc="12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processing</a:t>
            </a:r>
            <a:r>
              <a:rPr sz="2800" b="1" spc="5" dirty="0">
                <a:latin typeface="Book Antiqua"/>
                <a:cs typeface="Book Antiqua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in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data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warehouses.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140" dirty="0"/>
              <a:t> </a:t>
            </a:r>
            <a:r>
              <a:rPr dirty="0"/>
              <a:t>Dimensional</a:t>
            </a:r>
            <a:r>
              <a:rPr spc="-140" dirty="0"/>
              <a:t> </a:t>
            </a:r>
            <a:r>
              <a:rPr spc="-10" dirty="0"/>
              <a:t>Modeling?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603752" y="6428920"/>
            <a:ext cx="193548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10" dirty="0">
                <a:solidFill>
                  <a:srgbClr val="898989"/>
                </a:solidFill>
                <a:latin typeface="Calibri"/>
                <a:cs typeface="Calibri"/>
              </a:rPr>
              <a:t>Introduction</a:t>
            </a:r>
            <a:r>
              <a:rPr sz="12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to</a:t>
            </a:r>
            <a:r>
              <a:rPr sz="1200" spc="-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DW/BI</a:t>
            </a:r>
            <a:r>
              <a:rPr sz="1200" spc="-10" dirty="0">
                <a:solidFill>
                  <a:srgbClr val="898989"/>
                </a:solidFill>
                <a:latin typeface="Calibri"/>
                <a:cs typeface="Calibri"/>
              </a:rPr>
              <a:t> Systems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310120" cy="3207288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2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15" dirty="0">
                <a:latin typeface="Times New Roman"/>
                <a:cs typeface="Times New Roman"/>
              </a:rPr>
              <a:t>Dimensional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95" dirty="0">
                <a:latin typeface="Times New Roman"/>
                <a:cs typeface="Times New Roman"/>
              </a:rPr>
              <a:t>modelling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80" dirty="0">
                <a:latin typeface="Times New Roman"/>
                <a:cs typeface="Times New Roman"/>
              </a:rPr>
              <a:t>is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80" dirty="0">
                <a:latin typeface="Times New Roman"/>
                <a:cs typeface="Times New Roman"/>
              </a:rPr>
              <a:t>widely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accepted </a:t>
            </a:r>
            <a:r>
              <a:rPr sz="2800" spc="305" dirty="0">
                <a:latin typeface="Times New Roman"/>
                <a:cs typeface="Times New Roman"/>
              </a:rPr>
              <a:t>as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preferred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technique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for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65" dirty="0">
                <a:latin typeface="Times New Roman"/>
                <a:cs typeface="Times New Roman"/>
              </a:rPr>
              <a:t>presenting </a:t>
            </a:r>
            <a:r>
              <a:rPr sz="2800" spc="240" dirty="0">
                <a:latin typeface="Times New Roman"/>
                <a:cs typeface="Times New Roman"/>
              </a:rPr>
              <a:t>analytic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data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because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it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85" dirty="0">
                <a:latin typeface="Times New Roman"/>
                <a:cs typeface="Times New Roman"/>
              </a:rPr>
              <a:t>addresses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195" dirty="0">
                <a:latin typeface="Times New Roman"/>
                <a:cs typeface="Times New Roman"/>
              </a:rPr>
              <a:t>two </a:t>
            </a:r>
            <a:r>
              <a:rPr sz="2800" spc="265" dirty="0">
                <a:latin typeface="Times New Roman"/>
                <a:cs typeface="Times New Roman"/>
              </a:rPr>
              <a:t>simultaneous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54" dirty="0">
                <a:latin typeface="Times New Roman"/>
                <a:cs typeface="Times New Roman"/>
              </a:rPr>
              <a:t>requirements:</a:t>
            </a:r>
            <a:endParaRPr lang="en-US" sz="2800" spc="254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902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endParaRPr sz="28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735"/>
              </a:lnSpc>
              <a:spcBef>
                <a:spcPts val="135"/>
              </a:spcBef>
              <a:buFont typeface="Arial"/>
              <a:buChar char="•"/>
              <a:tabLst>
                <a:tab pos="697230" algn="l"/>
              </a:tabLst>
            </a:pPr>
            <a:r>
              <a:rPr sz="2800" spc="160" dirty="0">
                <a:latin typeface="Times New Roman"/>
                <a:cs typeface="Times New Roman"/>
              </a:rPr>
              <a:t>Deliver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data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00" dirty="0">
                <a:latin typeface="Times New Roman"/>
                <a:cs typeface="Times New Roman"/>
              </a:rPr>
              <a:t>that’s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b="1" u="sng" spc="12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understandable</a:t>
            </a:r>
            <a:r>
              <a:rPr sz="2800" b="1" spc="20" dirty="0">
                <a:latin typeface="Book Antiqua"/>
                <a:cs typeface="Book Antiqua"/>
              </a:rPr>
              <a:t> </a:t>
            </a:r>
            <a:r>
              <a:rPr sz="2800" spc="195" dirty="0">
                <a:latin typeface="Times New Roman"/>
                <a:cs typeface="Times New Roman"/>
              </a:rPr>
              <a:t>to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the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b="1" u="sng" spc="10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business</a:t>
            </a:r>
            <a:r>
              <a:rPr sz="2800" b="1" u="sng" spc="1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2800" b="1" u="sng" spc="12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users</a:t>
            </a:r>
            <a:r>
              <a:rPr sz="2800" spc="125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230" algn="l"/>
              </a:tabLst>
            </a:pPr>
            <a:r>
              <a:rPr sz="2800" spc="160" dirty="0">
                <a:latin typeface="Times New Roman"/>
                <a:cs typeface="Times New Roman"/>
              </a:rPr>
              <a:t>Deliver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95" dirty="0">
                <a:latin typeface="Times New Roman"/>
                <a:cs typeface="Times New Roman"/>
              </a:rPr>
              <a:t>fast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b="1" u="sng" spc="11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query</a:t>
            </a:r>
            <a:r>
              <a:rPr sz="2800" b="1" u="sng" spc="1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2800" b="1" u="sng" spc="12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performance</a:t>
            </a:r>
            <a:r>
              <a:rPr sz="2800" spc="12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spc="-6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603752" y="6428920"/>
            <a:ext cx="193548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10" dirty="0">
                <a:solidFill>
                  <a:srgbClr val="898989"/>
                </a:solidFill>
                <a:latin typeface="Calibri"/>
                <a:cs typeface="Calibri"/>
              </a:rPr>
              <a:t>Introduction</a:t>
            </a:r>
            <a:r>
              <a:rPr sz="12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to</a:t>
            </a:r>
            <a:r>
              <a:rPr sz="1200" spc="-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DW/BI</a:t>
            </a:r>
            <a:r>
              <a:rPr sz="1200" spc="-10" dirty="0">
                <a:solidFill>
                  <a:srgbClr val="898989"/>
                </a:solidFill>
                <a:latin typeface="Calibri"/>
                <a:cs typeface="Calibri"/>
              </a:rPr>
              <a:t> Systems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689850" cy="37776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3721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40" dirty="0">
                <a:latin typeface="Times New Roman"/>
                <a:cs typeface="Times New Roman"/>
              </a:rPr>
              <a:t>Imagine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50" dirty="0">
                <a:latin typeface="Times New Roman"/>
                <a:cs typeface="Times New Roman"/>
              </a:rPr>
              <a:t>an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executive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who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describes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her </a:t>
            </a:r>
            <a:r>
              <a:rPr sz="2800" spc="250" dirty="0">
                <a:latin typeface="Times New Roman"/>
                <a:cs typeface="Times New Roman"/>
              </a:rPr>
              <a:t>business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as,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“We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65" dirty="0">
                <a:latin typeface="Times New Roman"/>
                <a:cs typeface="Times New Roman"/>
              </a:rPr>
              <a:t>sell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b="1" u="sng" spc="14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products</a:t>
            </a:r>
            <a:r>
              <a:rPr sz="2800" b="1" dirty="0">
                <a:latin typeface="Book Antiqua"/>
                <a:cs typeface="Book Antiqua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in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various </a:t>
            </a:r>
            <a:r>
              <a:rPr sz="2800" b="1" u="sng" spc="21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markets</a:t>
            </a:r>
            <a:r>
              <a:rPr sz="2800" b="1" spc="5" dirty="0">
                <a:latin typeface="Book Antiqua"/>
                <a:cs typeface="Book Antiqua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measure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our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65" dirty="0">
                <a:latin typeface="Times New Roman"/>
                <a:cs typeface="Times New Roman"/>
              </a:rPr>
              <a:t>performance </a:t>
            </a:r>
            <a:r>
              <a:rPr sz="2800" spc="254" dirty="0">
                <a:latin typeface="Times New Roman"/>
                <a:cs typeface="Times New Roman"/>
              </a:rPr>
              <a:t>over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b="1" u="sng" spc="10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time</a:t>
            </a:r>
            <a:r>
              <a:rPr sz="2800" spc="105" dirty="0">
                <a:latin typeface="Times New Roman"/>
                <a:cs typeface="Times New Roman"/>
              </a:rPr>
              <a:t>.”</a:t>
            </a:r>
            <a:endParaRPr sz="2800">
              <a:latin typeface="Times New Roman"/>
              <a:cs typeface="Times New Roman"/>
            </a:endParaRPr>
          </a:p>
          <a:p>
            <a:pPr marL="241300" marR="33655" indent="-228600">
              <a:lnSpc>
                <a:spcPts val="3000"/>
              </a:lnSpc>
              <a:spcBef>
                <a:spcPts val="11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15" dirty="0">
                <a:latin typeface="Times New Roman"/>
                <a:cs typeface="Times New Roman"/>
              </a:rPr>
              <a:t>Dimensional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54" dirty="0">
                <a:latin typeface="Times New Roman"/>
                <a:cs typeface="Times New Roman"/>
              </a:rPr>
              <a:t>designers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listen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carefully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to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emphasis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on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product,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market,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15" dirty="0">
                <a:latin typeface="Times New Roman"/>
                <a:cs typeface="Times New Roman"/>
              </a:rPr>
              <a:t>time.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90700"/>
              </a:lnSpc>
              <a:spcBef>
                <a:spcPts val="8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0" dirty="0">
                <a:latin typeface="Times New Roman"/>
                <a:cs typeface="Times New Roman"/>
              </a:rPr>
              <a:t>Most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00" dirty="0">
                <a:latin typeface="Times New Roman"/>
                <a:cs typeface="Times New Roman"/>
              </a:rPr>
              <a:t>people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find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it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intuitive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300" dirty="0">
                <a:latin typeface="Times New Roman"/>
                <a:cs typeface="Times New Roman"/>
              </a:rPr>
              <a:t>think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60" dirty="0">
                <a:latin typeface="Times New Roman"/>
                <a:cs typeface="Times New Roman"/>
              </a:rPr>
              <a:t>such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business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as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25" dirty="0">
                <a:latin typeface="Times New Roman"/>
                <a:cs typeface="Times New Roman"/>
              </a:rPr>
              <a:t>cube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65" dirty="0">
                <a:latin typeface="Times New Roman"/>
                <a:cs typeface="Times New Roman"/>
              </a:rPr>
              <a:t>data,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with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04" dirty="0">
                <a:latin typeface="Times New Roman"/>
                <a:cs typeface="Times New Roman"/>
              </a:rPr>
              <a:t>edges </a:t>
            </a:r>
            <a:r>
              <a:rPr sz="2800" spc="180" dirty="0">
                <a:latin typeface="Times New Roman"/>
                <a:cs typeface="Times New Roman"/>
              </a:rPr>
              <a:t>labelled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product,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market,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15" dirty="0">
                <a:latin typeface="Times New Roman"/>
                <a:cs typeface="Times New Roman"/>
              </a:rPr>
              <a:t>time.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spc="-6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475" y="1798024"/>
            <a:ext cx="5848685" cy="41696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03752" y="6428920"/>
            <a:ext cx="193548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10" dirty="0">
                <a:solidFill>
                  <a:srgbClr val="898989"/>
                </a:solidFill>
                <a:latin typeface="Calibri"/>
                <a:cs typeface="Calibri"/>
              </a:rPr>
              <a:t>Introduction</a:t>
            </a:r>
            <a:r>
              <a:rPr sz="12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to</a:t>
            </a:r>
            <a:r>
              <a:rPr sz="1200" spc="-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DW/BI</a:t>
            </a:r>
            <a:r>
              <a:rPr sz="1200" spc="-10" dirty="0">
                <a:solidFill>
                  <a:srgbClr val="898989"/>
                </a:solidFill>
                <a:latin typeface="Calibri"/>
                <a:cs typeface="Calibri"/>
              </a:rPr>
              <a:t> Systems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spc="-6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603752" y="6428920"/>
            <a:ext cx="193548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10" dirty="0">
                <a:solidFill>
                  <a:srgbClr val="898989"/>
                </a:solidFill>
                <a:latin typeface="Calibri"/>
                <a:cs typeface="Calibri"/>
              </a:rPr>
              <a:t>Introduction</a:t>
            </a:r>
            <a:r>
              <a:rPr sz="1200" spc="-2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to</a:t>
            </a:r>
            <a:r>
              <a:rPr sz="1200" spc="-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DW/BI</a:t>
            </a:r>
            <a:r>
              <a:rPr sz="1200" spc="-10" dirty="0">
                <a:solidFill>
                  <a:srgbClr val="898989"/>
                </a:solidFill>
                <a:latin typeface="Calibri"/>
                <a:cs typeface="Calibri"/>
              </a:rPr>
              <a:t> Systems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6981190" cy="249745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40" dirty="0">
                <a:latin typeface="Times New Roman"/>
                <a:cs typeface="Times New Roman"/>
              </a:rPr>
              <a:t>Imagine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slicing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85" dirty="0">
                <a:latin typeface="Times New Roman"/>
                <a:cs typeface="Times New Roman"/>
              </a:rPr>
              <a:t>dicing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04" dirty="0">
                <a:latin typeface="Times New Roman"/>
                <a:cs typeface="Times New Roman"/>
              </a:rPr>
              <a:t>along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each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45" dirty="0">
                <a:latin typeface="Times New Roman"/>
                <a:cs typeface="Times New Roman"/>
              </a:rPr>
              <a:t>of </a:t>
            </a:r>
            <a:r>
              <a:rPr sz="2800" spc="290" dirty="0">
                <a:latin typeface="Times New Roman"/>
                <a:cs typeface="Times New Roman"/>
              </a:rPr>
              <a:t>these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dimensions.</a:t>
            </a:r>
            <a:endParaRPr sz="2800">
              <a:latin typeface="Times New Roman"/>
              <a:cs typeface="Times New Roman"/>
            </a:endParaRPr>
          </a:p>
          <a:p>
            <a:pPr marL="241300" marR="13970" indent="-228600">
              <a:lnSpc>
                <a:spcPct val="90500"/>
              </a:lnSpc>
              <a:spcBef>
                <a:spcPts val="9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9" dirty="0">
                <a:latin typeface="Times New Roman"/>
                <a:cs typeface="Times New Roman"/>
              </a:rPr>
              <a:t>Points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inside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25" dirty="0">
                <a:latin typeface="Times New Roman"/>
                <a:cs typeface="Times New Roman"/>
              </a:rPr>
              <a:t>cube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are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where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the </a:t>
            </a:r>
            <a:r>
              <a:rPr sz="2800" spc="300" dirty="0">
                <a:latin typeface="Times New Roman"/>
                <a:cs typeface="Times New Roman"/>
              </a:rPr>
              <a:t>measurements,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such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as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sales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volume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or </a:t>
            </a:r>
            <a:r>
              <a:rPr sz="2800" spc="200" dirty="0">
                <a:latin typeface="Times New Roman"/>
                <a:cs typeface="Times New Roman"/>
              </a:rPr>
              <a:t>profit,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for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45" dirty="0">
                <a:latin typeface="Times New Roman"/>
                <a:cs typeface="Times New Roman"/>
              </a:rPr>
              <a:t>that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combination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product, </a:t>
            </a:r>
            <a:r>
              <a:rPr sz="2800" spc="295" dirty="0">
                <a:latin typeface="Times New Roman"/>
                <a:cs typeface="Times New Roman"/>
              </a:rPr>
              <a:t>market,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65" dirty="0">
                <a:latin typeface="Times New Roman"/>
                <a:cs typeface="Times New Roman"/>
              </a:rPr>
              <a:t>time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are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stored.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Another</a:t>
            </a:r>
            <a:r>
              <a:rPr spc="-16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32788"/>
            <a:ext cx="7701915" cy="166560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195" dirty="0">
                <a:latin typeface="Times New Roman"/>
                <a:cs typeface="Times New Roman"/>
              </a:rPr>
              <a:t>Consider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3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45" dirty="0">
                <a:latin typeface="Times New Roman"/>
                <a:cs typeface="Times New Roman"/>
              </a:rPr>
              <a:t>company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315" dirty="0">
                <a:latin typeface="Times New Roman"/>
                <a:cs typeface="Times New Roman"/>
              </a:rPr>
              <a:t>that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75" dirty="0">
                <a:latin typeface="Times New Roman"/>
                <a:cs typeface="Times New Roman"/>
              </a:rPr>
              <a:t>sells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95" dirty="0">
                <a:latin typeface="Times New Roman"/>
                <a:cs typeface="Times New Roman"/>
              </a:rPr>
              <a:t>electronic </a:t>
            </a:r>
            <a:r>
              <a:rPr sz="2600" spc="260" dirty="0">
                <a:latin typeface="Times New Roman"/>
                <a:cs typeface="Times New Roman"/>
              </a:rPr>
              <a:t>products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10" dirty="0">
                <a:latin typeface="Times New Roman"/>
                <a:cs typeface="Times New Roman"/>
              </a:rPr>
              <a:t>in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4" dirty="0">
                <a:latin typeface="Times New Roman"/>
                <a:cs typeface="Times New Roman"/>
              </a:rPr>
              <a:t>different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315" dirty="0">
                <a:latin typeface="Times New Roman"/>
                <a:cs typeface="Times New Roman"/>
              </a:rPr>
              <a:t>parts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75" dirty="0">
                <a:latin typeface="Times New Roman"/>
                <a:cs typeface="Times New Roman"/>
              </a:rPr>
              <a:t>of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85" dirty="0">
                <a:latin typeface="Times New Roman"/>
                <a:cs typeface="Times New Roman"/>
              </a:rPr>
              <a:t>the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80" dirty="0">
                <a:latin typeface="Times New Roman"/>
                <a:cs typeface="Times New Roman"/>
              </a:rPr>
              <a:t>United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10" dirty="0">
                <a:latin typeface="Times New Roman"/>
                <a:cs typeface="Times New Roman"/>
              </a:rPr>
              <a:t>States.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265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235" dirty="0">
                <a:latin typeface="Times New Roman"/>
                <a:cs typeface="Times New Roman"/>
              </a:rPr>
              <a:t>In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225" dirty="0">
                <a:latin typeface="Times New Roman"/>
                <a:cs typeface="Times New Roman"/>
              </a:rPr>
              <a:t>particular,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85" dirty="0">
                <a:latin typeface="Times New Roman"/>
                <a:cs typeface="Times New Roman"/>
              </a:rPr>
              <a:t>the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45" dirty="0">
                <a:latin typeface="Times New Roman"/>
                <a:cs typeface="Times New Roman"/>
              </a:rPr>
              <a:t>company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305" dirty="0">
                <a:latin typeface="Times New Roman"/>
                <a:cs typeface="Times New Roman"/>
              </a:rPr>
              <a:t>markets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80" dirty="0">
                <a:latin typeface="Times New Roman"/>
                <a:cs typeface="Times New Roman"/>
              </a:rPr>
              <a:t>four</a:t>
            </a:r>
            <a:endParaRPr sz="2600">
              <a:latin typeface="Times New Roman"/>
              <a:cs typeface="Times New Roman"/>
            </a:endParaRPr>
          </a:p>
          <a:p>
            <a:pPr marL="241300" marR="147955">
              <a:lnSpc>
                <a:spcPct val="70800"/>
              </a:lnSpc>
              <a:spcBef>
                <a:spcPts val="445"/>
              </a:spcBef>
            </a:pPr>
            <a:r>
              <a:rPr sz="2600" spc="204" dirty="0">
                <a:latin typeface="Times New Roman"/>
                <a:cs typeface="Times New Roman"/>
              </a:rPr>
              <a:t>different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85" dirty="0">
                <a:latin typeface="Times New Roman"/>
                <a:cs typeface="Times New Roman"/>
              </a:rPr>
              <a:t>printer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60" dirty="0">
                <a:latin typeface="Times New Roman"/>
                <a:cs typeface="Times New Roman"/>
              </a:rPr>
              <a:t>products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54" dirty="0">
                <a:latin typeface="Times New Roman"/>
                <a:cs typeface="Times New Roman"/>
              </a:rPr>
              <a:t>(mono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80" dirty="0">
                <a:latin typeface="Times New Roman"/>
                <a:cs typeface="Times New Roman"/>
              </a:rPr>
              <a:t>laser,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35" dirty="0">
                <a:latin typeface="Times New Roman"/>
                <a:cs typeface="Times New Roman"/>
              </a:rPr>
              <a:t>ink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30" dirty="0">
                <a:latin typeface="Times New Roman"/>
                <a:cs typeface="Times New Roman"/>
              </a:rPr>
              <a:t>jet, </a:t>
            </a:r>
            <a:r>
              <a:rPr sz="2600" spc="200" dirty="0">
                <a:latin typeface="Times New Roman"/>
                <a:cs typeface="Times New Roman"/>
              </a:rPr>
              <a:t>photo,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300" dirty="0">
                <a:latin typeface="Times New Roman"/>
                <a:cs typeface="Times New Roman"/>
              </a:rPr>
              <a:t>and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45" dirty="0">
                <a:latin typeface="Times New Roman"/>
                <a:cs typeface="Times New Roman"/>
              </a:rPr>
              <a:t>portable)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10" dirty="0">
                <a:latin typeface="Times New Roman"/>
                <a:cs typeface="Times New Roman"/>
              </a:rPr>
              <a:t>in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0" dirty="0">
                <a:latin typeface="Times New Roman"/>
                <a:cs typeface="Times New Roman"/>
              </a:rPr>
              <a:t>five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04" dirty="0">
                <a:latin typeface="Times New Roman"/>
                <a:cs typeface="Times New Roman"/>
              </a:rPr>
              <a:t>different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65" dirty="0">
                <a:latin typeface="Times New Roman"/>
                <a:cs typeface="Times New Roman"/>
              </a:rPr>
              <a:t>states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5989" y="3256789"/>
            <a:ext cx="703199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165" dirty="0">
                <a:latin typeface="Times New Roman"/>
                <a:cs typeface="Times New Roman"/>
              </a:rPr>
              <a:t>(California,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85" dirty="0">
                <a:latin typeface="Times New Roman"/>
                <a:cs typeface="Times New Roman"/>
              </a:rPr>
              <a:t>Washington,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50" dirty="0">
                <a:latin typeface="Times New Roman"/>
                <a:cs typeface="Times New Roman"/>
              </a:rPr>
              <a:t>Colorado,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90" dirty="0">
                <a:latin typeface="Times New Roman"/>
                <a:cs typeface="Times New Roman"/>
              </a:rPr>
              <a:t>Utah,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275" dirty="0">
                <a:latin typeface="Times New Roman"/>
                <a:cs typeface="Times New Roman"/>
              </a:rPr>
              <a:t>and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3521965"/>
            <a:ext cx="7381240" cy="2214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600" spc="200" dirty="0">
                <a:latin typeface="Times New Roman"/>
                <a:cs typeface="Times New Roman"/>
              </a:rPr>
              <a:t>Arizona).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2665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235" dirty="0">
                <a:latin typeface="Times New Roman"/>
                <a:cs typeface="Times New Roman"/>
              </a:rPr>
              <a:t>In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280" dirty="0">
                <a:latin typeface="Times New Roman"/>
                <a:cs typeface="Times New Roman"/>
              </a:rPr>
              <a:t>order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10" dirty="0">
                <a:latin typeface="Times New Roman"/>
                <a:cs typeface="Times New Roman"/>
              </a:rPr>
              <a:t>to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60" dirty="0">
                <a:latin typeface="Times New Roman"/>
                <a:cs typeface="Times New Roman"/>
              </a:rPr>
              <a:t>store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80" dirty="0">
                <a:latin typeface="Times New Roman"/>
                <a:cs typeface="Times New Roman"/>
              </a:rPr>
              <a:t>daily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20" dirty="0">
                <a:latin typeface="Times New Roman"/>
                <a:cs typeface="Times New Roman"/>
              </a:rPr>
              <a:t>sales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95" dirty="0">
                <a:latin typeface="Times New Roman"/>
                <a:cs typeface="Times New Roman"/>
              </a:rPr>
              <a:t>data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70" dirty="0">
                <a:latin typeface="Times New Roman"/>
                <a:cs typeface="Times New Roman"/>
              </a:rPr>
              <a:t>for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29" dirty="0">
                <a:latin typeface="Times New Roman"/>
                <a:cs typeface="Times New Roman"/>
              </a:rPr>
              <a:t>each</a:t>
            </a:r>
            <a:endParaRPr sz="2600">
              <a:latin typeface="Times New Roman"/>
              <a:cs typeface="Times New Roman"/>
            </a:endParaRPr>
          </a:p>
          <a:p>
            <a:pPr marL="241300">
              <a:lnSpc>
                <a:spcPts val="2210"/>
              </a:lnSpc>
            </a:pPr>
            <a:r>
              <a:rPr sz="2600" spc="260" dirty="0">
                <a:latin typeface="Times New Roman"/>
                <a:cs typeface="Times New Roman"/>
              </a:rPr>
              <a:t>product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300" dirty="0">
                <a:latin typeface="Times New Roman"/>
                <a:cs typeface="Times New Roman"/>
              </a:rPr>
              <a:t>and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Times New Roman"/>
                <a:cs typeface="Times New Roman"/>
              </a:rPr>
              <a:t>each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85" dirty="0">
                <a:latin typeface="Times New Roman"/>
                <a:cs typeface="Times New Roman"/>
              </a:rPr>
              <a:t>location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10" dirty="0">
                <a:latin typeface="Times New Roman"/>
                <a:cs typeface="Times New Roman"/>
              </a:rPr>
              <a:t>in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310" dirty="0">
                <a:latin typeface="Times New Roman"/>
                <a:cs typeface="Times New Roman"/>
              </a:rPr>
              <a:t>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10" dirty="0">
                <a:latin typeface="Times New Roman"/>
                <a:cs typeface="Times New Roman"/>
              </a:rPr>
              <a:t>relational</a:t>
            </a:r>
            <a:endParaRPr sz="2600">
              <a:latin typeface="Times New Roman"/>
              <a:cs typeface="Times New Roman"/>
            </a:endParaRPr>
          </a:p>
          <a:p>
            <a:pPr marL="241300">
              <a:lnSpc>
                <a:spcPts val="2195"/>
              </a:lnSpc>
            </a:pPr>
            <a:r>
              <a:rPr sz="2600" spc="240" dirty="0">
                <a:latin typeface="Times New Roman"/>
                <a:cs typeface="Times New Roman"/>
              </a:rPr>
              <a:t>database,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20" dirty="0">
                <a:latin typeface="Times New Roman"/>
                <a:cs typeface="Times New Roman"/>
              </a:rPr>
              <a:t>you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54" dirty="0">
                <a:latin typeface="Times New Roman"/>
                <a:cs typeface="Times New Roman"/>
              </a:rPr>
              <a:t>need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35" dirty="0">
                <a:latin typeface="Times New Roman"/>
                <a:cs typeface="Times New Roman"/>
              </a:rPr>
              <a:t>Table,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20" dirty="0">
                <a:latin typeface="Times New Roman"/>
                <a:cs typeface="Times New Roman"/>
              </a:rPr>
              <a:t>which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20" dirty="0">
                <a:latin typeface="Times New Roman"/>
                <a:cs typeface="Times New Roman"/>
              </a:rPr>
              <a:t>consists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40" dirty="0">
                <a:latin typeface="Times New Roman"/>
                <a:cs typeface="Times New Roman"/>
              </a:rPr>
              <a:t>of</a:t>
            </a:r>
            <a:endParaRPr sz="2600">
              <a:latin typeface="Times New Roman"/>
              <a:cs typeface="Times New Roman"/>
            </a:endParaRPr>
          </a:p>
          <a:p>
            <a:pPr marL="241300">
              <a:lnSpc>
                <a:spcPts val="2195"/>
              </a:lnSpc>
            </a:pPr>
            <a:r>
              <a:rPr sz="2600" spc="295" dirty="0">
                <a:latin typeface="Times New Roman"/>
                <a:cs typeface="Times New Roman"/>
              </a:rPr>
              <a:t>three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29" dirty="0">
                <a:latin typeface="Times New Roman"/>
                <a:cs typeface="Times New Roman"/>
              </a:rPr>
              <a:t>columns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35" dirty="0">
                <a:latin typeface="Times New Roman"/>
                <a:cs typeface="Times New Roman"/>
              </a:rPr>
              <a:t>(Product,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70" dirty="0">
                <a:latin typeface="Times New Roman"/>
                <a:cs typeface="Times New Roman"/>
              </a:rPr>
              <a:t>Location,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300" dirty="0">
                <a:latin typeface="Times New Roman"/>
                <a:cs typeface="Times New Roman"/>
              </a:rPr>
              <a:t>and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204" dirty="0">
                <a:latin typeface="Times New Roman"/>
                <a:cs typeface="Times New Roman"/>
              </a:rPr>
              <a:t>Sales)</a:t>
            </a:r>
            <a:endParaRPr sz="2600">
              <a:latin typeface="Times New Roman"/>
              <a:cs typeface="Times New Roman"/>
            </a:endParaRPr>
          </a:p>
          <a:p>
            <a:pPr marL="241300" marR="36830">
              <a:lnSpc>
                <a:spcPct val="67700"/>
              </a:lnSpc>
              <a:spcBef>
                <a:spcPts val="550"/>
              </a:spcBef>
            </a:pPr>
            <a:r>
              <a:rPr sz="2600" spc="300" dirty="0">
                <a:latin typeface="Times New Roman"/>
                <a:cs typeface="Times New Roman"/>
              </a:rPr>
              <a:t>and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345" dirty="0">
                <a:latin typeface="Times New Roman"/>
                <a:cs typeface="Times New Roman"/>
              </a:rPr>
              <a:t>20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40" dirty="0">
                <a:latin typeface="Times New Roman"/>
                <a:cs typeface="Times New Roman"/>
              </a:rPr>
              <a:t>rows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25" dirty="0">
                <a:latin typeface="Times New Roman"/>
                <a:cs typeface="Times New Roman"/>
              </a:rPr>
              <a:t>(four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Times New Roman"/>
                <a:cs typeface="Times New Roman"/>
              </a:rPr>
              <a:t>instances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75" dirty="0">
                <a:latin typeface="Times New Roman"/>
                <a:cs typeface="Times New Roman"/>
              </a:rPr>
              <a:t>of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Times New Roman"/>
                <a:cs typeface="Times New Roman"/>
              </a:rPr>
              <a:t>Product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35" dirty="0">
                <a:latin typeface="Times New Roman"/>
                <a:cs typeface="Times New Roman"/>
              </a:rPr>
              <a:t>times </a:t>
            </a:r>
            <a:r>
              <a:rPr sz="2600" spc="150" dirty="0">
                <a:latin typeface="Times New Roman"/>
                <a:cs typeface="Times New Roman"/>
              </a:rPr>
              <a:t>five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Times New Roman"/>
                <a:cs typeface="Times New Roman"/>
              </a:rPr>
              <a:t>instances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75" dirty="0">
                <a:latin typeface="Times New Roman"/>
                <a:cs typeface="Times New Roman"/>
              </a:rPr>
              <a:t>of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75" dirty="0">
                <a:latin typeface="Times New Roman"/>
                <a:cs typeface="Times New Roman"/>
              </a:rPr>
              <a:t>Location).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Relational</a:t>
            </a:r>
            <a:r>
              <a:rPr spc="-200" dirty="0"/>
              <a:t> </a:t>
            </a:r>
            <a:r>
              <a:rPr spc="-20" dirty="0"/>
              <a:t>Data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2640" y="1728016"/>
            <a:ext cx="4356664" cy="428201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  <a:r>
              <a:rPr spc="-120" dirty="0"/>
              <a:t> </a:t>
            </a:r>
            <a:r>
              <a:rPr dirty="0"/>
              <a:t>with</a:t>
            </a:r>
            <a:r>
              <a:rPr spc="-120" dirty="0"/>
              <a:t> </a:t>
            </a:r>
            <a:r>
              <a:rPr dirty="0"/>
              <a:t>Relational</a:t>
            </a:r>
            <a:r>
              <a:rPr spc="-114" dirty="0"/>
              <a:t> </a:t>
            </a:r>
            <a:r>
              <a:rPr spc="-20" dirty="0"/>
              <a:t>Data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672705" cy="428688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431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representation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65" dirty="0">
                <a:latin typeface="Times New Roman"/>
                <a:cs typeface="Times New Roman"/>
              </a:rPr>
              <a:t>Table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can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95" dirty="0">
                <a:latin typeface="Times New Roman"/>
                <a:cs typeface="Times New Roman"/>
              </a:rPr>
              <a:t>be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15" dirty="0">
                <a:latin typeface="Times New Roman"/>
                <a:cs typeface="Times New Roman"/>
              </a:rPr>
              <a:t>complex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75" dirty="0">
                <a:latin typeface="Times New Roman"/>
                <a:cs typeface="Times New Roman"/>
              </a:rPr>
              <a:t>unwieldy.</a:t>
            </a:r>
            <a:endParaRPr sz="2800">
              <a:latin typeface="Times New Roman"/>
              <a:cs typeface="Times New Roman"/>
            </a:endParaRPr>
          </a:p>
          <a:p>
            <a:pPr marL="241300" marR="302260" indent="-228600">
              <a:lnSpc>
                <a:spcPts val="3120"/>
              </a:lnSpc>
              <a:spcBef>
                <a:spcPts val="8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9" dirty="0">
                <a:latin typeface="Times New Roman"/>
                <a:cs typeface="Times New Roman"/>
              </a:rPr>
              <a:t>First,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imagine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45" dirty="0">
                <a:latin typeface="Times New Roman"/>
                <a:cs typeface="Times New Roman"/>
              </a:rPr>
              <a:t>that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60" dirty="0">
                <a:latin typeface="Times New Roman"/>
                <a:cs typeface="Times New Roman"/>
              </a:rPr>
              <a:t>company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wishes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to </a:t>
            </a:r>
            <a:r>
              <a:rPr sz="2800" spc="290" dirty="0">
                <a:latin typeface="Times New Roman"/>
                <a:cs typeface="Times New Roman"/>
              </a:rPr>
              <a:t>add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00" dirty="0">
                <a:latin typeface="Times New Roman"/>
                <a:cs typeface="Times New Roman"/>
              </a:rPr>
              <a:t>fifth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product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00" dirty="0">
                <a:latin typeface="Times New Roman"/>
                <a:cs typeface="Times New Roman"/>
              </a:rPr>
              <a:t>(say,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80" dirty="0">
                <a:latin typeface="Times New Roman"/>
                <a:cs typeface="Times New Roman"/>
              </a:rPr>
              <a:t>color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laser).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54" dirty="0">
                <a:latin typeface="Times New Roman"/>
                <a:cs typeface="Times New Roman"/>
              </a:rPr>
              <a:t>In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order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10" dirty="0">
                <a:latin typeface="Times New Roman"/>
                <a:cs typeface="Times New Roman"/>
              </a:rPr>
              <a:t>track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sales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by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00" dirty="0">
                <a:latin typeface="Times New Roman"/>
                <a:cs typeface="Times New Roman"/>
              </a:rPr>
              <a:t>states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for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this </a:t>
            </a:r>
            <a:r>
              <a:rPr sz="2800" spc="270" dirty="0">
                <a:latin typeface="Times New Roman"/>
                <a:cs typeface="Times New Roman"/>
              </a:rPr>
              <a:t>new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product,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you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need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add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65" dirty="0">
                <a:latin typeface="Times New Roman"/>
                <a:cs typeface="Times New Roman"/>
              </a:rPr>
              <a:t>five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rows,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15" dirty="0">
                <a:latin typeface="Times New Roman"/>
                <a:cs typeface="Times New Roman"/>
              </a:rPr>
              <a:t>one </a:t>
            </a:r>
            <a:r>
              <a:rPr sz="2800" spc="270" dirty="0">
                <a:latin typeface="Times New Roman"/>
                <a:cs typeface="Times New Roman"/>
              </a:rPr>
              <a:t>each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for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each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54" dirty="0">
                <a:latin typeface="Times New Roman"/>
                <a:cs typeface="Times New Roman"/>
              </a:rPr>
              <a:t>state.</a:t>
            </a:r>
            <a:endParaRPr sz="2800">
              <a:latin typeface="Times New Roman"/>
              <a:cs typeface="Times New Roman"/>
            </a:endParaRPr>
          </a:p>
          <a:p>
            <a:pPr marL="241300" marR="409575" indent="-228600">
              <a:lnSpc>
                <a:spcPts val="3000"/>
              </a:lnSpc>
              <a:spcBef>
                <a:spcPts val="11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00" dirty="0">
                <a:latin typeface="Times New Roman"/>
                <a:cs typeface="Times New Roman"/>
              </a:rPr>
              <a:t>Second,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note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345" dirty="0">
                <a:latin typeface="Times New Roman"/>
                <a:cs typeface="Times New Roman"/>
              </a:rPr>
              <a:t>that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data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in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45" dirty="0">
                <a:latin typeface="Times New Roman"/>
                <a:cs typeface="Times New Roman"/>
              </a:rPr>
              <a:t>Table </a:t>
            </a:r>
            <a:r>
              <a:rPr sz="2800" spc="310" dirty="0">
                <a:latin typeface="Times New Roman"/>
                <a:cs typeface="Times New Roman"/>
              </a:rPr>
              <a:t>represents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sales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data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for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85" dirty="0">
                <a:latin typeface="Times New Roman"/>
                <a:cs typeface="Times New Roman"/>
              </a:rPr>
              <a:t>particular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day </a:t>
            </a:r>
            <a:r>
              <a:rPr sz="2800" spc="210" dirty="0">
                <a:latin typeface="Times New Roman"/>
                <a:cs typeface="Times New Roman"/>
              </a:rPr>
              <a:t>(for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example,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25" dirty="0">
                <a:latin typeface="Times New Roman"/>
                <a:cs typeface="Times New Roman"/>
              </a:rPr>
              <a:t>August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95" dirty="0">
                <a:latin typeface="Times New Roman"/>
                <a:cs typeface="Times New Roman"/>
              </a:rPr>
              <a:t>10,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2006).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  <a:r>
              <a:rPr spc="-120" dirty="0"/>
              <a:t> </a:t>
            </a:r>
            <a:r>
              <a:rPr dirty="0"/>
              <a:t>with</a:t>
            </a:r>
            <a:r>
              <a:rPr spc="-120" dirty="0"/>
              <a:t> </a:t>
            </a:r>
            <a:r>
              <a:rPr dirty="0"/>
              <a:t>Relational</a:t>
            </a:r>
            <a:r>
              <a:rPr spc="-114" dirty="0"/>
              <a:t> </a:t>
            </a:r>
            <a:r>
              <a:rPr spc="-20" dirty="0"/>
              <a:t>Data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359015" cy="415861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54" dirty="0">
                <a:latin typeface="Times New Roman"/>
                <a:cs typeface="Times New Roman"/>
              </a:rPr>
              <a:t>In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order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store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10" dirty="0">
                <a:latin typeface="Times New Roman"/>
                <a:cs typeface="Times New Roman"/>
              </a:rPr>
              <a:t>same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data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for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60" dirty="0">
                <a:latin typeface="Times New Roman"/>
                <a:cs typeface="Times New Roman"/>
              </a:rPr>
              <a:t>all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50" dirty="0">
                <a:latin typeface="Times New Roman"/>
                <a:cs typeface="Times New Roman"/>
              </a:rPr>
              <a:t>365 </a:t>
            </a:r>
            <a:r>
              <a:rPr sz="2800" spc="275" dirty="0">
                <a:latin typeface="Times New Roman"/>
                <a:cs typeface="Times New Roman"/>
              </a:rPr>
              <a:t>days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2006,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you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need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add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54" dirty="0">
                <a:latin typeface="Times New Roman"/>
                <a:cs typeface="Times New Roman"/>
              </a:rPr>
              <a:t>fourth </a:t>
            </a:r>
            <a:r>
              <a:rPr sz="2800" spc="245" dirty="0">
                <a:latin typeface="Times New Roman"/>
                <a:cs typeface="Times New Roman"/>
              </a:rPr>
              <a:t>column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store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sales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date,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00" dirty="0">
                <a:latin typeface="Times New Roman"/>
                <a:cs typeface="Times New Roman"/>
              </a:rPr>
              <a:t>and </a:t>
            </a:r>
            <a:r>
              <a:rPr sz="2800" spc="235" dirty="0">
                <a:latin typeface="Times New Roman"/>
                <a:cs typeface="Times New Roman"/>
              </a:rPr>
              <a:t>duplicate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75" dirty="0">
                <a:latin typeface="Times New Roman"/>
                <a:cs typeface="Times New Roman"/>
              </a:rPr>
              <a:t>20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rows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for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each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date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50" dirty="0">
                <a:latin typeface="Times New Roman"/>
                <a:cs typeface="Times New Roman"/>
              </a:rPr>
              <a:t>365 </a:t>
            </a:r>
            <a:r>
              <a:rPr sz="2800" spc="270" dirty="0">
                <a:latin typeface="Times New Roman"/>
                <a:cs typeface="Times New Roman"/>
              </a:rPr>
              <a:t>times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190" dirty="0">
                <a:latin typeface="Times New Roman"/>
                <a:cs typeface="Times New Roman"/>
              </a:rPr>
              <a:t>yield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total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7,300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00" dirty="0">
                <a:latin typeface="Times New Roman"/>
                <a:cs typeface="Times New Roman"/>
              </a:rPr>
              <a:t>rows.</a:t>
            </a:r>
            <a:endParaRPr sz="2800">
              <a:latin typeface="Times New Roman"/>
              <a:cs typeface="Times New Roman"/>
            </a:endParaRPr>
          </a:p>
          <a:p>
            <a:pPr marL="241300" marR="141605" indent="-228600">
              <a:lnSpc>
                <a:spcPct val="907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160" dirty="0">
                <a:latin typeface="Times New Roman"/>
                <a:cs typeface="Times New Roman"/>
              </a:rPr>
              <a:t>By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310" dirty="0">
                <a:latin typeface="Times New Roman"/>
                <a:cs typeface="Times New Roman"/>
              </a:rPr>
              <a:t>same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token,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55" dirty="0">
                <a:latin typeface="Times New Roman"/>
                <a:cs typeface="Times New Roman"/>
              </a:rPr>
              <a:t>if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you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wish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store </a:t>
            </a:r>
            <a:r>
              <a:rPr sz="2800" spc="235" dirty="0">
                <a:latin typeface="Times New Roman"/>
                <a:cs typeface="Times New Roman"/>
              </a:rPr>
              <a:t>historic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data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for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period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60" dirty="0">
                <a:latin typeface="Times New Roman"/>
                <a:cs typeface="Times New Roman"/>
              </a:rPr>
              <a:t>10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60" dirty="0">
                <a:latin typeface="Times New Roman"/>
                <a:cs typeface="Times New Roman"/>
              </a:rPr>
              <a:t>years,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15" dirty="0">
                <a:latin typeface="Times New Roman"/>
                <a:cs typeface="Times New Roman"/>
              </a:rPr>
              <a:t>you </a:t>
            </a:r>
            <a:r>
              <a:rPr sz="2800" spc="275" dirty="0">
                <a:latin typeface="Times New Roman"/>
                <a:cs typeface="Times New Roman"/>
              </a:rPr>
              <a:t>need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73,000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190" dirty="0">
                <a:latin typeface="Times New Roman"/>
                <a:cs typeface="Times New Roman"/>
              </a:rPr>
              <a:t>rows.</a:t>
            </a:r>
            <a:endParaRPr sz="2800">
              <a:latin typeface="Times New Roman"/>
              <a:cs typeface="Times New Roman"/>
            </a:endParaRPr>
          </a:p>
          <a:p>
            <a:pPr marL="241300" marR="24511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54" dirty="0">
                <a:latin typeface="Times New Roman"/>
                <a:cs typeface="Times New Roman"/>
              </a:rPr>
              <a:t>Each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new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row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335" dirty="0">
                <a:latin typeface="Times New Roman"/>
                <a:cs typeface="Times New Roman"/>
              </a:rPr>
              <a:t>must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54" dirty="0">
                <a:latin typeface="Times New Roman"/>
                <a:cs typeface="Times New Roman"/>
              </a:rPr>
              <a:t>contain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product, </a:t>
            </a:r>
            <a:r>
              <a:rPr sz="2800" spc="265" dirty="0">
                <a:latin typeface="Times New Roman"/>
                <a:cs typeface="Times New Roman"/>
              </a:rPr>
              <a:t>state,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date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15" dirty="0">
                <a:latin typeface="Times New Roman"/>
                <a:cs typeface="Times New Roman"/>
              </a:rPr>
              <a:t>values.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Solution:</a:t>
            </a:r>
            <a:r>
              <a:rPr spc="-140" dirty="0"/>
              <a:t> </a:t>
            </a:r>
            <a:r>
              <a:rPr spc="-10" dirty="0"/>
              <a:t>Multidimensional</a:t>
            </a:r>
            <a:r>
              <a:rPr spc="-135" dirty="0"/>
              <a:t> </a:t>
            </a:r>
            <a:r>
              <a:rPr spc="-20" dirty="0"/>
              <a:t>Data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496" y="1725559"/>
            <a:ext cx="4977200" cy="13169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2352" y="3103597"/>
            <a:ext cx="4216950" cy="301534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Multidimensional</a:t>
            </a:r>
            <a:r>
              <a:rPr spc="-105" dirty="0"/>
              <a:t> </a:t>
            </a:r>
            <a:r>
              <a:rPr spc="-20" dirty="0"/>
              <a:t>Data </a:t>
            </a:r>
            <a:r>
              <a:rPr spc="-10" dirty="0"/>
              <a:t>Advantages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363459" cy="33966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386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5" dirty="0">
                <a:latin typeface="Times New Roman"/>
                <a:cs typeface="Times New Roman"/>
              </a:rPr>
              <a:t>The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multidimensional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representation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155" dirty="0">
                <a:latin typeface="Times New Roman"/>
                <a:cs typeface="Times New Roman"/>
              </a:rPr>
              <a:t>is </a:t>
            </a:r>
            <a:r>
              <a:rPr sz="2800" spc="210" dirty="0">
                <a:latin typeface="Times New Roman"/>
                <a:cs typeface="Times New Roman"/>
              </a:rPr>
              <a:t>simple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understand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60" dirty="0">
                <a:latin typeface="Times New Roman"/>
                <a:cs typeface="Times New Roman"/>
              </a:rPr>
              <a:t>extend.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91100"/>
              </a:lnSpc>
              <a:spcBef>
                <a:spcPts val="8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0" dirty="0">
                <a:latin typeface="Times New Roman"/>
                <a:cs typeface="Times New Roman"/>
              </a:rPr>
              <a:t>For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example,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adding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00" dirty="0">
                <a:latin typeface="Times New Roman"/>
                <a:cs typeface="Times New Roman"/>
              </a:rPr>
              <a:t>fifth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65" dirty="0">
                <a:latin typeface="Times New Roman"/>
                <a:cs typeface="Times New Roman"/>
              </a:rPr>
              <a:t>product </a:t>
            </a:r>
            <a:r>
              <a:rPr sz="2800" spc="260" dirty="0">
                <a:latin typeface="Times New Roman"/>
                <a:cs typeface="Times New Roman"/>
              </a:rPr>
              <a:t>category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65" dirty="0">
                <a:latin typeface="Times New Roman"/>
                <a:cs typeface="Times New Roman"/>
              </a:rPr>
              <a:t>requires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50" dirty="0">
                <a:latin typeface="Times New Roman"/>
                <a:cs typeface="Times New Roman"/>
              </a:rPr>
              <a:t>an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additional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column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to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right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35" dirty="0">
                <a:latin typeface="Times New Roman"/>
                <a:cs typeface="Times New Roman"/>
              </a:rPr>
              <a:t>Table.</a:t>
            </a:r>
            <a:endParaRPr sz="2800">
              <a:latin typeface="Times New Roman"/>
              <a:cs typeface="Times New Roman"/>
            </a:endParaRPr>
          </a:p>
          <a:p>
            <a:pPr marL="241300" marR="274320" indent="-228600">
              <a:lnSpc>
                <a:spcPct val="90700"/>
              </a:lnSpc>
              <a:spcBef>
                <a:spcPts val="9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190" dirty="0">
                <a:latin typeface="Times New Roman"/>
                <a:cs typeface="Times New Roman"/>
              </a:rPr>
              <a:t>Adding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dates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65" dirty="0">
                <a:latin typeface="Times New Roman"/>
                <a:cs typeface="Times New Roman"/>
              </a:rPr>
              <a:t>requires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00" dirty="0">
                <a:latin typeface="Times New Roman"/>
                <a:cs typeface="Times New Roman"/>
              </a:rPr>
              <a:t>third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dimension </a:t>
            </a:r>
            <a:r>
              <a:rPr sz="2800" spc="195" dirty="0">
                <a:latin typeface="Times New Roman"/>
                <a:cs typeface="Times New Roman"/>
              </a:rPr>
              <a:t>called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75" dirty="0">
                <a:latin typeface="Times New Roman"/>
                <a:cs typeface="Times New Roman"/>
              </a:rPr>
              <a:t>Time,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resulting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in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three- </a:t>
            </a:r>
            <a:r>
              <a:rPr sz="2800" spc="240" dirty="0">
                <a:latin typeface="Times New Roman"/>
                <a:cs typeface="Times New Roman"/>
              </a:rPr>
              <a:t>dimensional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arrangement.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Multidimensional</a:t>
            </a:r>
            <a:r>
              <a:rPr spc="-105" dirty="0"/>
              <a:t> </a:t>
            </a:r>
            <a:r>
              <a:rPr spc="-20" dirty="0"/>
              <a:t>Data </a:t>
            </a:r>
            <a:r>
              <a:rPr spc="-10" dirty="0"/>
              <a:t>Advantages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689215" cy="287845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31750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5" dirty="0">
                <a:latin typeface="Times New Roman"/>
                <a:cs typeface="Times New Roman"/>
              </a:rPr>
              <a:t>The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multidimensional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representation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180" dirty="0">
                <a:latin typeface="Times New Roman"/>
                <a:cs typeface="Times New Roman"/>
              </a:rPr>
              <a:t>also </a:t>
            </a:r>
            <a:r>
              <a:rPr sz="2800" spc="245" dirty="0">
                <a:latin typeface="Times New Roman"/>
                <a:cs typeface="Times New Roman"/>
              </a:rPr>
              <a:t>provides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54" dirty="0">
                <a:latin typeface="Times New Roman"/>
                <a:cs typeface="Times New Roman"/>
              </a:rPr>
              <a:t>convenient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representation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45" dirty="0">
                <a:latin typeface="Times New Roman"/>
                <a:cs typeface="Times New Roman"/>
              </a:rPr>
              <a:t>of </a:t>
            </a:r>
            <a:r>
              <a:rPr sz="2800" spc="360" dirty="0">
                <a:latin typeface="Times New Roman"/>
                <a:cs typeface="Times New Roman"/>
              </a:rPr>
              <a:t>summary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totals.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00"/>
              </a:lnSpc>
              <a:spcBef>
                <a:spcPts val="11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54" dirty="0">
                <a:latin typeface="Times New Roman"/>
                <a:cs typeface="Times New Roman"/>
              </a:rPr>
              <a:t>Each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dimension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in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25" dirty="0">
                <a:latin typeface="Times New Roman"/>
                <a:cs typeface="Times New Roman"/>
              </a:rPr>
              <a:t>cube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can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54" dirty="0">
                <a:latin typeface="Times New Roman"/>
                <a:cs typeface="Times New Roman"/>
              </a:rPr>
              <a:t>accommodate </a:t>
            </a:r>
            <a:r>
              <a:rPr sz="2800" spc="250" dirty="0">
                <a:latin typeface="Times New Roman"/>
                <a:cs typeface="Times New Roman"/>
              </a:rPr>
              <a:t>totals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60" dirty="0">
                <a:latin typeface="Times New Roman"/>
                <a:cs typeface="Times New Roman"/>
              </a:rPr>
              <a:t>(row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totals,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column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totals,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depth </a:t>
            </a:r>
            <a:r>
              <a:rPr sz="2800" spc="220" dirty="0">
                <a:latin typeface="Times New Roman"/>
                <a:cs typeface="Times New Roman"/>
              </a:rPr>
              <a:t>totals,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15" dirty="0">
                <a:latin typeface="Times New Roman"/>
                <a:cs typeface="Times New Roman"/>
              </a:rPr>
              <a:t>overall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60" dirty="0">
                <a:latin typeface="Times New Roman"/>
                <a:cs typeface="Times New Roman"/>
              </a:rPr>
              <a:t>totals)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45" dirty="0">
                <a:latin typeface="Times New Roman"/>
                <a:cs typeface="Times New Roman"/>
              </a:rPr>
              <a:t>that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user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can </a:t>
            </a:r>
            <a:r>
              <a:rPr sz="2800" spc="210" dirty="0">
                <a:latin typeface="Times New Roman"/>
                <a:cs typeface="Times New Roman"/>
              </a:rPr>
              <a:t>identify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140" dirty="0">
                <a:latin typeface="Times New Roman"/>
                <a:cs typeface="Times New Roman"/>
              </a:rPr>
              <a:t>easily.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Multidimensional</a:t>
            </a:r>
            <a:r>
              <a:rPr spc="-105" dirty="0"/>
              <a:t> </a:t>
            </a:r>
            <a:r>
              <a:rPr spc="-20" dirty="0"/>
              <a:t>Data </a:t>
            </a:r>
            <a:r>
              <a:rPr spc="-10" dirty="0"/>
              <a:t>Advantages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287259" cy="287845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54" dirty="0">
                <a:latin typeface="Times New Roman"/>
                <a:cs typeface="Times New Roman"/>
              </a:rPr>
              <a:t>In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addition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85" dirty="0">
                <a:latin typeface="Times New Roman"/>
                <a:cs typeface="Times New Roman"/>
              </a:rPr>
              <a:t>advantages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in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80" dirty="0">
                <a:latin typeface="Times New Roman"/>
                <a:cs typeface="Times New Roman"/>
              </a:rPr>
              <a:t>usability,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the </a:t>
            </a:r>
            <a:r>
              <a:rPr sz="2800" spc="240" dirty="0">
                <a:latin typeface="Times New Roman"/>
                <a:cs typeface="Times New Roman"/>
              </a:rPr>
              <a:t>multidimensional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representation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can </a:t>
            </a:r>
            <a:r>
              <a:rPr sz="2800" spc="240" dirty="0">
                <a:latin typeface="Times New Roman"/>
                <a:cs typeface="Times New Roman"/>
              </a:rPr>
              <a:t>provide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in</a:t>
            </a:r>
            <a:r>
              <a:rPr sz="2800" spc="275" dirty="0">
                <a:latin typeface="Times New Roman"/>
                <a:cs typeface="Times New Roman"/>
              </a:rPr>
              <a:t>creased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retrieval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15" dirty="0">
                <a:latin typeface="Times New Roman"/>
                <a:cs typeface="Times New Roman"/>
              </a:rPr>
              <a:t>speed.</a:t>
            </a:r>
            <a:endParaRPr sz="2800" dirty="0">
              <a:latin typeface="Times New Roman"/>
              <a:cs typeface="Times New Roman"/>
            </a:endParaRPr>
          </a:p>
          <a:p>
            <a:pPr marL="241300" marR="99695" indent="-228600">
              <a:lnSpc>
                <a:spcPts val="3000"/>
              </a:lnSpc>
              <a:spcBef>
                <a:spcPts val="11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10" dirty="0">
                <a:latin typeface="Times New Roman"/>
                <a:cs typeface="Times New Roman"/>
              </a:rPr>
              <a:t>Direct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54" dirty="0">
                <a:latin typeface="Times New Roman"/>
                <a:cs typeface="Times New Roman"/>
              </a:rPr>
              <a:t>storage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multidimensional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00" dirty="0">
                <a:latin typeface="Times New Roman"/>
                <a:cs typeface="Times New Roman"/>
              </a:rPr>
              <a:t>data </a:t>
            </a:r>
            <a:r>
              <a:rPr sz="2800" spc="225" dirty="0">
                <a:latin typeface="Times New Roman"/>
                <a:cs typeface="Times New Roman"/>
              </a:rPr>
              <a:t>obviates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need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convert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from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table </a:t>
            </a:r>
            <a:r>
              <a:rPr sz="2800" spc="290" dirty="0">
                <a:latin typeface="Times New Roman"/>
                <a:cs typeface="Times New Roman"/>
              </a:rPr>
              <a:t>representation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multidimensional </a:t>
            </a:r>
            <a:r>
              <a:rPr sz="2800" spc="265" dirty="0">
                <a:latin typeface="Times New Roman"/>
                <a:cs typeface="Times New Roman"/>
              </a:rPr>
              <a:t>representation.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Multidimensional</a:t>
            </a:r>
            <a:r>
              <a:rPr spc="-105" dirty="0"/>
              <a:t> </a:t>
            </a:r>
            <a:r>
              <a:rPr spc="-20" dirty="0"/>
              <a:t>Data </a:t>
            </a:r>
            <a:r>
              <a:rPr spc="-10" dirty="0"/>
              <a:t>Disadvantages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211695" cy="32715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2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170" dirty="0">
                <a:latin typeface="Times New Roman"/>
                <a:cs typeface="Times New Roman"/>
              </a:rPr>
              <a:t>However,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multidimensional </a:t>
            </a:r>
            <a:r>
              <a:rPr sz="2800" spc="290" dirty="0">
                <a:latin typeface="Times New Roman"/>
                <a:cs typeface="Times New Roman"/>
              </a:rPr>
              <a:t>representation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can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suffer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from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excessive </a:t>
            </a:r>
            <a:r>
              <a:rPr sz="2800" spc="254" dirty="0">
                <a:latin typeface="Times New Roman"/>
                <a:cs typeface="Times New Roman"/>
              </a:rPr>
              <a:t>storage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because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35" dirty="0">
                <a:latin typeface="Times New Roman"/>
                <a:cs typeface="Times New Roman"/>
              </a:rPr>
              <a:t>many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cells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can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00" dirty="0">
                <a:latin typeface="Times New Roman"/>
                <a:cs typeface="Times New Roman"/>
              </a:rPr>
              <a:t>remain </a:t>
            </a:r>
            <a:r>
              <a:rPr sz="2800" spc="204" dirty="0">
                <a:latin typeface="Times New Roman"/>
                <a:cs typeface="Times New Roman"/>
              </a:rPr>
              <a:t>empty.</a:t>
            </a:r>
            <a:endParaRPr sz="2800" dirty="0">
              <a:latin typeface="Times New Roman"/>
              <a:cs typeface="Times New Roman"/>
            </a:endParaRPr>
          </a:p>
          <a:p>
            <a:pPr marL="241300" marR="31115" indent="-228600">
              <a:lnSpc>
                <a:spcPct val="902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54" dirty="0">
                <a:latin typeface="Times New Roman"/>
                <a:cs typeface="Times New Roman"/>
              </a:rPr>
              <a:t>Even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with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compression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techniques,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large </a:t>
            </a:r>
            <a:r>
              <a:rPr sz="2800" spc="240" dirty="0">
                <a:latin typeface="Times New Roman"/>
                <a:cs typeface="Times New Roman"/>
              </a:rPr>
              <a:t>multidimensional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tables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can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265" dirty="0">
                <a:latin typeface="Times New Roman"/>
                <a:cs typeface="Times New Roman"/>
              </a:rPr>
              <a:t>consume </a:t>
            </a:r>
            <a:r>
              <a:rPr sz="2800" spc="229" dirty="0">
                <a:latin typeface="Times New Roman"/>
                <a:cs typeface="Times New Roman"/>
              </a:rPr>
              <a:t>considerably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00" dirty="0">
                <a:latin typeface="Times New Roman"/>
                <a:cs typeface="Times New Roman"/>
              </a:rPr>
              <a:t>more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54" dirty="0">
                <a:latin typeface="Times New Roman"/>
                <a:cs typeface="Times New Roman"/>
              </a:rPr>
              <a:t>storage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54" dirty="0">
                <a:latin typeface="Times New Roman"/>
                <a:cs typeface="Times New Roman"/>
              </a:rPr>
              <a:t>space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35" dirty="0">
                <a:latin typeface="Times New Roman"/>
                <a:cs typeface="Times New Roman"/>
              </a:rPr>
              <a:t>than </a:t>
            </a:r>
            <a:r>
              <a:rPr sz="2800" spc="254" dirty="0">
                <a:latin typeface="Times New Roman"/>
                <a:cs typeface="Times New Roman"/>
              </a:rPr>
              <a:t>corresponding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relational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00" dirty="0">
                <a:latin typeface="Times New Roman"/>
                <a:cs typeface="Times New Roman"/>
              </a:rPr>
              <a:t>tables.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3104" y="2740153"/>
            <a:ext cx="721550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dirty="0"/>
              <a:t>Multidimensional</a:t>
            </a:r>
            <a:r>
              <a:rPr sz="4100" spc="-170" dirty="0"/>
              <a:t> </a:t>
            </a:r>
            <a:r>
              <a:rPr sz="4100" spc="-10" dirty="0"/>
              <a:t>Terminologies</a:t>
            </a:r>
            <a:endParaRPr sz="41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100" dirty="0"/>
              <a:t> </a:t>
            </a:r>
            <a:r>
              <a:rPr spc="-20" dirty="0"/>
              <a:t>Cube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69365"/>
            <a:ext cx="7640320" cy="415544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55" dirty="0">
                <a:latin typeface="Times New Roman"/>
                <a:cs typeface="Times New Roman"/>
              </a:rPr>
              <a:t>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95" dirty="0">
                <a:latin typeface="Times New Roman"/>
                <a:cs typeface="Times New Roman"/>
              </a:rPr>
              <a:t>data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04" dirty="0">
                <a:latin typeface="Times New Roman"/>
                <a:cs typeface="Times New Roman"/>
              </a:rPr>
              <a:t>cube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65" dirty="0">
                <a:latin typeface="Times New Roman"/>
                <a:cs typeface="Times New Roman"/>
              </a:rPr>
              <a:t>or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Times New Roman"/>
                <a:cs typeface="Times New Roman"/>
              </a:rPr>
              <a:t>hypercube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15" dirty="0">
                <a:latin typeface="Times New Roman"/>
                <a:cs typeface="Times New Roman"/>
              </a:rPr>
              <a:t>generalizes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85" dirty="0">
                <a:latin typeface="Times New Roman"/>
                <a:cs typeface="Times New Roman"/>
              </a:rPr>
              <a:t>the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20" dirty="0">
                <a:latin typeface="Times New Roman"/>
                <a:cs typeface="Times New Roman"/>
              </a:rPr>
              <a:t>two- </a:t>
            </a:r>
            <a:r>
              <a:rPr sz="2600" spc="220" dirty="0">
                <a:latin typeface="Times New Roman"/>
                <a:cs typeface="Times New Roman"/>
              </a:rPr>
              <a:t>dimensional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300" dirty="0">
                <a:latin typeface="Times New Roman"/>
                <a:cs typeface="Times New Roman"/>
              </a:rPr>
              <a:t>and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35" dirty="0">
                <a:latin typeface="Times New Roman"/>
                <a:cs typeface="Times New Roman"/>
              </a:rPr>
              <a:t>three-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04" dirty="0">
                <a:latin typeface="Times New Roman"/>
                <a:cs typeface="Times New Roman"/>
              </a:rPr>
              <a:t>dimensional </a:t>
            </a:r>
            <a:r>
              <a:rPr sz="2600" spc="265" dirty="0">
                <a:latin typeface="Times New Roman"/>
                <a:cs typeface="Times New Roman"/>
              </a:rPr>
              <a:t>representations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45" dirty="0">
                <a:latin typeface="Times New Roman"/>
                <a:cs typeface="Times New Roman"/>
              </a:rPr>
              <a:t>shown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10" dirty="0">
                <a:latin typeface="Times New Roman"/>
                <a:cs typeface="Times New Roman"/>
              </a:rPr>
              <a:t>in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85" dirty="0">
                <a:latin typeface="Times New Roman"/>
                <a:cs typeface="Times New Roman"/>
              </a:rPr>
              <a:t>the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235" dirty="0">
                <a:latin typeface="Times New Roman"/>
                <a:cs typeface="Times New Roman"/>
              </a:rPr>
              <a:t>previous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80" dirty="0">
                <a:latin typeface="Times New Roman"/>
                <a:cs typeface="Times New Roman"/>
              </a:rPr>
              <a:t>section.</a:t>
            </a:r>
            <a:endParaRPr sz="2600" dirty="0">
              <a:latin typeface="Times New Roman"/>
              <a:cs typeface="Times New Roman"/>
            </a:endParaRPr>
          </a:p>
          <a:p>
            <a:pPr marL="241300" marR="431165" indent="-228600">
              <a:lnSpc>
                <a:spcPct val="79400"/>
              </a:lnSpc>
              <a:spcBef>
                <a:spcPts val="103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55" dirty="0">
                <a:latin typeface="Times New Roman"/>
                <a:cs typeface="Times New Roman"/>
              </a:rPr>
              <a:t>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95" dirty="0">
                <a:latin typeface="Times New Roman"/>
                <a:cs typeface="Times New Roman"/>
              </a:rPr>
              <a:t>data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04" dirty="0">
                <a:latin typeface="Times New Roman"/>
                <a:cs typeface="Times New Roman"/>
              </a:rPr>
              <a:t>cube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20" dirty="0">
                <a:latin typeface="Times New Roman"/>
                <a:cs typeface="Times New Roman"/>
              </a:rPr>
              <a:t>consists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75" dirty="0">
                <a:latin typeface="Times New Roman"/>
                <a:cs typeface="Times New Roman"/>
              </a:rPr>
              <a:t>of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5" dirty="0">
                <a:latin typeface="Times New Roman"/>
                <a:cs typeface="Times New Roman"/>
              </a:rPr>
              <a:t>cells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04" dirty="0">
                <a:latin typeface="Times New Roman"/>
                <a:cs typeface="Times New Roman"/>
              </a:rPr>
              <a:t>containing </a:t>
            </a:r>
            <a:r>
              <a:rPr sz="2600" b="1" u="sng" spc="16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measures</a:t>
            </a:r>
            <a:r>
              <a:rPr sz="2600" b="1" spc="10" dirty="0">
                <a:latin typeface="Book Antiqua"/>
                <a:cs typeface="Book Antiqua"/>
              </a:rPr>
              <a:t> </a:t>
            </a:r>
            <a:r>
              <a:rPr sz="2600" spc="275" dirty="0">
                <a:latin typeface="Times New Roman"/>
                <a:cs typeface="Times New Roman"/>
              </a:rPr>
              <a:t>(numeric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29" dirty="0">
                <a:latin typeface="Times New Roman"/>
                <a:cs typeface="Times New Roman"/>
              </a:rPr>
              <a:t>values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60" dirty="0">
                <a:latin typeface="Times New Roman"/>
                <a:cs typeface="Times New Roman"/>
              </a:rPr>
              <a:t>such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80" dirty="0">
                <a:latin typeface="Times New Roman"/>
                <a:cs typeface="Times New Roman"/>
              </a:rPr>
              <a:t>as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85" dirty="0">
                <a:latin typeface="Times New Roman"/>
                <a:cs typeface="Times New Roman"/>
              </a:rPr>
              <a:t>the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35" dirty="0">
                <a:latin typeface="Times New Roman"/>
                <a:cs typeface="Times New Roman"/>
              </a:rPr>
              <a:t>unit </a:t>
            </a:r>
            <a:r>
              <a:rPr sz="2600" spc="220" dirty="0">
                <a:latin typeface="Times New Roman"/>
                <a:cs typeface="Times New Roman"/>
              </a:rPr>
              <a:t>sales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90" dirty="0">
                <a:latin typeface="Times New Roman"/>
                <a:cs typeface="Times New Roman"/>
              </a:rPr>
              <a:t>amounts)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300" dirty="0">
                <a:latin typeface="Times New Roman"/>
                <a:cs typeface="Times New Roman"/>
              </a:rPr>
              <a:t>and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b="1" u="sng" spc="114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dimensions</a:t>
            </a:r>
            <a:r>
              <a:rPr sz="2600" b="1" spc="5" dirty="0">
                <a:latin typeface="Book Antiqua"/>
                <a:cs typeface="Book Antiqua"/>
              </a:rPr>
              <a:t> </a:t>
            </a:r>
            <a:r>
              <a:rPr sz="2600" spc="210" dirty="0">
                <a:latin typeface="Times New Roman"/>
                <a:cs typeface="Times New Roman"/>
              </a:rPr>
              <a:t>to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60" dirty="0">
                <a:latin typeface="Times New Roman"/>
                <a:cs typeface="Times New Roman"/>
              </a:rPr>
              <a:t>label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40" dirty="0">
                <a:latin typeface="Times New Roman"/>
                <a:cs typeface="Times New Roman"/>
              </a:rPr>
              <a:t>or </a:t>
            </a:r>
            <a:r>
              <a:rPr sz="2600" spc="254" dirty="0">
                <a:latin typeface="Times New Roman"/>
                <a:cs typeface="Times New Roman"/>
              </a:rPr>
              <a:t>group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65" dirty="0">
                <a:latin typeface="Times New Roman"/>
                <a:cs typeface="Times New Roman"/>
              </a:rPr>
              <a:t>numeric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95" dirty="0">
                <a:latin typeface="Times New Roman"/>
                <a:cs typeface="Times New Roman"/>
              </a:rPr>
              <a:t>data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35" dirty="0">
                <a:latin typeface="Times New Roman"/>
                <a:cs typeface="Times New Roman"/>
              </a:rPr>
              <a:t>(e.g.,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25" dirty="0">
                <a:latin typeface="Times New Roman"/>
                <a:cs typeface="Times New Roman"/>
              </a:rPr>
              <a:t>Product,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60" dirty="0">
                <a:latin typeface="Times New Roman"/>
                <a:cs typeface="Times New Roman"/>
              </a:rPr>
              <a:t>Location, </a:t>
            </a:r>
            <a:r>
              <a:rPr sz="2600" spc="300" dirty="0">
                <a:latin typeface="Times New Roman"/>
                <a:cs typeface="Times New Roman"/>
              </a:rPr>
              <a:t>and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75" dirty="0">
                <a:latin typeface="Times New Roman"/>
                <a:cs typeface="Times New Roman"/>
              </a:rPr>
              <a:t>Time).</a:t>
            </a:r>
            <a:endParaRPr sz="2600" dirty="0">
              <a:latin typeface="Times New Roman"/>
              <a:cs typeface="Times New Roman"/>
            </a:endParaRPr>
          </a:p>
          <a:p>
            <a:pPr marL="241300" marR="673100" indent="-228600">
              <a:lnSpc>
                <a:spcPct val="8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235" dirty="0">
                <a:latin typeface="Times New Roman"/>
                <a:cs typeface="Times New Roman"/>
              </a:rPr>
              <a:t>Each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29" dirty="0">
                <a:latin typeface="Times New Roman"/>
                <a:cs typeface="Times New Roman"/>
              </a:rPr>
              <a:t>dimension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35" dirty="0">
                <a:latin typeface="Times New Roman"/>
                <a:cs typeface="Times New Roman"/>
              </a:rPr>
              <a:t>contains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29" dirty="0">
                <a:latin typeface="Times New Roman"/>
                <a:cs typeface="Times New Roman"/>
              </a:rPr>
              <a:t>values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54" dirty="0">
                <a:latin typeface="Times New Roman"/>
                <a:cs typeface="Times New Roman"/>
              </a:rPr>
              <a:t>known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45" dirty="0">
                <a:latin typeface="Times New Roman"/>
                <a:cs typeface="Times New Roman"/>
              </a:rPr>
              <a:t>as </a:t>
            </a:r>
            <a:r>
              <a:rPr sz="2600" b="1" u="sng" spc="13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members</a:t>
            </a:r>
            <a:r>
              <a:rPr sz="2600" spc="135" dirty="0">
                <a:latin typeface="Times New Roman"/>
                <a:cs typeface="Times New Roman"/>
              </a:rPr>
              <a:t>.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210" dirty="0">
                <a:latin typeface="Times New Roman"/>
                <a:cs typeface="Times New Roman"/>
              </a:rPr>
              <a:t>For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225" dirty="0">
                <a:latin typeface="Times New Roman"/>
                <a:cs typeface="Times New Roman"/>
              </a:rPr>
              <a:t>instance,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285" dirty="0">
                <a:latin typeface="Times New Roman"/>
                <a:cs typeface="Times New Roman"/>
              </a:rPr>
              <a:t>the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75" dirty="0">
                <a:latin typeface="Times New Roman"/>
                <a:cs typeface="Times New Roman"/>
              </a:rPr>
              <a:t>Location </a:t>
            </a:r>
            <a:r>
              <a:rPr sz="2600" spc="229" dirty="0">
                <a:latin typeface="Times New Roman"/>
                <a:cs typeface="Times New Roman"/>
              </a:rPr>
              <a:t>dimension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300" dirty="0">
                <a:latin typeface="Times New Roman"/>
                <a:cs typeface="Times New Roman"/>
              </a:rPr>
              <a:t>has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0" dirty="0">
                <a:latin typeface="Times New Roman"/>
                <a:cs typeface="Times New Roman"/>
              </a:rPr>
              <a:t>five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85" dirty="0">
                <a:latin typeface="Times New Roman"/>
                <a:cs typeface="Times New Roman"/>
              </a:rPr>
              <a:t>members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5" dirty="0">
                <a:latin typeface="Times New Roman"/>
                <a:cs typeface="Times New Roman"/>
              </a:rPr>
              <a:t>(California, </a:t>
            </a:r>
            <a:r>
              <a:rPr sz="2600" spc="185" dirty="0">
                <a:latin typeface="Times New Roman"/>
                <a:cs typeface="Times New Roman"/>
              </a:rPr>
              <a:t>Washington,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90" dirty="0">
                <a:latin typeface="Times New Roman"/>
                <a:cs typeface="Times New Roman"/>
              </a:rPr>
              <a:t>Utah,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95" dirty="0">
                <a:latin typeface="Times New Roman"/>
                <a:cs typeface="Times New Roman"/>
              </a:rPr>
              <a:t>Arizona,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300" dirty="0">
                <a:latin typeface="Times New Roman"/>
                <a:cs typeface="Times New Roman"/>
              </a:rPr>
              <a:t>and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55" dirty="0">
                <a:latin typeface="Times New Roman"/>
                <a:cs typeface="Times New Roman"/>
              </a:rPr>
              <a:t>Colorado).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100" dirty="0"/>
              <a:t> </a:t>
            </a:r>
            <a:r>
              <a:rPr spc="-20" dirty="0"/>
              <a:t>Cube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504430" cy="2116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318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225" dirty="0">
                <a:latin typeface="Times New Roman"/>
                <a:cs typeface="Times New Roman"/>
              </a:rPr>
              <a:t>Both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dimensions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10" dirty="0">
                <a:latin typeface="Times New Roman"/>
                <a:cs typeface="Times New Roman"/>
              </a:rPr>
              <a:t>measures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can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be</a:t>
            </a:r>
            <a:endParaRPr sz="2800" dirty="0">
              <a:latin typeface="Times New Roman"/>
              <a:cs typeface="Times New Roman"/>
            </a:endParaRPr>
          </a:p>
          <a:p>
            <a:pPr marL="241300">
              <a:lnSpc>
                <a:spcPts val="3180"/>
              </a:lnSpc>
            </a:pPr>
            <a:r>
              <a:rPr sz="2800" b="1" u="sng" spc="15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stored</a:t>
            </a:r>
            <a:r>
              <a:rPr sz="2800" b="1" spc="15" dirty="0">
                <a:latin typeface="Book Antiqua"/>
                <a:cs typeface="Book Antiqua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b="1" u="sng" spc="12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derived</a:t>
            </a:r>
            <a:r>
              <a:rPr sz="2800" spc="125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91100"/>
              </a:lnSpc>
              <a:spcBef>
                <a:spcPts val="9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0" dirty="0">
                <a:latin typeface="Times New Roman"/>
                <a:cs typeface="Times New Roman"/>
              </a:rPr>
              <a:t>For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example,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purchase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date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80" dirty="0">
                <a:latin typeface="Times New Roman"/>
                <a:cs typeface="Times New Roman"/>
              </a:rPr>
              <a:t>is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stored </a:t>
            </a:r>
            <a:r>
              <a:rPr sz="2800" spc="245" dirty="0">
                <a:latin typeface="Times New Roman"/>
                <a:cs typeface="Times New Roman"/>
              </a:rPr>
              <a:t>dimension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with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purchase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year,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month,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300" dirty="0">
                <a:latin typeface="Times New Roman"/>
                <a:cs typeface="Times New Roman"/>
              </a:rPr>
              <a:t>and </a:t>
            </a:r>
            <a:r>
              <a:rPr sz="2800" spc="270" dirty="0">
                <a:latin typeface="Times New Roman"/>
                <a:cs typeface="Times New Roman"/>
              </a:rPr>
              <a:t>day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as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derived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dimensions.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Dimension</a:t>
            </a:r>
            <a:r>
              <a:rPr spc="-185" dirty="0"/>
              <a:t> </a:t>
            </a:r>
            <a:r>
              <a:rPr spc="-10" dirty="0"/>
              <a:t>Details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69365"/>
            <a:ext cx="7689850" cy="428371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marR="200660" indent="-228600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204" dirty="0">
                <a:latin typeface="Times New Roman"/>
                <a:cs typeface="Times New Roman"/>
              </a:rPr>
              <a:t>Dimensions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70" dirty="0">
                <a:latin typeface="Times New Roman"/>
                <a:cs typeface="Times New Roman"/>
              </a:rPr>
              <a:t>can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45" dirty="0">
                <a:latin typeface="Times New Roman"/>
                <a:cs typeface="Times New Roman"/>
              </a:rPr>
              <a:t>have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Times New Roman"/>
                <a:cs typeface="Times New Roman"/>
              </a:rPr>
              <a:t>hierarchies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15" dirty="0">
                <a:latin typeface="Times New Roman"/>
                <a:cs typeface="Times New Roman"/>
              </a:rPr>
              <a:t>composed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50" dirty="0">
                <a:latin typeface="Times New Roman"/>
                <a:cs typeface="Times New Roman"/>
              </a:rPr>
              <a:t>of </a:t>
            </a:r>
            <a:r>
              <a:rPr sz="2600" spc="145" dirty="0">
                <a:latin typeface="Times New Roman"/>
                <a:cs typeface="Times New Roman"/>
              </a:rPr>
              <a:t>levels.</a:t>
            </a:r>
            <a:endParaRPr sz="26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210" dirty="0">
                <a:latin typeface="Times New Roman"/>
                <a:cs typeface="Times New Roman"/>
              </a:rPr>
              <a:t>For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25" dirty="0">
                <a:latin typeface="Times New Roman"/>
                <a:cs typeface="Times New Roman"/>
              </a:rPr>
              <a:t>instance,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85" dirty="0">
                <a:latin typeface="Times New Roman"/>
                <a:cs typeface="Times New Roman"/>
              </a:rPr>
              <a:t>the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85" dirty="0">
                <a:latin typeface="Times New Roman"/>
                <a:cs typeface="Times New Roman"/>
              </a:rPr>
              <a:t>Location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29" dirty="0">
                <a:latin typeface="Times New Roman"/>
                <a:cs typeface="Times New Roman"/>
              </a:rPr>
              <a:t>dimension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95" dirty="0">
                <a:latin typeface="Times New Roman"/>
                <a:cs typeface="Times New Roman"/>
              </a:rPr>
              <a:t>may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25" dirty="0">
                <a:latin typeface="Times New Roman"/>
                <a:cs typeface="Times New Roman"/>
              </a:rPr>
              <a:t>have </a:t>
            </a:r>
            <a:r>
              <a:rPr sz="2600" spc="3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70" dirty="0">
                <a:latin typeface="Times New Roman"/>
                <a:cs typeface="Times New Roman"/>
              </a:rPr>
              <a:t>hierarchy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15" dirty="0">
                <a:latin typeface="Times New Roman"/>
                <a:cs typeface="Times New Roman"/>
              </a:rPr>
              <a:t>composed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75" dirty="0">
                <a:latin typeface="Times New Roman"/>
                <a:cs typeface="Times New Roman"/>
              </a:rPr>
              <a:t>of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85" dirty="0">
                <a:latin typeface="Times New Roman"/>
                <a:cs typeface="Times New Roman"/>
              </a:rPr>
              <a:t>the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75" dirty="0">
                <a:latin typeface="Times New Roman"/>
                <a:cs typeface="Times New Roman"/>
              </a:rPr>
              <a:t>levels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15" dirty="0">
                <a:latin typeface="Times New Roman"/>
                <a:cs typeface="Times New Roman"/>
              </a:rPr>
              <a:t>country, </a:t>
            </a:r>
            <a:r>
              <a:rPr sz="2600" spc="240" dirty="0">
                <a:latin typeface="Times New Roman"/>
                <a:cs typeface="Times New Roman"/>
              </a:rPr>
              <a:t>state,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300" dirty="0">
                <a:latin typeface="Times New Roman"/>
                <a:cs typeface="Times New Roman"/>
              </a:rPr>
              <a:t>and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05" dirty="0">
                <a:latin typeface="Times New Roman"/>
                <a:cs typeface="Times New Roman"/>
              </a:rPr>
              <a:t>city.</a:t>
            </a:r>
            <a:endParaRPr sz="2600" dirty="0">
              <a:latin typeface="Times New Roman"/>
              <a:cs typeface="Times New Roman"/>
            </a:endParaRPr>
          </a:p>
          <a:p>
            <a:pPr marL="241300" marR="430530" indent="-228600">
              <a:lnSpc>
                <a:spcPct val="7850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155" dirty="0">
                <a:latin typeface="Times New Roman"/>
                <a:cs typeface="Times New Roman"/>
              </a:rPr>
              <a:t>Likewise,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85" dirty="0">
                <a:latin typeface="Times New Roman"/>
                <a:cs typeface="Times New Roman"/>
              </a:rPr>
              <a:t>the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85" dirty="0">
                <a:latin typeface="Times New Roman"/>
                <a:cs typeface="Times New Roman"/>
              </a:rPr>
              <a:t>Time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29" dirty="0">
                <a:latin typeface="Times New Roman"/>
                <a:cs typeface="Times New Roman"/>
              </a:rPr>
              <a:t>dimension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70" dirty="0">
                <a:latin typeface="Times New Roman"/>
                <a:cs typeface="Times New Roman"/>
              </a:rPr>
              <a:t>can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45" dirty="0">
                <a:latin typeface="Times New Roman"/>
                <a:cs typeface="Times New Roman"/>
              </a:rPr>
              <a:t>have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60" dirty="0">
                <a:latin typeface="Times New Roman"/>
                <a:cs typeface="Times New Roman"/>
              </a:rPr>
              <a:t>a </a:t>
            </a:r>
            <a:r>
              <a:rPr sz="2600" spc="270" dirty="0">
                <a:latin typeface="Times New Roman"/>
                <a:cs typeface="Times New Roman"/>
              </a:rPr>
              <a:t>hierarchy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15" dirty="0">
                <a:latin typeface="Times New Roman"/>
                <a:cs typeface="Times New Roman"/>
              </a:rPr>
              <a:t>composed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75" dirty="0">
                <a:latin typeface="Times New Roman"/>
                <a:cs typeface="Times New Roman"/>
              </a:rPr>
              <a:t>of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95" dirty="0">
                <a:latin typeface="Times New Roman"/>
                <a:cs typeface="Times New Roman"/>
              </a:rPr>
              <a:t>year,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40" dirty="0">
                <a:latin typeface="Times New Roman"/>
                <a:cs typeface="Times New Roman"/>
              </a:rPr>
              <a:t>quarter,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45" dirty="0">
                <a:latin typeface="Times New Roman"/>
                <a:cs typeface="Times New Roman"/>
              </a:rPr>
              <a:t>month, </a:t>
            </a:r>
            <a:r>
              <a:rPr sz="2600" spc="300" dirty="0">
                <a:latin typeface="Times New Roman"/>
                <a:cs typeface="Times New Roman"/>
              </a:rPr>
              <a:t>and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04" dirty="0">
                <a:latin typeface="Times New Roman"/>
                <a:cs typeface="Times New Roman"/>
              </a:rPr>
              <a:t>date.</a:t>
            </a:r>
            <a:endParaRPr sz="2600" dirty="0">
              <a:latin typeface="Times New Roman"/>
              <a:cs typeface="Times New Roman"/>
            </a:endParaRPr>
          </a:p>
          <a:p>
            <a:pPr marL="241300" marR="61594" indent="-228600">
              <a:lnSpc>
                <a:spcPct val="803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235" dirty="0">
                <a:latin typeface="Times New Roman"/>
                <a:cs typeface="Times New Roman"/>
              </a:rPr>
              <a:t>Hierarchies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70" dirty="0">
                <a:latin typeface="Times New Roman"/>
                <a:cs typeface="Times New Roman"/>
              </a:rPr>
              <a:t>can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80" dirty="0">
                <a:latin typeface="Times New Roman"/>
                <a:cs typeface="Times New Roman"/>
              </a:rPr>
              <a:t>be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54" dirty="0">
                <a:latin typeface="Times New Roman"/>
                <a:cs typeface="Times New Roman"/>
              </a:rPr>
              <a:t>used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10" dirty="0">
                <a:latin typeface="Times New Roman"/>
                <a:cs typeface="Times New Roman"/>
              </a:rPr>
              <a:t>to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b="1" u="sng" spc="114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drill</a:t>
            </a:r>
            <a:r>
              <a:rPr sz="2600" b="1" u="sng" spc="1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2600" b="1" u="sng" spc="9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down</a:t>
            </a:r>
            <a:r>
              <a:rPr sz="2600" b="1" spc="5" dirty="0">
                <a:latin typeface="Book Antiqua"/>
                <a:cs typeface="Book Antiqua"/>
              </a:rPr>
              <a:t> </a:t>
            </a:r>
            <a:r>
              <a:rPr sz="2600" spc="215" dirty="0">
                <a:latin typeface="Times New Roman"/>
                <a:cs typeface="Times New Roman"/>
              </a:rPr>
              <a:t>from </a:t>
            </a:r>
            <a:r>
              <a:rPr sz="2600" spc="250" dirty="0">
                <a:latin typeface="Times New Roman"/>
                <a:cs typeface="Times New Roman"/>
              </a:rPr>
              <a:t>higher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75" dirty="0">
                <a:latin typeface="Times New Roman"/>
                <a:cs typeface="Times New Roman"/>
              </a:rPr>
              <a:t>levels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75" dirty="0">
                <a:latin typeface="Times New Roman"/>
                <a:cs typeface="Times New Roman"/>
              </a:rPr>
              <a:t>of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04" dirty="0">
                <a:latin typeface="Times New Roman"/>
                <a:cs typeface="Times New Roman"/>
              </a:rPr>
              <a:t>detail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35" dirty="0">
                <a:latin typeface="Times New Roman"/>
                <a:cs typeface="Times New Roman"/>
              </a:rPr>
              <a:t>(e.g.,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80" dirty="0">
                <a:latin typeface="Times New Roman"/>
                <a:cs typeface="Times New Roman"/>
              </a:rPr>
              <a:t>country)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10" dirty="0">
                <a:latin typeface="Times New Roman"/>
                <a:cs typeface="Times New Roman"/>
              </a:rPr>
              <a:t>to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80" dirty="0">
                <a:latin typeface="Times New Roman"/>
                <a:cs typeface="Times New Roman"/>
              </a:rPr>
              <a:t>lower </a:t>
            </a:r>
            <a:r>
              <a:rPr sz="2600" spc="175" dirty="0">
                <a:latin typeface="Times New Roman"/>
                <a:cs typeface="Times New Roman"/>
              </a:rPr>
              <a:t>levels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35" dirty="0">
                <a:latin typeface="Times New Roman"/>
                <a:cs typeface="Times New Roman"/>
              </a:rPr>
              <a:t>(e.g.,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75" dirty="0">
                <a:latin typeface="Times New Roman"/>
                <a:cs typeface="Times New Roman"/>
              </a:rPr>
              <a:t>state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300" dirty="0">
                <a:latin typeface="Times New Roman"/>
                <a:cs typeface="Times New Roman"/>
              </a:rPr>
              <a:t>and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20" dirty="0">
                <a:latin typeface="Times New Roman"/>
                <a:cs typeface="Times New Roman"/>
              </a:rPr>
              <a:t>city)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300" dirty="0">
                <a:latin typeface="Times New Roman"/>
                <a:cs typeface="Times New Roman"/>
              </a:rPr>
              <a:t>and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10" dirty="0">
                <a:latin typeface="Times New Roman"/>
                <a:cs typeface="Times New Roman"/>
              </a:rPr>
              <a:t>to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b="1" u="sng" spc="114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roll</a:t>
            </a:r>
            <a:r>
              <a:rPr sz="2600" b="1" u="sng" spc="1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up</a:t>
            </a:r>
            <a:r>
              <a:rPr sz="2600" b="1" u="sng" spc="-3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2600" spc="210" dirty="0">
                <a:latin typeface="Times New Roman"/>
                <a:cs typeface="Times New Roman"/>
              </a:rPr>
              <a:t>in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60" dirty="0">
                <a:latin typeface="Times New Roman"/>
                <a:cs typeface="Times New Roman"/>
              </a:rPr>
              <a:t>the </a:t>
            </a:r>
            <a:r>
              <a:rPr sz="2600" spc="275" dirty="0">
                <a:latin typeface="Times New Roman"/>
                <a:cs typeface="Times New Roman"/>
              </a:rPr>
              <a:t>reverse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90" dirty="0">
                <a:latin typeface="Times New Roman"/>
                <a:cs typeface="Times New Roman"/>
              </a:rPr>
              <a:t>direction.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Dimension</a:t>
            </a:r>
            <a:r>
              <a:rPr spc="-185" dirty="0"/>
              <a:t> </a:t>
            </a:r>
            <a:r>
              <a:rPr spc="-10" dirty="0"/>
              <a:t>Details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3748"/>
            <a:ext cx="7663815" cy="4018279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41300" marR="476884" indent="-228600">
              <a:lnSpc>
                <a:spcPts val="2810"/>
              </a:lnSpc>
              <a:spcBef>
                <a:spcPts val="45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204" dirty="0">
                <a:latin typeface="Times New Roman"/>
                <a:cs typeface="Times New Roman"/>
              </a:rPr>
              <a:t>Although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Times New Roman"/>
                <a:cs typeface="Times New Roman"/>
              </a:rPr>
              <a:t>hierarchies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310" dirty="0">
                <a:latin typeface="Times New Roman"/>
                <a:cs typeface="Times New Roman"/>
              </a:rPr>
              <a:t>are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54" dirty="0">
                <a:latin typeface="Times New Roman"/>
                <a:cs typeface="Times New Roman"/>
              </a:rPr>
              <a:t>not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10" dirty="0">
                <a:latin typeface="Times New Roman"/>
                <a:cs typeface="Times New Roman"/>
              </a:rPr>
              <a:t>essential,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60" dirty="0">
                <a:latin typeface="Times New Roman"/>
                <a:cs typeface="Times New Roman"/>
              </a:rPr>
              <a:t>they </a:t>
            </a:r>
            <a:r>
              <a:rPr sz="2600" spc="145" dirty="0">
                <a:latin typeface="Times New Roman"/>
                <a:cs typeface="Times New Roman"/>
              </a:rPr>
              <a:t>allow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3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35" dirty="0">
                <a:latin typeface="Times New Roman"/>
                <a:cs typeface="Times New Roman"/>
              </a:rPr>
              <a:t>convenient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300" dirty="0">
                <a:latin typeface="Times New Roman"/>
                <a:cs typeface="Times New Roman"/>
              </a:rPr>
              <a:t>and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60" dirty="0">
                <a:latin typeface="Times New Roman"/>
                <a:cs typeface="Times New Roman"/>
              </a:rPr>
              <a:t>efficient </a:t>
            </a:r>
            <a:r>
              <a:rPr sz="2600" spc="240" dirty="0">
                <a:latin typeface="Times New Roman"/>
                <a:cs typeface="Times New Roman"/>
              </a:rPr>
              <a:t>representation.</a:t>
            </a:r>
            <a:endParaRPr sz="2600" dirty="0">
              <a:latin typeface="Times New Roman"/>
              <a:cs typeface="Times New Roman"/>
            </a:endParaRPr>
          </a:p>
          <a:p>
            <a:pPr marL="241300" marR="389890" indent="-228600">
              <a:lnSpc>
                <a:spcPts val="2810"/>
              </a:lnSpc>
              <a:spcBef>
                <a:spcPts val="10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195" dirty="0">
                <a:latin typeface="Times New Roman"/>
                <a:cs typeface="Times New Roman"/>
              </a:rPr>
              <a:t>Without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35" dirty="0">
                <a:latin typeface="Times New Roman"/>
                <a:cs typeface="Times New Roman"/>
              </a:rPr>
              <a:t>hierarchies,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285" dirty="0">
                <a:latin typeface="Times New Roman"/>
                <a:cs typeface="Times New Roman"/>
              </a:rPr>
              <a:t>the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85" dirty="0">
                <a:latin typeface="Times New Roman"/>
                <a:cs typeface="Times New Roman"/>
              </a:rPr>
              <a:t>Location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20" dirty="0">
                <a:latin typeface="Times New Roman"/>
                <a:cs typeface="Times New Roman"/>
              </a:rPr>
              <a:t>dimension </a:t>
            </a:r>
            <a:r>
              <a:rPr sz="2600" spc="310" dirty="0">
                <a:latin typeface="Times New Roman"/>
                <a:cs typeface="Times New Roman"/>
              </a:rPr>
              <a:t>must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35" dirty="0">
                <a:latin typeface="Times New Roman"/>
                <a:cs typeface="Times New Roman"/>
              </a:rPr>
              <a:t>contain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85" dirty="0">
                <a:latin typeface="Times New Roman"/>
                <a:cs typeface="Times New Roman"/>
              </a:rPr>
              <a:t>the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65" dirty="0">
                <a:latin typeface="Times New Roman"/>
                <a:cs typeface="Times New Roman"/>
              </a:rPr>
              <a:t>most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10" dirty="0">
                <a:latin typeface="Times New Roman"/>
                <a:cs typeface="Times New Roman"/>
              </a:rPr>
              <a:t>detailed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55" dirty="0">
                <a:latin typeface="Times New Roman"/>
                <a:cs typeface="Times New Roman"/>
              </a:rPr>
              <a:t>level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00" dirty="0">
                <a:latin typeface="Times New Roman"/>
                <a:cs typeface="Times New Roman"/>
              </a:rPr>
              <a:t>(city).</a:t>
            </a:r>
            <a:endParaRPr sz="26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81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165" dirty="0">
                <a:latin typeface="Times New Roman"/>
                <a:cs typeface="Times New Roman"/>
              </a:rPr>
              <a:t>However,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45" dirty="0">
                <a:latin typeface="Times New Roman"/>
                <a:cs typeface="Times New Roman"/>
              </a:rPr>
              <a:t>this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70" dirty="0">
                <a:latin typeface="Times New Roman"/>
                <a:cs typeface="Times New Roman"/>
              </a:rPr>
              <a:t>representation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70" dirty="0">
                <a:latin typeface="Times New Roman"/>
                <a:cs typeface="Times New Roman"/>
              </a:rPr>
              <a:t>can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80" dirty="0">
                <a:latin typeface="Times New Roman"/>
                <a:cs typeface="Times New Roman"/>
              </a:rPr>
              <a:t>be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5" dirty="0">
                <a:latin typeface="Times New Roman"/>
                <a:cs typeface="Times New Roman"/>
              </a:rPr>
              <a:t>difficult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85" dirty="0">
                <a:latin typeface="Times New Roman"/>
                <a:cs typeface="Times New Roman"/>
              </a:rPr>
              <a:t>to </a:t>
            </a:r>
            <a:r>
              <a:rPr sz="2600" spc="240" dirty="0">
                <a:latin typeface="Times New Roman"/>
                <a:cs typeface="Times New Roman"/>
              </a:rPr>
              <a:t>compute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40" dirty="0">
                <a:latin typeface="Times New Roman"/>
                <a:cs typeface="Times New Roman"/>
              </a:rPr>
              <a:t>aggregates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Times New Roman"/>
                <a:cs typeface="Times New Roman"/>
              </a:rPr>
              <a:t>across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85" dirty="0">
                <a:latin typeface="Times New Roman"/>
                <a:cs typeface="Times New Roman"/>
              </a:rPr>
              <a:t>the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200" dirty="0">
                <a:latin typeface="Times New Roman"/>
                <a:cs typeface="Times New Roman"/>
              </a:rPr>
              <a:t>dimension.</a:t>
            </a:r>
            <a:endParaRPr sz="2600" dirty="0">
              <a:latin typeface="Times New Roman"/>
              <a:cs typeface="Times New Roman"/>
            </a:endParaRPr>
          </a:p>
          <a:p>
            <a:pPr marL="241300" marR="245745" indent="-228600">
              <a:lnSpc>
                <a:spcPts val="281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190" dirty="0">
                <a:latin typeface="Times New Roman"/>
                <a:cs typeface="Times New Roman"/>
              </a:rPr>
              <a:t>Alternatively,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85" dirty="0">
                <a:latin typeface="Times New Roman"/>
                <a:cs typeface="Times New Roman"/>
              </a:rPr>
              <a:t>the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85" dirty="0">
                <a:latin typeface="Times New Roman"/>
                <a:cs typeface="Times New Roman"/>
              </a:rPr>
              <a:t>Location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29" dirty="0">
                <a:latin typeface="Times New Roman"/>
                <a:cs typeface="Times New Roman"/>
              </a:rPr>
              <a:t>dimension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70" dirty="0">
                <a:latin typeface="Times New Roman"/>
                <a:cs typeface="Times New Roman"/>
              </a:rPr>
              <a:t>can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5" dirty="0">
                <a:latin typeface="Times New Roman"/>
                <a:cs typeface="Times New Roman"/>
              </a:rPr>
              <a:t>be </a:t>
            </a:r>
            <a:r>
              <a:rPr sz="2600" spc="195" dirty="0">
                <a:latin typeface="Times New Roman"/>
                <a:cs typeface="Times New Roman"/>
              </a:rPr>
              <a:t>divided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04" dirty="0">
                <a:latin typeface="Times New Roman"/>
                <a:cs typeface="Times New Roman"/>
              </a:rPr>
              <a:t>into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85" dirty="0">
                <a:latin typeface="Times New Roman"/>
                <a:cs typeface="Times New Roman"/>
              </a:rPr>
              <a:t>separate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29" dirty="0">
                <a:latin typeface="Times New Roman"/>
                <a:cs typeface="Times New Roman"/>
              </a:rPr>
              <a:t>dimensions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70" dirty="0">
                <a:latin typeface="Times New Roman"/>
                <a:cs typeface="Times New Roman"/>
              </a:rPr>
              <a:t>for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15" dirty="0">
                <a:latin typeface="Times New Roman"/>
                <a:cs typeface="Times New Roman"/>
              </a:rPr>
              <a:t>country, </a:t>
            </a:r>
            <a:r>
              <a:rPr sz="2600" spc="240" dirty="0">
                <a:latin typeface="Times New Roman"/>
                <a:cs typeface="Times New Roman"/>
              </a:rPr>
              <a:t>state,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300" dirty="0">
                <a:latin typeface="Times New Roman"/>
                <a:cs typeface="Times New Roman"/>
              </a:rPr>
              <a:t>and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00" dirty="0">
                <a:latin typeface="Times New Roman"/>
                <a:cs typeface="Times New Roman"/>
              </a:rPr>
              <a:t>city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29" dirty="0">
                <a:latin typeface="Times New Roman"/>
                <a:cs typeface="Times New Roman"/>
              </a:rPr>
              <a:t>resulting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10" dirty="0">
                <a:latin typeface="Times New Roman"/>
                <a:cs typeface="Times New Roman"/>
              </a:rPr>
              <a:t>in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3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40" dirty="0">
                <a:latin typeface="Times New Roman"/>
                <a:cs typeface="Times New Roman"/>
              </a:rPr>
              <a:t>larger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95" dirty="0">
                <a:latin typeface="Times New Roman"/>
                <a:cs typeface="Times New Roman"/>
              </a:rPr>
              <a:t>data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65" dirty="0">
                <a:latin typeface="Times New Roman"/>
                <a:cs typeface="Times New Roman"/>
              </a:rPr>
              <a:t>cube.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</a:t>
            </a:r>
            <a:r>
              <a:rPr spc="-95" dirty="0"/>
              <a:t> </a:t>
            </a:r>
            <a:r>
              <a:rPr spc="-10" dirty="0"/>
              <a:t>Hierarchies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641590" cy="33966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1350645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0" dirty="0">
                <a:latin typeface="Times New Roman"/>
                <a:cs typeface="Times New Roman"/>
              </a:rPr>
              <a:t>For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55" dirty="0">
                <a:latin typeface="Times New Roman"/>
                <a:cs typeface="Times New Roman"/>
              </a:rPr>
              <a:t>flexibility,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dimensions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can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have </a:t>
            </a:r>
            <a:r>
              <a:rPr sz="2800" spc="225" dirty="0">
                <a:latin typeface="Times New Roman"/>
                <a:cs typeface="Times New Roman"/>
              </a:rPr>
              <a:t>multiple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hierarchies.</a:t>
            </a:r>
            <a:endParaRPr sz="2800" dirty="0">
              <a:latin typeface="Times New Roman"/>
              <a:cs typeface="Times New Roman"/>
            </a:endParaRPr>
          </a:p>
          <a:p>
            <a:pPr marL="241300" marR="381635" indent="-228600">
              <a:lnSpc>
                <a:spcPts val="3120"/>
              </a:lnSpc>
              <a:spcBef>
                <a:spcPts val="8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54" dirty="0">
                <a:latin typeface="Times New Roman"/>
                <a:cs typeface="Times New Roman"/>
              </a:rPr>
              <a:t>In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dimension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with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25" dirty="0">
                <a:latin typeface="Times New Roman"/>
                <a:cs typeface="Times New Roman"/>
              </a:rPr>
              <a:t>multiple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hierarchies, </a:t>
            </a:r>
            <a:r>
              <a:rPr sz="2800" spc="229" dirty="0">
                <a:latin typeface="Times New Roman"/>
                <a:cs typeface="Times New Roman"/>
              </a:rPr>
              <a:t>usually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35" dirty="0">
                <a:latin typeface="Times New Roman"/>
                <a:cs typeface="Times New Roman"/>
              </a:rPr>
              <a:t>at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least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one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level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80" dirty="0">
                <a:latin typeface="Times New Roman"/>
                <a:cs typeface="Times New Roman"/>
              </a:rPr>
              <a:t>is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shared.</a:t>
            </a:r>
            <a:endParaRPr sz="28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90200"/>
              </a:lnSpc>
              <a:spcBef>
                <a:spcPts val="8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0" dirty="0">
                <a:latin typeface="Times New Roman"/>
                <a:cs typeface="Times New Roman"/>
              </a:rPr>
              <a:t>For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example,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00" dirty="0">
                <a:latin typeface="Times New Roman"/>
                <a:cs typeface="Times New Roman"/>
              </a:rPr>
              <a:t>Location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dimension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can have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one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hierarchy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with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90" dirty="0">
                <a:latin typeface="Times New Roman"/>
                <a:cs typeface="Times New Roman"/>
              </a:rPr>
              <a:t>levels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country, </a:t>
            </a:r>
            <a:r>
              <a:rPr sz="2800" spc="265" dirty="0">
                <a:latin typeface="Times New Roman"/>
                <a:cs typeface="Times New Roman"/>
              </a:rPr>
              <a:t>state,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45" dirty="0">
                <a:latin typeface="Times New Roman"/>
                <a:cs typeface="Times New Roman"/>
              </a:rPr>
              <a:t>city,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second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hierarchy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25" dirty="0">
                <a:latin typeface="Times New Roman"/>
                <a:cs typeface="Times New Roman"/>
              </a:rPr>
              <a:t>with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90" dirty="0">
                <a:latin typeface="Times New Roman"/>
                <a:cs typeface="Times New Roman"/>
              </a:rPr>
              <a:t>levels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country,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65" dirty="0">
                <a:latin typeface="Times New Roman"/>
                <a:cs typeface="Times New Roman"/>
              </a:rPr>
              <a:t>state,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25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postal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60" dirty="0">
                <a:latin typeface="Times New Roman"/>
                <a:cs typeface="Times New Roman"/>
              </a:rPr>
              <a:t>code.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Measure</a:t>
            </a:r>
            <a:r>
              <a:rPr spc="-55" dirty="0"/>
              <a:t> </a:t>
            </a:r>
            <a:r>
              <a:rPr spc="-10" dirty="0"/>
              <a:t>Details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241300" marR="311785" indent="-228600">
              <a:lnSpc>
                <a:spcPct val="7000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100" dirty="0"/>
              <a:t>Cells</a:t>
            </a:r>
            <a:r>
              <a:rPr sz="2600" spc="5" dirty="0"/>
              <a:t> </a:t>
            </a:r>
            <a:r>
              <a:rPr sz="2600" spc="210" dirty="0"/>
              <a:t>in</a:t>
            </a:r>
            <a:r>
              <a:rPr sz="2600" dirty="0"/>
              <a:t> </a:t>
            </a:r>
            <a:r>
              <a:rPr sz="2600" spc="310" dirty="0"/>
              <a:t>a</a:t>
            </a:r>
            <a:r>
              <a:rPr sz="2600" spc="5" dirty="0"/>
              <a:t> </a:t>
            </a:r>
            <a:r>
              <a:rPr sz="2600" spc="295" dirty="0"/>
              <a:t>data</a:t>
            </a:r>
            <a:r>
              <a:rPr sz="2600" spc="10" dirty="0"/>
              <a:t> </a:t>
            </a:r>
            <a:r>
              <a:rPr sz="2600" spc="204" dirty="0"/>
              <a:t>cube</a:t>
            </a:r>
            <a:r>
              <a:rPr sz="2600" spc="10" dirty="0"/>
              <a:t> </a:t>
            </a:r>
            <a:r>
              <a:rPr sz="2600" spc="235" dirty="0"/>
              <a:t>contain</a:t>
            </a:r>
            <a:r>
              <a:rPr sz="2600" dirty="0"/>
              <a:t> </a:t>
            </a:r>
            <a:r>
              <a:rPr sz="2600" spc="290" dirty="0"/>
              <a:t>measures</a:t>
            </a:r>
            <a:r>
              <a:rPr sz="2600" spc="5" dirty="0"/>
              <a:t> </a:t>
            </a:r>
            <a:r>
              <a:rPr sz="2600" spc="260" dirty="0"/>
              <a:t>such</a:t>
            </a:r>
            <a:r>
              <a:rPr sz="2600" spc="5" dirty="0"/>
              <a:t> </a:t>
            </a:r>
            <a:r>
              <a:rPr sz="2600" spc="254" dirty="0"/>
              <a:t>as </a:t>
            </a:r>
            <a:r>
              <a:rPr sz="2600" spc="285" dirty="0"/>
              <a:t>the</a:t>
            </a:r>
            <a:r>
              <a:rPr sz="2600" spc="10" dirty="0"/>
              <a:t> </a:t>
            </a:r>
            <a:r>
              <a:rPr sz="2600" spc="220" dirty="0"/>
              <a:t>sales</a:t>
            </a:r>
            <a:r>
              <a:rPr sz="2600" spc="5" dirty="0"/>
              <a:t> </a:t>
            </a:r>
            <a:r>
              <a:rPr sz="2600" spc="195" dirty="0"/>
              <a:t>values.</a:t>
            </a:r>
            <a:endParaRPr sz="2600" dirty="0"/>
          </a:p>
          <a:p>
            <a:pPr marL="241300" indent="-228600">
              <a:lnSpc>
                <a:spcPts val="265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260" dirty="0"/>
              <a:t>Measures</a:t>
            </a:r>
            <a:r>
              <a:rPr sz="2600" spc="10" dirty="0"/>
              <a:t> </a:t>
            </a:r>
            <a:r>
              <a:rPr sz="2600" spc="280" dirty="0"/>
              <a:t>support</a:t>
            </a:r>
            <a:r>
              <a:rPr sz="2600" spc="15" dirty="0"/>
              <a:t> </a:t>
            </a:r>
            <a:r>
              <a:rPr sz="2600" spc="265" dirty="0"/>
              <a:t>numeric</a:t>
            </a:r>
            <a:r>
              <a:rPr sz="2600" spc="15" dirty="0"/>
              <a:t> </a:t>
            </a:r>
            <a:r>
              <a:rPr sz="2600" spc="240" dirty="0"/>
              <a:t>operations</a:t>
            </a:r>
            <a:r>
              <a:rPr sz="2600" spc="15" dirty="0"/>
              <a:t> </a:t>
            </a:r>
            <a:r>
              <a:rPr sz="2600" spc="260" dirty="0"/>
              <a:t>such</a:t>
            </a:r>
            <a:r>
              <a:rPr sz="2600" spc="5" dirty="0"/>
              <a:t> </a:t>
            </a:r>
            <a:r>
              <a:rPr sz="2600" spc="254" dirty="0"/>
              <a:t>as</a:t>
            </a:r>
            <a:endParaRPr sz="2600" dirty="0"/>
          </a:p>
          <a:p>
            <a:pPr marL="241300" marR="181610">
              <a:lnSpc>
                <a:spcPct val="70800"/>
              </a:lnSpc>
              <a:spcBef>
                <a:spcPts val="445"/>
              </a:spcBef>
            </a:pPr>
            <a:r>
              <a:rPr sz="2600" spc="195" dirty="0"/>
              <a:t>simple</a:t>
            </a:r>
            <a:r>
              <a:rPr sz="2600" spc="15" dirty="0"/>
              <a:t> </a:t>
            </a:r>
            <a:r>
              <a:rPr sz="2600" spc="235" dirty="0"/>
              <a:t>arithmetic,</a:t>
            </a:r>
            <a:r>
              <a:rPr sz="2600" spc="20" dirty="0"/>
              <a:t> </a:t>
            </a:r>
            <a:r>
              <a:rPr sz="2600" spc="220" dirty="0"/>
              <a:t>statistical</a:t>
            </a:r>
            <a:r>
              <a:rPr sz="2600" spc="15" dirty="0"/>
              <a:t> </a:t>
            </a:r>
            <a:r>
              <a:rPr sz="2600" spc="195" dirty="0"/>
              <a:t>calculations,</a:t>
            </a:r>
            <a:r>
              <a:rPr sz="2600" spc="20" dirty="0"/>
              <a:t> </a:t>
            </a:r>
            <a:r>
              <a:rPr sz="2600" spc="275" dirty="0"/>
              <a:t>and </a:t>
            </a:r>
            <a:r>
              <a:rPr sz="2600" spc="245" dirty="0"/>
              <a:t>simultaneous</a:t>
            </a:r>
            <a:r>
              <a:rPr sz="2600" spc="-5" dirty="0"/>
              <a:t> </a:t>
            </a:r>
            <a:r>
              <a:rPr sz="2600" spc="200" dirty="0"/>
              <a:t>equations.</a:t>
            </a:r>
            <a:endParaRPr sz="2600" dirty="0"/>
          </a:p>
          <a:p>
            <a:pPr marL="241300" indent="-228600">
              <a:lnSpc>
                <a:spcPts val="311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55" dirty="0"/>
              <a:t>A</a:t>
            </a:r>
            <a:r>
              <a:rPr sz="2600" dirty="0"/>
              <a:t> </a:t>
            </a:r>
            <a:r>
              <a:rPr sz="2600" spc="130" dirty="0"/>
              <a:t>cell</a:t>
            </a:r>
            <a:r>
              <a:rPr sz="2600" spc="5" dirty="0"/>
              <a:t> </a:t>
            </a:r>
            <a:r>
              <a:rPr sz="2600" spc="295" dirty="0"/>
              <a:t>may</a:t>
            </a:r>
            <a:r>
              <a:rPr sz="2600" spc="5" dirty="0"/>
              <a:t> </a:t>
            </a:r>
            <a:r>
              <a:rPr sz="2600" spc="235" dirty="0"/>
              <a:t>contain</a:t>
            </a:r>
            <a:r>
              <a:rPr sz="2600" dirty="0"/>
              <a:t> </a:t>
            </a:r>
            <a:r>
              <a:rPr sz="2600" spc="225" dirty="0"/>
              <a:t>one</a:t>
            </a:r>
            <a:r>
              <a:rPr sz="2600" spc="5" dirty="0"/>
              <a:t> </a:t>
            </a:r>
            <a:r>
              <a:rPr sz="2600" spc="265" dirty="0"/>
              <a:t>or</a:t>
            </a:r>
            <a:r>
              <a:rPr sz="2600" spc="5" dirty="0"/>
              <a:t> </a:t>
            </a:r>
            <a:r>
              <a:rPr sz="2600" spc="280" dirty="0"/>
              <a:t>more</a:t>
            </a:r>
            <a:r>
              <a:rPr sz="2600" spc="5" dirty="0"/>
              <a:t> </a:t>
            </a:r>
            <a:r>
              <a:rPr sz="2600" spc="254" dirty="0"/>
              <a:t>measures.</a:t>
            </a:r>
            <a:endParaRPr sz="2600" dirty="0"/>
          </a:p>
          <a:p>
            <a:pPr marL="241300" marR="1064895" indent="-228600">
              <a:lnSpc>
                <a:spcPct val="70800"/>
              </a:lnSpc>
              <a:spcBef>
                <a:spcPts val="9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210" dirty="0"/>
              <a:t>For</a:t>
            </a:r>
            <a:r>
              <a:rPr sz="2600" spc="-5" dirty="0"/>
              <a:t> </a:t>
            </a:r>
            <a:r>
              <a:rPr sz="2600" spc="220" dirty="0"/>
              <a:t>example,</a:t>
            </a:r>
            <a:r>
              <a:rPr sz="2600" spc="10" dirty="0"/>
              <a:t> </a:t>
            </a:r>
            <a:r>
              <a:rPr sz="2600" spc="285" dirty="0"/>
              <a:t>the</a:t>
            </a:r>
            <a:r>
              <a:rPr sz="2600" spc="10" dirty="0"/>
              <a:t> </a:t>
            </a:r>
            <a:r>
              <a:rPr sz="2600" spc="300" dirty="0"/>
              <a:t>number</a:t>
            </a:r>
            <a:r>
              <a:rPr sz="2600" spc="5" dirty="0"/>
              <a:t> </a:t>
            </a:r>
            <a:r>
              <a:rPr sz="2600" spc="75" dirty="0"/>
              <a:t>of</a:t>
            </a:r>
            <a:r>
              <a:rPr sz="2600" spc="10" dirty="0"/>
              <a:t> </a:t>
            </a:r>
            <a:r>
              <a:rPr sz="2600" spc="254" dirty="0"/>
              <a:t>units</a:t>
            </a:r>
            <a:r>
              <a:rPr sz="2600" spc="5" dirty="0"/>
              <a:t> </a:t>
            </a:r>
            <a:r>
              <a:rPr sz="2600" spc="270" dirty="0"/>
              <a:t>can</a:t>
            </a:r>
            <a:r>
              <a:rPr sz="2600" spc="5" dirty="0"/>
              <a:t> </a:t>
            </a:r>
            <a:r>
              <a:rPr sz="2600" spc="155" dirty="0"/>
              <a:t>be </a:t>
            </a:r>
            <a:r>
              <a:rPr sz="2600" spc="290" dirty="0"/>
              <a:t>another</a:t>
            </a:r>
            <a:r>
              <a:rPr sz="2600" spc="5" dirty="0"/>
              <a:t> </a:t>
            </a:r>
            <a:r>
              <a:rPr sz="2600" spc="295" dirty="0"/>
              <a:t>measure</a:t>
            </a:r>
            <a:r>
              <a:rPr sz="2600" spc="10" dirty="0"/>
              <a:t> </a:t>
            </a:r>
            <a:r>
              <a:rPr sz="2600" spc="170" dirty="0"/>
              <a:t>for</a:t>
            </a:r>
            <a:r>
              <a:rPr sz="2600" spc="5" dirty="0"/>
              <a:t> </a:t>
            </a:r>
            <a:r>
              <a:rPr sz="2600" spc="285" dirty="0"/>
              <a:t>the</a:t>
            </a:r>
            <a:r>
              <a:rPr sz="2600" spc="15" dirty="0"/>
              <a:t> </a:t>
            </a:r>
            <a:r>
              <a:rPr sz="2600" spc="220" dirty="0"/>
              <a:t>sales</a:t>
            </a:r>
            <a:r>
              <a:rPr sz="2600" spc="5" dirty="0"/>
              <a:t> </a:t>
            </a:r>
            <a:r>
              <a:rPr sz="2600" spc="295" dirty="0"/>
              <a:t>data</a:t>
            </a:r>
            <a:r>
              <a:rPr sz="2600" spc="5" dirty="0"/>
              <a:t> </a:t>
            </a:r>
            <a:r>
              <a:rPr sz="2600" spc="165" dirty="0"/>
              <a:t>cube.</a:t>
            </a:r>
            <a:endParaRPr sz="2600" dirty="0"/>
          </a:p>
          <a:p>
            <a:pPr marL="241300" indent="-228600">
              <a:lnSpc>
                <a:spcPts val="2665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200" dirty="0"/>
              <a:t>The</a:t>
            </a:r>
            <a:r>
              <a:rPr sz="2600" spc="5" dirty="0"/>
              <a:t> </a:t>
            </a:r>
            <a:r>
              <a:rPr sz="2600" spc="300" dirty="0"/>
              <a:t>number</a:t>
            </a:r>
            <a:r>
              <a:rPr sz="2600" dirty="0"/>
              <a:t> </a:t>
            </a:r>
            <a:r>
              <a:rPr sz="2600" spc="75" dirty="0"/>
              <a:t>of</a:t>
            </a:r>
            <a:r>
              <a:rPr sz="2600" spc="5" dirty="0"/>
              <a:t> </a:t>
            </a:r>
            <a:r>
              <a:rPr sz="2600" spc="270" dirty="0"/>
              <a:t>nonempty</a:t>
            </a:r>
            <a:r>
              <a:rPr sz="2600" spc="5" dirty="0"/>
              <a:t> </a:t>
            </a:r>
            <a:r>
              <a:rPr sz="2600" spc="155" dirty="0"/>
              <a:t>cells</a:t>
            </a:r>
            <a:r>
              <a:rPr sz="2600" spc="5" dirty="0"/>
              <a:t> </a:t>
            </a:r>
            <a:r>
              <a:rPr sz="2600" spc="210" dirty="0"/>
              <a:t>in</a:t>
            </a:r>
            <a:r>
              <a:rPr sz="2600" spc="-5" dirty="0"/>
              <a:t> </a:t>
            </a:r>
            <a:r>
              <a:rPr sz="2600" spc="260" dirty="0"/>
              <a:t>a</a:t>
            </a:r>
            <a:endParaRPr sz="2600" dirty="0"/>
          </a:p>
          <a:p>
            <a:pPr marL="241300">
              <a:lnSpc>
                <a:spcPts val="2210"/>
              </a:lnSpc>
            </a:pPr>
            <a:r>
              <a:rPr sz="2600" spc="220" dirty="0"/>
              <a:t>multidimensional</a:t>
            </a:r>
            <a:r>
              <a:rPr sz="2600" spc="20" dirty="0"/>
              <a:t> </a:t>
            </a:r>
            <a:r>
              <a:rPr sz="2600" spc="204" dirty="0"/>
              <a:t>cube</a:t>
            </a:r>
            <a:r>
              <a:rPr sz="2600" spc="25" dirty="0"/>
              <a:t> </a:t>
            </a:r>
            <a:r>
              <a:rPr sz="2600" spc="220" dirty="0"/>
              <a:t>should</a:t>
            </a:r>
            <a:r>
              <a:rPr sz="2600" spc="25" dirty="0"/>
              <a:t> </a:t>
            </a:r>
            <a:r>
              <a:rPr sz="2600" spc="200" dirty="0"/>
              <a:t>equal</a:t>
            </a:r>
            <a:r>
              <a:rPr sz="2600" spc="20" dirty="0"/>
              <a:t> </a:t>
            </a:r>
            <a:r>
              <a:rPr sz="2600" spc="260" dirty="0"/>
              <a:t>the</a:t>
            </a:r>
            <a:endParaRPr sz="2600" dirty="0"/>
          </a:p>
          <a:p>
            <a:pPr marL="241300" marR="5080">
              <a:lnSpc>
                <a:spcPct val="70000"/>
              </a:lnSpc>
              <a:spcBef>
                <a:spcPts val="480"/>
              </a:spcBef>
            </a:pPr>
            <a:r>
              <a:rPr sz="2600" spc="300" dirty="0"/>
              <a:t>number</a:t>
            </a:r>
            <a:r>
              <a:rPr sz="2600" dirty="0"/>
              <a:t> </a:t>
            </a:r>
            <a:r>
              <a:rPr sz="2600" spc="75" dirty="0"/>
              <a:t>of</a:t>
            </a:r>
            <a:r>
              <a:rPr sz="2600" spc="5" dirty="0"/>
              <a:t> </a:t>
            </a:r>
            <a:r>
              <a:rPr sz="2600" spc="240" dirty="0"/>
              <a:t>rows</a:t>
            </a:r>
            <a:r>
              <a:rPr sz="2600" spc="5" dirty="0"/>
              <a:t> </a:t>
            </a:r>
            <a:r>
              <a:rPr sz="2600" spc="210" dirty="0"/>
              <a:t>in</a:t>
            </a:r>
            <a:r>
              <a:rPr sz="2600" spc="-5" dirty="0"/>
              <a:t> </a:t>
            </a:r>
            <a:r>
              <a:rPr sz="2600" spc="285" dirty="0"/>
              <a:t>the</a:t>
            </a:r>
            <a:r>
              <a:rPr sz="2600" spc="10" dirty="0"/>
              <a:t> </a:t>
            </a:r>
            <a:r>
              <a:rPr sz="2600" spc="240" dirty="0"/>
              <a:t>corresponding</a:t>
            </a:r>
            <a:r>
              <a:rPr sz="2600" spc="10" dirty="0"/>
              <a:t> </a:t>
            </a:r>
            <a:r>
              <a:rPr sz="2600" spc="210" dirty="0"/>
              <a:t>relational </a:t>
            </a:r>
            <a:r>
              <a:rPr sz="2600" spc="170" dirty="0"/>
              <a:t>table.</a:t>
            </a:r>
            <a:endParaRPr sz="260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Measure</a:t>
            </a:r>
            <a:r>
              <a:rPr spc="-55" dirty="0"/>
              <a:t> </a:t>
            </a:r>
            <a:r>
              <a:rPr spc="-10" dirty="0"/>
              <a:t>Details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marR="125095" indent="-228600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195" dirty="0"/>
              <a:t>Derived</a:t>
            </a:r>
            <a:r>
              <a:rPr sz="2600" spc="10" dirty="0"/>
              <a:t> </a:t>
            </a:r>
            <a:r>
              <a:rPr sz="2600" spc="290" dirty="0"/>
              <a:t>measures</a:t>
            </a:r>
            <a:r>
              <a:rPr sz="2600" spc="5" dirty="0"/>
              <a:t> </a:t>
            </a:r>
            <a:r>
              <a:rPr sz="2600" spc="270" dirty="0"/>
              <a:t>can</a:t>
            </a:r>
            <a:r>
              <a:rPr sz="2600" spc="5" dirty="0"/>
              <a:t> </a:t>
            </a:r>
            <a:r>
              <a:rPr sz="2600" spc="180" dirty="0"/>
              <a:t>be</a:t>
            </a:r>
            <a:r>
              <a:rPr sz="2600" spc="10" dirty="0"/>
              <a:t> </a:t>
            </a:r>
            <a:r>
              <a:rPr sz="2600" spc="260" dirty="0"/>
              <a:t>stored</a:t>
            </a:r>
            <a:r>
              <a:rPr sz="2600" spc="10" dirty="0"/>
              <a:t> </a:t>
            </a:r>
            <a:r>
              <a:rPr sz="2600" spc="210" dirty="0"/>
              <a:t>in</a:t>
            </a:r>
            <a:r>
              <a:rPr sz="2600" spc="5" dirty="0"/>
              <a:t> </a:t>
            </a:r>
            <a:r>
              <a:rPr sz="2600" spc="310" dirty="0"/>
              <a:t>a</a:t>
            </a:r>
            <a:r>
              <a:rPr sz="2600" spc="5" dirty="0"/>
              <a:t> </a:t>
            </a:r>
            <a:r>
              <a:rPr sz="2600" spc="295" dirty="0"/>
              <a:t>data</a:t>
            </a:r>
            <a:r>
              <a:rPr sz="2600" spc="5" dirty="0"/>
              <a:t> </a:t>
            </a:r>
            <a:r>
              <a:rPr sz="2600" spc="185" dirty="0"/>
              <a:t>cube </a:t>
            </a:r>
            <a:r>
              <a:rPr sz="2600" spc="265" dirty="0"/>
              <a:t>or</a:t>
            </a:r>
            <a:r>
              <a:rPr sz="2600" spc="-5" dirty="0"/>
              <a:t> </a:t>
            </a:r>
            <a:r>
              <a:rPr sz="2600" spc="240" dirty="0"/>
              <a:t>computed</a:t>
            </a:r>
            <a:r>
              <a:rPr sz="2600" spc="15" dirty="0"/>
              <a:t> </a:t>
            </a:r>
            <a:r>
              <a:rPr sz="2600" spc="235" dirty="0"/>
              <a:t>from</a:t>
            </a:r>
            <a:r>
              <a:rPr sz="2600" spc="5" dirty="0"/>
              <a:t> </a:t>
            </a:r>
            <a:r>
              <a:rPr sz="2600" spc="280" dirty="0"/>
              <a:t>other</a:t>
            </a:r>
            <a:r>
              <a:rPr sz="2600" spc="10" dirty="0"/>
              <a:t> </a:t>
            </a:r>
            <a:r>
              <a:rPr sz="2600" spc="290" dirty="0"/>
              <a:t>measures</a:t>
            </a:r>
            <a:r>
              <a:rPr sz="2600" spc="5" dirty="0"/>
              <a:t> </a:t>
            </a:r>
            <a:r>
              <a:rPr sz="2600" spc="305" dirty="0"/>
              <a:t>at</a:t>
            </a:r>
            <a:r>
              <a:rPr sz="2600" spc="10" dirty="0"/>
              <a:t> </a:t>
            </a:r>
            <a:r>
              <a:rPr sz="2600" spc="370" dirty="0"/>
              <a:t>run</a:t>
            </a:r>
            <a:r>
              <a:rPr sz="2600" spc="5" dirty="0"/>
              <a:t> </a:t>
            </a:r>
            <a:r>
              <a:rPr sz="2600" spc="185" dirty="0"/>
              <a:t>time.</a:t>
            </a:r>
            <a:endParaRPr sz="2600"/>
          </a:p>
          <a:p>
            <a:pPr marL="241300" marR="296545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260" dirty="0"/>
              <a:t>Measures</a:t>
            </a:r>
            <a:r>
              <a:rPr sz="2600" spc="5" dirty="0"/>
              <a:t> </a:t>
            </a:r>
            <a:r>
              <a:rPr sz="2600" spc="315" dirty="0"/>
              <a:t>that</a:t>
            </a:r>
            <a:r>
              <a:rPr sz="2600" spc="10" dirty="0"/>
              <a:t> </a:t>
            </a:r>
            <a:r>
              <a:rPr sz="2600" spc="270" dirty="0"/>
              <a:t>can</a:t>
            </a:r>
            <a:r>
              <a:rPr sz="2600" spc="5" dirty="0"/>
              <a:t> </a:t>
            </a:r>
            <a:r>
              <a:rPr sz="2600" spc="180" dirty="0"/>
              <a:t>be</a:t>
            </a:r>
            <a:r>
              <a:rPr sz="2600" spc="10" dirty="0"/>
              <a:t> </a:t>
            </a:r>
            <a:r>
              <a:rPr sz="2600" spc="235" dirty="0"/>
              <a:t>derived</a:t>
            </a:r>
            <a:r>
              <a:rPr sz="2600" spc="15" dirty="0"/>
              <a:t> </a:t>
            </a:r>
            <a:r>
              <a:rPr sz="2600" spc="235" dirty="0"/>
              <a:t>from</a:t>
            </a:r>
            <a:r>
              <a:rPr sz="2600" spc="10" dirty="0"/>
              <a:t> </a:t>
            </a:r>
            <a:r>
              <a:rPr sz="2600" spc="270" dirty="0"/>
              <a:t>other </a:t>
            </a:r>
            <a:r>
              <a:rPr sz="2600" spc="290" dirty="0"/>
              <a:t>measures</a:t>
            </a:r>
            <a:r>
              <a:rPr sz="2600" spc="5" dirty="0"/>
              <a:t> </a:t>
            </a:r>
            <a:r>
              <a:rPr sz="2600" spc="210" dirty="0"/>
              <a:t>in</a:t>
            </a:r>
            <a:r>
              <a:rPr sz="2600" spc="5" dirty="0"/>
              <a:t> </a:t>
            </a:r>
            <a:r>
              <a:rPr sz="2600" spc="285" dirty="0"/>
              <a:t>the</a:t>
            </a:r>
            <a:r>
              <a:rPr sz="2600" spc="15" dirty="0"/>
              <a:t> </a:t>
            </a:r>
            <a:r>
              <a:rPr sz="2600" spc="290" dirty="0"/>
              <a:t>same</a:t>
            </a:r>
            <a:r>
              <a:rPr sz="2600" spc="10" dirty="0"/>
              <a:t> </a:t>
            </a:r>
            <a:r>
              <a:rPr sz="2600" spc="130" dirty="0"/>
              <a:t>cell</a:t>
            </a:r>
            <a:r>
              <a:rPr sz="2600" spc="10" dirty="0"/>
              <a:t> </a:t>
            </a:r>
            <a:r>
              <a:rPr sz="2600" spc="185" dirty="0"/>
              <a:t>typically</a:t>
            </a:r>
            <a:r>
              <a:rPr sz="2600" spc="15" dirty="0"/>
              <a:t> </a:t>
            </a:r>
            <a:r>
              <a:rPr sz="2600" spc="190" dirty="0"/>
              <a:t>would</a:t>
            </a:r>
            <a:r>
              <a:rPr sz="2600" spc="15" dirty="0"/>
              <a:t> </a:t>
            </a:r>
            <a:r>
              <a:rPr sz="2600" spc="229" dirty="0"/>
              <a:t>not </a:t>
            </a:r>
            <a:r>
              <a:rPr sz="2600" spc="180" dirty="0"/>
              <a:t>be</a:t>
            </a:r>
            <a:r>
              <a:rPr sz="2600" spc="5" dirty="0"/>
              <a:t> </a:t>
            </a:r>
            <a:r>
              <a:rPr sz="2600" spc="220" dirty="0"/>
              <a:t>stored.</a:t>
            </a:r>
            <a:endParaRPr sz="2600"/>
          </a:p>
          <a:p>
            <a:pPr marL="241300" marR="708660" indent="-228600">
              <a:lnSpc>
                <a:spcPct val="7850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210" dirty="0"/>
              <a:t>For</a:t>
            </a:r>
            <a:r>
              <a:rPr sz="2600" spc="5" dirty="0"/>
              <a:t> </a:t>
            </a:r>
            <a:r>
              <a:rPr sz="2600" spc="220" dirty="0"/>
              <a:t>example,</a:t>
            </a:r>
            <a:r>
              <a:rPr sz="2600" spc="15" dirty="0"/>
              <a:t> </a:t>
            </a:r>
            <a:r>
              <a:rPr sz="2600" spc="220" dirty="0"/>
              <a:t>total</a:t>
            </a:r>
            <a:r>
              <a:rPr sz="2600" spc="10" dirty="0"/>
              <a:t> </a:t>
            </a:r>
            <a:r>
              <a:rPr sz="2600" spc="204" dirty="0"/>
              <a:t>dollar</a:t>
            </a:r>
            <a:r>
              <a:rPr sz="2600" spc="5" dirty="0"/>
              <a:t> </a:t>
            </a:r>
            <a:r>
              <a:rPr sz="2600" spc="220" dirty="0"/>
              <a:t>sales</a:t>
            </a:r>
            <a:r>
              <a:rPr sz="2600" spc="10" dirty="0"/>
              <a:t> </a:t>
            </a:r>
            <a:r>
              <a:rPr sz="2600" spc="270" dirty="0"/>
              <a:t>can</a:t>
            </a:r>
            <a:r>
              <a:rPr sz="2600" spc="5" dirty="0"/>
              <a:t> </a:t>
            </a:r>
            <a:r>
              <a:rPr sz="2600" spc="155" dirty="0"/>
              <a:t>be </a:t>
            </a:r>
            <a:r>
              <a:rPr sz="2600" spc="215" dirty="0"/>
              <a:t>calculated</a:t>
            </a:r>
            <a:r>
              <a:rPr sz="2600" spc="10" dirty="0"/>
              <a:t> </a:t>
            </a:r>
            <a:r>
              <a:rPr sz="2600" spc="280" dirty="0"/>
              <a:t>as</a:t>
            </a:r>
            <a:r>
              <a:rPr sz="2600" spc="5" dirty="0"/>
              <a:t> </a:t>
            </a:r>
            <a:r>
              <a:rPr sz="2600" spc="220" dirty="0"/>
              <a:t>total</a:t>
            </a:r>
            <a:r>
              <a:rPr sz="2600" spc="5" dirty="0"/>
              <a:t> </a:t>
            </a:r>
            <a:r>
              <a:rPr sz="2600" spc="254" dirty="0"/>
              <a:t>unit</a:t>
            </a:r>
            <a:r>
              <a:rPr sz="2600" spc="5" dirty="0"/>
              <a:t> </a:t>
            </a:r>
            <a:r>
              <a:rPr sz="2600" spc="220" dirty="0"/>
              <a:t>sales</a:t>
            </a:r>
            <a:r>
              <a:rPr sz="2600" spc="5" dirty="0"/>
              <a:t> </a:t>
            </a:r>
            <a:r>
              <a:rPr sz="2600" spc="245" dirty="0"/>
              <a:t>times</a:t>
            </a:r>
            <a:r>
              <a:rPr sz="2600" spc="10" dirty="0"/>
              <a:t> </a:t>
            </a:r>
            <a:r>
              <a:rPr sz="2600" spc="285" dirty="0"/>
              <a:t>the</a:t>
            </a:r>
            <a:r>
              <a:rPr sz="2600" spc="10" dirty="0"/>
              <a:t> </a:t>
            </a:r>
            <a:r>
              <a:rPr sz="2600" spc="235" dirty="0"/>
              <a:t>unit </a:t>
            </a:r>
            <a:r>
              <a:rPr sz="2600" spc="220" dirty="0"/>
              <a:t>price</a:t>
            </a:r>
            <a:r>
              <a:rPr sz="2600" spc="10" dirty="0"/>
              <a:t> </a:t>
            </a:r>
            <a:r>
              <a:rPr sz="2600" spc="290" dirty="0"/>
              <a:t>measures</a:t>
            </a:r>
            <a:r>
              <a:rPr sz="2600" spc="10" dirty="0"/>
              <a:t> </a:t>
            </a:r>
            <a:r>
              <a:rPr sz="2600" spc="210" dirty="0"/>
              <a:t>in</a:t>
            </a:r>
            <a:r>
              <a:rPr sz="2600" spc="5" dirty="0"/>
              <a:t> </a:t>
            </a:r>
            <a:r>
              <a:rPr sz="2600" spc="310" dirty="0"/>
              <a:t>a</a:t>
            </a:r>
            <a:r>
              <a:rPr sz="2600" spc="10" dirty="0"/>
              <a:t> </a:t>
            </a:r>
            <a:r>
              <a:rPr sz="2600" spc="95" dirty="0"/>
              <a:t>cell.</a:t>
            </a:r>
            <a:endParaRPr sz="2600"/>
          </a:p>
          <a:p>
            <a:pPr marL="241300" marR="5080" indent="-228600">
              <a:lnSpc>
                <a:spcPct val="803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320" dirty="0"/>
              <a:t>Summary</a:t>
            </a:r>
            <a:r>
              <a:rPr sz="2600" spc="10" dirty="0"/>
              <a:t> </a:t>
            </a:r>
            <a:r>
              <a:rPr sz="2600" spc="290" dirty="0"/>
              <a:t>measures</a:t>
            </a:r>
            <a:r>
              <a:rPr sz="2600" spc="5" dirty="0"/>
              <a:t> </a:t>
            </a:r>
            <a:r>
              <a:rPr sz="2600" spc="235" dirty="0"/>
              <a:t>derived</a:t>
            </a:r>
            <a:r>
              <a:rPr sz="2600" spc="10" dirty="0"/>
              <a:t> </a:t>
            </a:r>
            <a:r>
              <a:rPr sz="2600" spc="235" dirty="0"/>
              <a:t>from</a:t>
            </a:r>
            <a:r>
              <a:rPr sz="2600" spc="10" dirty="0"/>
              <a:t> </a:t>
            </a:r>
            <a:r>
              <a:rPr sz="2600" spc="310" dirty="0"/>
              <a:t>a</a:t>
            </a:r>
            <a:r>
              <a:rPr sz="2600" spc="5" dirty="0"/>
              <a:t> </a:t>
            </a:r>
            <a:r>
              <a:rPr sz="2600" spc="155" dirty="0"/>
              <a:t>collection </a:t>
            </a:r>
            <a:r>
              <a:rPr sz="2600" spc="75" dirty="0"/>
              <a:t>of</a:t>
            </a:r>
            <a:r>
              <a:rPr sz="2600" spc="10" dirty="0"/>
              <a:t> </a:t>
            </a:r>
            <a:r>
              <a:rPr sz="2600" spc="155" dirty="0"/>
              <a:t>cells</a:t>
            </a:r>
            <a:r>
              <a:rPr sz="2600" spc="5" dirty="0"/>
              <a:t> </a:t>
            </a:r>
            <a:r>
              <a:rPr sz="2600" spc="295" dirty="0"/>
              <a:t>may</a:t>
            </a:r>
            <a:r>
              <a:rPr sz="2600" spc="10" dirty="0"/>
              <a:t> </a:t>
            </a:r>
            <a:r>
              <a:rPr sz="2600" spc="180" dirty="0"/>
              <a:t>be</a:t>
            </a:r>
            <a:r>
              <a:rPr sz="2600" spc="15" dirty="0"/>
              <a:t> </a:t>
            </a:r>
            <a:r>
              <a:rPr sz="2600" spc="260" dirty="0"/>
              <a:t>stored</a:t>
            </a:r>
            <a:r>
              <a:rPr sz="2600" spc="10" dirty="0"/>
              <a:t> </a:t>
            </a:r>
            <a:r>
              <a:rPr sz="2600" spc="265" dirty="0"/>
              <a:t>or</a:t>
            </a:r>
            <a:r>
              <a:rPr sz="2600" spc="5" dirty="0"/>
              <a:t> </a:t>
            </a:r>
            <a:r>
              <a:rPr sz="2600" spc="240" dirty="0"/>
              <a:t>computed</a:t>
            </a:r>
            <a:r>
              <a:rPr sz="2600" spc="10" dirty="0"/>
              <a:t> </a:t>
            </a:r>
            <a:r>
              <a:rPr sz="2600" spc="220" dirty="0"/>
              <a:t>depending </a:t>
            </a:r>
            <a:r>
              <a:rPr sz="2600" spc="235" dirty="0"/>
              <a:t>on</a:t>
            </a:r>
            <a:r>
              <a:rPr sz="2600" spc="-5" dirty="0"/>
              <a:t> </a:t>
            </a:r>
            <a:r>
              <a:rPr sz="2600" spc="285" dirty="0"/>
              <a:t>the</a:t>
            </a:r>
            <a:r>
              <a:rPr sz="2600" spc="10" dirty="0"/>
              <a:t> </a:t>
            </a:r>
            <a:r>
              <a:rPr sz="2600" spc="300" dirty="0"/>
              <a:t>number</a:t>
            </a:r>
            <a:r>
              <a:rPr sz="2600" spc="5" dirty="0"/>
              <a:t> </a:t>
            </a:r>
            <a:r>
              <a:rPr sz="2600" spc="75" dirty="0"/>
              <a:t>of</a:t>
            </a:r>
            <a:r>
              <a:rPr sz="2600" spc="5" dirty="0"/>
              <a:t> </a:t>
            </a:r>
            <a:r>
              <a:rPr sz="2600" spc="155" dirty="0"/>
              <a:t>cells</a:t>
            </a:r>
            <a:r>
              <a:rPr sz="2600" spc="5" dirty="0"/>
              <a:t> </a:t>
            </a:r>
            <a:r>
              <a:rPr sz="2600" spc="300" dirty="0"/>
              <a:t>and</a:t>
            </a:r>
            <a:r>
              <a:rPr sz="2600" spc="10" dirty="0"/>
              <a:t> </a:t>
            </a:r>
            <a:r>
              <a:rPr sz="2600" spc="285" dirty="0"/>
              <a:t>the</a:t>
            </a:r>
            <a:r>
              <a:rPr sz="2600" spc="5" dirty="0"/>
              <a:t> </a:t>
            </a:r>
            <a:r>
              <a:rPr sz="2600" spc="210" dirty="0"/>
              <a:t>cost</a:t>
            </a:r>
            <a:r>
              <a:rPr sz="2600" spc="5" dirty="0"/>
              <a:t> </a:t>
            </a:r>
            <a:r>
              <a:rPr sz="2600" spc="75" dirty="0"/>
              <a:t>of</a:t>
            </a:r>
            <a:r>
              <a:rPr sz="2600" spc="10" dirty="0"/>
              <a:t> </a:t>
            </a:r>
            <a:r>
              <a:rPr sz="2600" spc="200" dirty="0"/>
              <a:t>accessing </a:t>
            </a:r>
            <a:r>
              <a:rPr sz="2600" spc="285" dirty="0"/>
              <a:t>the</a:t>
            </a:r>
            <a:r>
              <a:rPr sz="2600" spc="5" dirty="0"/>
              <a:t> </a:t>
            </a:r>
            <a:r>
              <a:rPr sz="2600" spc="155" dirty="0"/>
              <a:t>cells</a:t>
            </a:r>
            <a:r>
              <a:rPr sz="2600" spc="5" dirty="0"/>
              <a:t> </a:t>
            </a:r>
            <a:r>
              <a:rPr sz="2600" spc="170" dirty="0"/>
              <a:t>for</a:t>
            </a:r>
            <a:r>
              <a:rPr sz="2600" dirty="0"/>
              <a:t> </a:t>
            </a:r>
            <a:r>
              <a:rPr sz="2600" spc="285" dirty="0"/>
              <a:t>the</a:t>
            </a:r>
            <a:r>
              <a:rPr sz="2600" spc="10" dirty="0"/>
              <a:t> </a:t>
            </a:r>
            <a:r>
              <a:rPr sz="2600" spc="210" dirty="0"/>
              <a:t>computation.</a:t>
            </a:r>
            <a:endParaRPr sz="260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1800" y="2767076"/>
            <a:ext cx="5740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Data</a:t>
            </a:r>
            <a:r>
              <a:rPr sz="4800" spc="-95" dirty="0"/>
              <a:t> </a:t>
            </a:r>
            <a:r>
              <a:rPr sz="4800" dirty="0"/>
              <a:t>Cube</a:t>
            </a:r>
            <a:r>
              <a:rPr sz="4800" spc="-95" dirty="0"/>
              <a:t> </a:t>
            </a:r>
            <a:r>
              <a:rPr sz="4800" spc="-10" dirty="0"/>
              <a:t>Operations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Slice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606665" cy="41586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156210" indent="-228600">
              <a:lnSpc>
                <a:spcPct val="902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35" dirty="0">
                <a:latin typeface="Times New Roman"/>
                <a:cs typeface="Times New Roman"/>
              </a:rPr>
              <a:t>Because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data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25" dirty="0">
                <a:latin typeface="Times New Roman"/>
                <a:cs typeface="Times New Roman"/>
              </a:rPr>
              <a:t>cube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can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54" dirty="0">
                <a:latin typeface="Times New Roman"/>
                <a:cs typeface="Times New Roman"/>
              </a:rPr>
              <a:t>contain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large </a:t>
            </a:r>
            <a:r>
              <a:rPr sz="2800" spc="320" dirty="0">
                <a:latin typeface="Times New Roman"/>
                <a:cs typeface="Times New Roman"/>
              </a:rPr>
              <a:t>number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dimensions,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users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often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need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to </a:t>
            </a:r>
            <a:r>
              <a:rPr sz="2800" spc="170" dirty="0">
                <a:latin typeface="Times New Roman"/>
                <a:cs typeface="Times New Roman"/>
              </a:rPr>
              <a:t>focus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on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65" dirty="0">
                <a:latin typeface="Times New Roman"/>
                <a:cs typeface="Times New Roman"/>
              </a:rPr>
              <a:t>subset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dimensions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95" dirty="0">
                <a:latin typeface="Times New Roman"/>
                <a:cs typeface="Times New Roman"/>
              </a:rPr>
              <a:t>gain </a:t>
            </a:r>
            <a:r>
              <a:rPr sz="2800" spc="210" dirty="0">
                <a:latin typeface="Times New Roman"/>
                <a:cs typeface="Times New Roman"/>
              </a:rPr>
              <a:t>insights.</a:t>
            </a:r>
            <a:endParaRPr sz="28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0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slice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85" dirty="0">
                <a:latin typeface="Times New Roman"/>
                <a:cs typeface="Times New Roman"/>
              </a:rPr>
              <a:t>operator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retrieves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65" dirty="0">
                <a:latin typeface="Times New Roman"/>
                <a:cs typeface="Times New Roman"/>
              </a:rPr>
              <a:t>subset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a </a:t>
            </a:r>
            <a:r>
              <a:rPr sz="2800" spc="320" dirty="0">
                <a:latin typeface="Times New Roman"/>
                <a:cs typeface="Times New Roman"/>
              </a:rPr>
              <a:t>data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25" dirty="0">
                <a:latin typeface="Times New Roman"/>
                <a:cs typeface="Times New Roman"/>
              </a:rPr>
              <a:t>cube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similar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restrict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85" dirty="0">
                <a:latin typeface="Times New Roman"/>
                <a:cs typeface="Times New Roman"/>
              </a:rPr>
              <a:t>operator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45" dirty="0">
                <a:latin typeface="Times New Roman"/>
                <a:cs typeface="Times New Roman"/>
              </a:rPr>
              <a:t>of </a:t>
            </a:r>
            <a:r>
              <a:rPr sz="2800" spc="240" dirty="0">
                <a:latin typeface="Times New Roman"/>
                <a:cs typeface="Times New Roman"/>
              </a:rPr>
              <a:t>relational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00" dirty="0">
                <a:latin typeface="Times New Roman"/>
                <a:cs typeface="Times New Roman"/>
              </a:rPr>
              <a:t>algebra.</a:t>
            </a:r>
            <a:endParaRPr sz="2800" dirty="0">
              <a:latin typeface="Times New Roman"/>
              <a:cs typeface="Times New Roman"/>
            </a:endParaRPr>
          </a:p>
          <a:p>
            <a:pPr marL="241300" marR="438150" indent="-228600">
              <a:lnSpc>
                <a:spcPts val="3000"/>
              </a:lnSpc>
              <a:spcBef>
                <a:spcPts val="10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54" dirty="0">
                <a:latin typeface="Times New Roman"/>
                <a:cs typeface="Times New Roman"/>
              </a:rPr>
              <a:t>In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slice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operation,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one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more </a:t>
            </a:r>
            <a:r>
              <a:rPr sz="2800" spc="250" dirty="0">
                <a:latin typeface="Times New Roman"/>
                <a:cs typeface="Times New Roman"/>
              </a:rPr>
              <a:t>dimensions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are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set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75" dirty="0">
                <a:latin typeface="Times New Roman"/>
                <a:cs typeface="Times New Roman"/>
              </a:rPr>
              <a:t>specific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values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00" dirty="0">
                <a:latin typeface="Times New Roman"/>
                <a:cs typeface="Times New Roman"/>
              </a:rPr>
              <a:t>and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remaining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data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25" dirty="0">
                <a:latin typeface="Times New Roman"/>
                <a:cs typeface="Times New Roman"/>
              </a:rPr>
              <a:t>cube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80" dirty="0">
                <a:latin typeface="Times New Roman"/>
                <a:cs typeface="Times New Roman"/>
              </a:rPr>
              <a:t>is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95" dirty="0">
                <a:latin typeface="Times New Roman"/>
                <a:cs typeface="Times New Roman"/>
              </a:rPr>
              <a:t>displayed.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Slice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162" y="1696772"/>
            <a:ext cx="7825845" cy="20994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2093" y="3873500"/>
            <a:ext cx="7454265" cy="8483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algn="ctr">
              <a:lnSpc>
                <a:spcPct val="94600"/>
              </a:lnSpc>
              <a:spcBef>
                <a:spcPts val="215"/>
              </a:spcBef>
            </a:pPr>
            <a:r>
              <a:rPr sz="1800" spc="145" dirty="0">
                <a:latin typeface="Times New Roman"/>
                <a:cs typeface="Times New Roman"/>
              </a:rPr>
              <a:t>Figure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55" dirty="0">
                <a:latin typeface="Times New Roman"/>
                <a:cs typeface="Times New Roman"/>
              </a:rPr>
              <a:t>shows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data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35" dirty="0">
                <a:latin typeface="Times New Roman"/>
                <a:cs typeface="Times New Roman"/>
              </a:rPr>
              <a:t>cube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resulting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from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slice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operation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75" dirty="0">
                <a:latin typeface="Times New Roman"/>
                <a:cs typeface="Times New Roman"/>
              </a:rPr>
              <a:t>where </a:t>
            </a:r>
            <a:r>
              <a:rPr sz="1800" spc="130" dirty="0">
                <a:latin typeface="Times New Roman"/>
                <a:cs typeface="Times New Roman"/>
              </a:rPr>
              <a:t>Time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=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235" dirty="0">
                <a:latin typeface="Times New Roman"/>
                <a:cs typeface="Times New Roman"/>
              </a:rPr>
              <a:t>1/1/2006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204" dirty="0">
                <a:latin typeface="Times New Roman"/>
                <a:cs typeface="Times New Roman"/>
              </a:rPr>
              <a:t>and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190" dirty="0">
                <a:latin typeface="Times New Roman"/>
                <a:cs typeface="Times New Roman"/>
              </a:rPr>
              <a:t>other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40" dirty="0">
                <a:latin typeface="Times New Roman"/>
                <a:cs typeface="Times New Roman"/>
              </a:rPr>
              <a:t>two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dimensions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900" i="1" spc="95" dirty="0">
                <a:latin typeface="Times New Roman"/>
                <a:cs typeface="Times New Roman"/>
              </a:rPr>
              <a:t>(Location</a:t>
            </a:r>
            <a:r>
              <a:rPr sz="1900" i="1" spc="-10" dirty="0">
                <a:latin typeface="Times New Roman"/>
                <a:cs typeface="Times New Roman"/>
              </a:rPr>
              <a:t> </a:t>
            </a:r>
            <a:r>
              <a:rPr sz="1800" spc="185" dirty="0">
                <a:latin typeface="Times New Roman"/>
                <a:cs typeface="Times New Roman"/>
              </a:rPr>
              <a:t>and </a:t>
            </a:r>
            <a:r>
              <a:rPr sz="1900" i="1" spc="105" dirty="0">
                <a:latin typeface="Times New Roman"/>
                <a:cs typeface="Times New Roman"/>
              </a:rPr>
              <a:t>Product)</a:t>
            </a:r>
            <a:r>
              <a:rPr sz="1900" i="1" spc="-5" dirty="0">
                <a:latin typeface="Times New Roman"/>
                <a:cs typeface="Times New Roman"/>
              </a:rPr>
              <a:t> </a:t>
            </a:r>
            <a:r>
              <a:rPr sz="1800" spc="204" dirty="0">
                <a:latin typeface="Times New Roman"/>
                <a:cs typeface="Times New Roman"/>
              </a:rPr>
              <a:t>are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35" dirty="0">
                <a:latin typeface="Times New Roman"/>
                <a:cs typeface="Times New Roman"/>
              </a:rPr>
              <a:t>shown.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Slice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" y="1761744"/>
            <a:ext cx="3020567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Slice-</a:t>
            </a:r>
            <a:r>
              <a:rPr spc="-10" dirty="0"/>
              <a:t>Summarize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56155"/>
            <a:ext cx="7552690" cy="412242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1300" marR="300355" indent="-228600">
              <a:lnSpc>
                <a:spcPct val="80500"/>
              </a:lnSpc>
              <a:spcBef>
                <a:spcPts val="7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6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60" dirty="0">
                <a:latin typeface="Times New Roman"/>
                <a:cs typeface="Times New Roman"/>
              </a:rPr>
              <a:t>variation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slice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85" dirty="0">
                <a:latin typeface="Times New Roman"/>
                <a:cs typeface="Times New Roman"/>
              </a:rPr>
              <a:t>operator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75" dirty="0">
                <a:latin typeface="Times New Roman"/>
                <a:cs typeface="Times New Roman"/>
              </a:rPr>
              <a:t>allows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a </a:t>
            </a:r>
            <a:r>
              <a:rPr sz="2800" spc="200" dirty="0">
                <a:latin typeface="Times New Roman"/>
                <a:cs typeface="Times New Roman"/>
              </a:rPr>
              <a:t>decision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35" dirty="0">
                <a:latin typeface="Times New Roman"/>
                <a:cs typeface="Times New Roman"/>
              </a:rPr>
              <a:t>maker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00" dirty="0">
                <a:latin typeface="Times New Roman"/>
                <a:cs typeface="Times New Roman"/>
              </a:rPr>
              <a:t>summarize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60" dirty="0">
                <a:latin typeface="Times New Roman"/>
                <a:cs typeface="Times New Roman"/>
              </a:rPr>
              <a:t>across </a:t>
            </a:r>
            <a:r>
              <a:rPr sz="2800" spc="305" dirty="0">
                <a:latin typeface="Times New Roman"/>
                <a:cs typeface="Times New Roman"/>
              </a:rPr>
              <a:t>members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55" dirty="0">
                <a:latin typeface="Times New Roman"/>
                <a:cs typeface="Times New Roman"/>
              </a:rPr>
              <a:t>rather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55" dirty="0">
                <a:latin typeface="Times New Roman"/>
                <a:cs typeface="Times New Roman"/>
              </a:rPr>
              <a:t>than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focus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on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just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15" dirty="0">
                <a:latin typeface="Times New Roman"/>
                <a:cs typeface="Times New Roman"/>
              </a:rPr>
              <a:t>one </a:t>
            </a:r>
            <a:r>
              <a:rPr sz="2800" spc="225" dirty="0">
                <a:latin typeface="Times New Roman"/>
                <a:cs typeface="Times New Roman"/>
              </a:rPr>
              <a:t>member.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7890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5" dirty="0">
                <a:latin typeface="Times New Roman"/>
                <a:cs typeface="Times New Roman"/>
              </a:rPr>
              <a:t>The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125" dirty="0">
                <a:latin typeface="Times New Roman"/>
                <a:cs typeface="Times New Roman"/>
              </a:rPr>
              <a:t>slice-</a:t>
            </a:r>
            <a:r>
              <a:rPr sz="2800" spc="300" dirty="0">
                <a:latin typeface="Times New Roman"/>
                <a:cs typeface="Times New Roman"/>
              </a:rPr>
              <a:t>summarize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85" dirty="0">
                <a:latin typeface="Times New Roman"/>
                <a:cs typeface="Times New Roman"/>
              </a:rPr>
              <a:t>operator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replaces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15" dirty="0">
                <a:latin typeface="Times New Roman"/>
                <a:cs typeface="Times New Roman"/>
              </a:rPr>
              <a:t>one </a:t>
            </a:r>
            <a:r>
              <a:rPr sz="2800" spc="275" dirty="0">
                <a:latin typeface="Times New Roman"/>
                <a:cs typeface="Times New Roman"/>
              </a:rPr>
              <a:t>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00" dirty="0">
                <a:latin typeface="Times New Roman"/>
                <a:cs typeface="Times New Roman"/>
              </a:rPr>
              <a:t>more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dimensions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with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50" dirty="0">
                <a:latin typeface="Times New Roman"/>
                <a:cs typeface="Times New Roman"/>
              </a:rPr>
              <a:t>summary </a:t>
            </a:r>
            <a:r>
              <a:rPr sz="2800" spc="200" dirty="0">
                <a:latin typeface="Times New Roman"/>
                <a:cs typeface="Times New Roman"/>
              </a:rPr>
              <a:t>calculations.</a:t>
            </a:r>
            <a:endParaRPr sz="2800">
              <a:latin typeface="Times New Roman"/>
              <a:cs typeface="Times New Roman"/>
            </a:endParaRPr>
          </a:p>
          <a:p>
            <a:pPr marL="241300" marR="147320" indent="-228600">
              <a:lnSpc>
                <a:spcPct val="802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360" dirty="0">
                <a:latin typeface="Times New Roman"/>
                <a:cs typeface="Times New Roman"/>
              </a:rPr>
              <a:t>summary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calculation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often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indicates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total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value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across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members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the </a:t>
            </a:r>
            <a:r>
              <a:rPr sz="2800" spc="280" dirty="0">
                <a:latin typeface="Times New Roman"/>
                <a:cs typeface="Times New Roman"/>
              </a:rPr>
              <a:t>central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85" dirty="0">
                <a:latin typeface="Times New Roman"/>
                <a:cs typeface="Times New Roman"/>
              </a:rPr>
              <a:t>tendency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dimension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such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as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average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median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04" dirty="0">
                <a:latin typeface="Times New Roman"/>
                <a:cs typeface="Times New Roman"/>
              </a:rPr>
              <a:t>value.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Slice-</a:t>
            </a:r>
            <a:r>
              <a:rPr spc="-10" dirty="0"/>
              <a:t>Summarize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162" y="1708943"/>
            <a:ext cx="7813675" cy="20751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2186" y="3873500"/>
            <a:ext cx="7493634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0400"/>
              </a:lnSpc>
              <a:spcBef>
                <a:spcPts val="90"/>
              </a:spcBef>
            </a:pPr>
            <a:r>
              <a:rPr sz="1800" spc="145" dirty="0">
                <a:latin typeface="Times New Roman"/>
                <a:cs typeface="Times New Roman"/>
              </a:rPr>
              <a:t>For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150" dirty="0">
                <a:latin typeface="Times New Roman"/>
                <a:cs typeface="Times New Roman"/>
              </a:rPr>
              <a:t>example,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45" dirty="0">
                <a:latin typeface="Times New Roman"/>
                <a:cs typeface="Times New Roman"/>
              </a:rPr>
              <a:t>Figure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55" dirty="0">
                <a:latin typeface="Times New Roman"/>
                <a:cs typeface="Times New Roman"/>
              </a:rPr>
              <a:t>shows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the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75" dirty="0">
                <a:latin typeface="Times New Roman"/>
                <a:cs typeface="Times New Roman"/>
              </a:rPr>
              <a:t>result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204" dirty="0">
                <a:latin typeface="Times New Roman"/>
                <a:cs typeface="Times New Roman"/>
              </a:rPr>
              <a:t>a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slice-</a:t>
            </a:r>
            <a:r>
              <a:rPr sz="1800" spc="190" dirty="0">
                <a:latin typeface="Times New Roman"/>
                <a:cs typeface="Times New Roman"/>
              </a:rPr>
              <a:t>summarize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50" dirty="0">
                <a:latin typeface="Times New Roman"/>
                <a:cs typeface="Times New Roman"/>
              </a:rPr>
              <a:t>operation </a:t>
            </a:r>
            <a:r>
              <a:rPr sz="1800" spc="185" dirty="0">
                <a:latin typeface="Times New Roman"/>
                <a:cs typeface="Times New Roman"/>
              </a:rPr>
              <a:t>where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the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70" dirty="0">
                <a:latin typeface="Times New Roman"/>
                <a:cs typeface="Times New Roman"/>
              </a:rPr>
              <a:t>Product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155" dirty="0">
                <a:latin typeface="Times New Roman"/>
                <a:cs typeface="Times New Roman"/>
              </a:rPr>
              <a:t>dimension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Times New Roman"/>
                <a:cs typeface="Times New Roman"/>
              </a:rPr>
              <a:t>is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55" dirty="0">
                <a:latin typeface="Times New Roman"/>
                <a:cs typeface="Times New Roman"/>
              </a:rPr>
              <a:t>replaced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40" dirty="0">
                <a:latin typeface="Times New Roman"/>
                <a:cs typeface="Times New Roman"/>
              </a:rPr>
              <a:t>by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the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215" dirty="0">
                <a:latin typeface="Times New Roman"/>
                <a:cs typeface="Times New Roman"/>
              </a:rPr>
              <a:t>sum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50" dirty="0">
                <a:latin typeface="Times New Roman"/>
                <a:cs typeface="Times New Roman"/>
              </a:rPr>
              <a:t>sales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across </a:t>
            </a:r>
            <a:r>
              <a:rPr sz="1800" spc="100" dirty="0">
                <a:latin typeface="Times New Roman"/>
                <a:cs typeface="Times New Roman"/>
              </a:rPr>
              <a:t>all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products.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170" dirty="0">
                <a:latin typeface="Times New Roman"/>
                <a:cs typeface="Times New Roman"/>
              </a:rPr>
              <a:t>new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55" dirty="0">
                <a:latin typeface="Times New Roman"/>
                <a:cs typeface="Times New Roman"/>
              </a:rPr>
              <a:t>column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Times New Roman"/>
                <a:cs typeface="Times New Roman"/>
              </a:rPr>
              <a:t>called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Times New Roman"/>
                <a:cs typeface="Times New Roman"/>
              </a:rPr>
              <a:t>Total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130" dirty="0">
                <a:latin typeface="Times New Roman"/>
                <a:cs typeface="Times New Roman"/>
              </a:rPr>
              <a:t>Sales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80" dirty="0">
                <a:latin typeface="Times New Roman"/>
                <a:cs typeface="Times New Roman"/>
              </a:rPr>
              <a:t>can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20" dirty="0">
                <a:latin typeface="Times New Roman"/>
                <a:cs typeface="Times New Roman"/>
              </a:rPr>
              <a:t>be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70" dirty="0">
                <a:latin typeface="Times New Roman"/>
                <a:cs typeface="Times New Roman"/>
              </a:rPr>
              <a:t>added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50" dirty="0">
                <a:latin typeface="Times New Roman"/>
                <a:cs typeface="Times New Roman"/>
              </a:rPr>
              <a:t>to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store </a:t>
            </a:r>
            <a:r>
              <a:rPr sz="1800" spc="135" dirty="0">
                <a:latin typeface="Times New Roman"/>
                <a:cs typeface="Times New Roman"/>
              </a:rPr>
              <a:t>overall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75" dirty="0">
                <a:latin typeface="Times New Roman"/>
                <a:cs typeface="Times New Roman"/>
              </a:rPr>
              <a:t>product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50" dirty="0">
                <a:latin typeface="Times New Roman"/>
                <a:cs typeface="Times New Roman"/>
              </a:rPr>
              <a:t>sales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for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180" dirty="0">
                <a:latin typeface="Times New Roman"/>
                <a:cs typeface="Times New Roman"/>
              </a:rPr>
              <a:t>entire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120" dirty="0">
                <a:latin typeface="Times New Roman"/>
                <a:cs typeface="Times New Roman"/>
              </a:rPr>
              <a:t>year.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Dice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567295" cy="24974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2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35" dirty="0">
                <a:latin typeface="Times New Roman"/>
                <a:cs typeface="Times New Roman"/>
              </a:rPr>
              <a:t>Because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15" dirty="0">
                <a:latin typeface="Times New Roman"/>
                <a:cs typeface="Times New Roman"/>
              </a:rPr>
              <a:t>individual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dimensions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95" dirty="0">
                <a:latin typeface="Times New Roman"/>
                <a:cs typeface="Times New Roman"/>
              </a:rPr>
              <a:t>can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contain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large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number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members,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users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need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to </a:t>
            </a:r>
            <a:r>
              <a:rPr sz="2800" spc="170" dirty="0">
                <a:latin typeface="Times New Roman"/>
                <a:cs typeface="Times New Roman"/>
              </a:rPr>
              <a:t>focus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on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65" dirty="0">
                <a:latin typeface="Times New Roman"/>
                <a:cs typeface="Times New Roman"/>
              </a:rPr>
              <a:t>subset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members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95" dirty="0">
                <a:latin typeface="Times New Roman"/>
                <a:cs typeface="Times New Roman"/>
              </a:rPr>
              <a:t>gain </a:t>
            </a:r>
            <a:r>
              <a:rPr sz="2800" spc="210" dirty="0">
                <a:latin typeface="Times New Roman"/>
                <a:cs typeface="Times New Roman"/>
              </a:rPr>
              <a:t>insights.</a:t>
            </a:r>
            <a:endParaRPr sz="2800">
              <a:latin typeface="Times New Roman"/>
              <a:cs typeface="Times New Roman"/>
            </a:endParaRPr>
          </a:p>
          <a:p>
            <a:pPr marL="241300" marR="464184" indent="-228600">
              <a:lnSpc>
                <a:spcPts val="300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90" dirty="0">
                <a:latin typeface="Times New Roman"/>
                <a:cs typeface="Times New Roman"/>
              </a:rPr>
              <a:t>dice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85" dirty="0">
                <a:latin typeface="Times New Roman"/>
                <a:cs typeface="Times New Roman"/>
              </a:rPr>
              <a:t>operator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replaces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dimension </a:t>
            </a:r>
            <a:r>
              <a:rPr sz="2800" spc="245" dirty="0">
                <a:latin typeface="Times New Roman"/>
                <a:cs typeface="Times New Roman"/>
              </a:rPr>
              <a:t>with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65" dirty="0">
                <a:latin typeface="Times New Roman"/>
                <a:cs typeface="Times New Roman"/>
              </a:rPr>
              <a:t>subset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values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dimension.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Dice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9224" y="1717311"/>
            <a:ext cx="7754372" cy="20500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5393" y="3873500"/>
            <a:ext cx="7486650" cy="1394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99700"/>
              </a:lnSpc>
              <a:spcBef>
                <a:spcPts val="105"/>
              </a:spcBef>
            </a:pPr>
            <a:r>
              <a:rPr sz="1800" spc="145" dirty="0">
                <a:latin typeface="Times New Roman"/>
                <a:cs typeface="Times New Roman"/>
              </a:rPr>
              <a:t>For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50" dirty="0">
                <a:latin typeface="Times New Roman"/>
                <a:cs typeface="Times New Roman"/>
              </a:rPr>
              <a:t>example,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45" dirty="0">
                <a:latin typeface="Times New Roman"/>
                <a:cs typeface="Times New Roman"/>
              </a:rPr>
              <a:t>Figure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55" dirty="0">
                <a:latin typeface="Times New Roman"/>
                <a:cs typeface="Times New Roman"/>
              </a:rPr>
              <a:t>shows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the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75" dirty="0">
                <a:latin typeface="Times New Roman"/>
                <a:cs typeface="Times New Roman"/>
              </a:rPr>
              <a:t>result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204" dirty="0">
                <a:latin typeface="Times New Roman"/>
                <a:cs typeface="Times New Roman"/>
              </a:rPr>
              <a:t>a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Times New Roman"/>
                <a:cs typeface="Times New Roman"/>
              </a:rPr>
              <a:t>dicing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operation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150" dirty="0">
                <a:latin typeface="Times New Roman"/>
                <a:cs typeface="Times New Roman"/>
              </a:rPr>
              <a:t>to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125" dirty="0">
                <a:latin typeface="Times New Roman"/>
                <a:cs typeface="Times New Roman"/>
              </a:rPr>
              <a:t>display </a:t>
            </a:r>
            <a:r>
              <a:rPr sz="1800" spc="150" dirty="0">
                <a:latin typeface="Times New Roman"/>
                <a:cs typeface="Times New Roman"/>
              </a:rPr>
              <a:t>sales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for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75" dirty="0">
                <a:latin typeface="Times New Roman"/>
                <a:cs typeface="Times New Roman"/>
              </a:rPr>
              <a:t>State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Utah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for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250" dirty="0">
                <a:latin typeface="Times New Roman"/>
                <a:cs typeface="Times New Roman"/>
              </a:rPr>
              <a:t>January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100" dirty="0">
                <a:latin typeface="Times New Roman"/>
                <a:cs typeface="Times New Roman"/>
              </a:rPr>
              <a:t>1,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2006.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85" dirty="0">
                <a:latin typeface="Times New Roman"/>
                <a:cs typeface="Times New Roman"/>
              </a:rPr>
              <a:t>Dicing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20" dirty="0">
                <a:latin typeface="Times New Roman"/>
                <a:cs typeface="Times New Roman"/>
              </a:rPr>
              <a:t>typically </a:t>
            </a:r>
            <a:r>
              <a:rPr sz="1800" spc="70" dirty="0">
                <a:latin typeface="Times New Roman"/>
                <a:cs typeface="Times New Roman"/>
              </a:rPr>
              <a:t>follows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204" dirty="0">
                <a:latin typeface="Times New Roman"/>
                <a:cs typeface="Times New Roman"/>
              </a:rPr>
              <a:t>a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slicing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operation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204" dirty="0">
                <a:latin typeface="Times New Roman"/>
                <a:cs typeface="Times New Roman"/>
              </a:rPr>
              <a:t>and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225" dirty="0">
                <a:latin typeface="Times New Roman"/>
                <a:cs typeface="Times New Roman"/>
              </a:rPr>
              <a:t>returns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204" dirty="0">
                <a:latin typeface="Times New Roman"/>
                <a:cs typeface="Times New Roman"/>
              </a:rPr>
              <a:t>a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70" dirty="0">
                <a:latin typeface="Times New Roman"/>
                <a:cs typeface="Times New Roman"/>
              </a:rPr>
              <a:t>subset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the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45" dirty="0">
                <a:latin typeface="Times New Roman"/>
                <a:cs typeface="Times New Roman"/>
              </a:rPr>
              <a:t>values </a:t>
            </a:r>
            <a:r>
              <a:rPr sz="1800" spc="140" dirty="0">
                <a:latin typeface="Times New Roman"/>
                <a:cs typeface="Times New Roman"/>
              </a:rPr>
              <a:t>displayed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145" dirty="0">
                <a:latin typeface="Times New Roman"/>
                <a:cs typeface="Times New Roman"/>
              </a:rPr>
              <a:t>in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50" dirty="0">
                <a:latin typeface="Times New Roman"/>
                <a:cs typeface="Times New Roman"/>
              </a:rPr>
              <a:t>preceding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90" dirty="0">
                <a:latin typeface="Times New Roman"/>
                <a:cs typeface="Times New Roman"/>
              </a:rPr>
              <a:t>slice.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45" dirty="0">
                <a:latin typeface="Times New Roman"/>
                <a:cs typeface="Times New Roman"/>
              </a:rPr>
              <a:t>It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55" dirty="0">
                <a:latin typeface="Times New Roman"/>
                <a:cs typeface="Times New Roman"/>
              </a:rPr>
              <a:t>helps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05" dirty="0">
                <a:latin typeface="Times New Roman"/>
                <a:cs typeface="Times New Roman"/>
              </a:rPr>
              <a:t>focus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80" dirty="0">
                <a:latin typeface="Times New Roman"/>
                <a:cs typeface="Times New Roman"/>
              </a:rPr>
              <a:t>attention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on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55" dirty="0">
                <a:latin typeface="Times New Roman"/>
                <a:cs typeface="Times New Roman"/>
              </a:rPr>
              <a:t>one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55" dirty="0">
                <a:latin typeface="Times New Roman"/>
                <a:cs typeface="Times New Roman"/>
              </a:rPr>
              <a:t>or </a:t>
            </a:r>
            <a:r>
              <a:rPr sz="1800" spc="190" dirty="0">
                <a:latin typeface="Times New Roman"/>
                <a:cs typeface="Times New Roman"/>
              </a:rPr>
              <a:t>more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rows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80" dirty="0">
                <a:latin typeface="Times New Roman"/>
                <a:cs typeface="Times New Roman"/>
              </a:rPr>
              <a:t>or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columns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numbers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from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204" dirty="0">
                <a:latin typeface="Times New Roman"/>
                <a:cs typeface="Times New Roman"/>
              </a:rPr>
              <a:t>a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80" dirty="0">
                <a:latin typeface="Times New Roman"/>
                <a:cs typeface="Times New Roman"/>
              </a:rPr>
              <a:t>slice.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Dice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855" y="1588008"/>
            <a:ext cx="2923032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Drill-</a:t>
            </a:r>
            <a:r>
              <a:rPr spc="-20" dirty="0"/>
              <a:t>Down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6985634" cy="211645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 algn="just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35" dirty="0">
                <a:latin typeface="Times New Roman"/>
                <a:cs typeface="Times New Roman"/>
              </a:rPr>
              <a:t>Users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often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10" dirty="0">
                <a:latin typeface="Times New Roman"/>
                <a:cs typeface="Times New Roman"/>
              </a:rPr>
              <a:t>want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navigate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among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90" dirty="0">
                <a:latin typeface="Times New Roman"/>
                <a:cs typeface="Times New Roman"/>
              </a:rPr>
              <a:t>the </a:t>
            </a:r>
            <a:r>
              <a:rPr sz="2800" spc="190" dirty="0">
                <a:latin typeface="Times New Roman"/>
                <a:cs typeface="Times New Roman"/>
              </a:rPr>
              <a:t>levels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254" dirty="0">
                <a:latin typeface="Times New Roman"/>
                <a:cs typeface="Times New Roman"/>
              </a:rPr>
              <a:t>hierarchical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dimensions.</a:t>
            </a:r>
            <a:endParaRPr sz="2800">
              <a:latin typeface="Times New Roman"/>
              <a:cs typeface="Times New Roman"/>
            </a:endParaRPr>
          </a:p>
          <a:p>
            <a:pPr marL="241300" marR="95250" indent="-228600" algn="just">
              <a:lnSpc>
                <a:spcPct val="91100"/>
              </a:lnSpc>
              <a:spcBef>
                <a:spcPts val="8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5" dirty="0">
                <a:latin typeface="Times New Roman"/>
                <a:cs typeface="Times New Roman"/>
              </a:rPr>
              <a:t>The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35" dirty="0">
                <a:latin typeface="Times New Roman"/>
                <a:cs typeface="Times New Roman"/>
              </a:rPr>
              <a:t>drill-</a:t>
            </a:r>
            <a:r>
              <a:rPr sz="2800" spc="229" dirty="0">
                <a:latin typeface="Times New Roman"/>
                <a:cs typeface="Times New Roman"/>
              </a:rPr>
              <a:t>down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285" dirty="0">
                <a:latin typeface="Times New Roman"/>
                <a:cs typeface="Times New Roman"/>
              </a:rPr>
              <a:t>operator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175" dirty="0">
                <a:latin typeface="Times New Roman"/>
                <a:cs typeface="Times New Roman"/>
              </a:rPr>
              <a:t>allows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305" dirty="0">
                <a:latin typeface="Times New Roman"/>
                <a:cs typeface="Times New Roman"/>
              </a:rPr>
              <a:t>users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10" dirty="0">
                <a:latin typeface="Times New Roman"/>
                <a:cs typeface="Times New Roman"/>
              </a:rPr>
              <a:t>to </a:t>
            </a:r>
            <a:r>
              <a:rPr sz="2800" spc="245" dirty="0">
                <a:latin typeface="Times New Roman"/>
                <a:cs typeface="Times New Roman"/>
              </a:rPr>
              <a:t>navigate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from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300" dirty="0">
                <a:latin typeface="Times New Roman"/>
                <a:cs typeface="Times New Roman"/>
              </a:rPr>
              <a:t>more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general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level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a </a:t>
            </a:r>
            <a:r>
              <a:rPr sz="2800" spc="300" dirty="0">
                <a:latin typeface="Times New Roman"/>
                <a:cs typeface="Times New Roman"/>
              </a:rPr>
              <a:t>more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75" dirty="0">
                <a:latin typeface="Times New Roman"/>
                <a:cs typeface="Times New Roman"/>
              </a:rPr>
              <a:t>specific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40" dirty="0">
                <a:latin typeface="Times New Roman"/>
                <a:cs typeface="Times New Roman"/>
              </a:rPr>
              <a:t>level.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Drill-</a:t>
            </a:r>
            <a:r>
              <a:rPr spc="-20" dirty="0"/>
              <a:t>Down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8053" y="4483100"/>
            <a:ext cx="7061200" cy="8458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635" algn="ctr">
              <a:lnSpc>
                <a:spcPct val="99400"/>
              </a:lnSpc>
              <a:spcBef>
                <a:spcPts val="110"/>
              </a:spcBef>
            </a:pPr>
            <a:r>
              <a:rPr sz="1800" spc="145" dirty="0">
                <a:latin typeface="Times New Roman"/>
                <a:cs typeface="Times New Roman"/>
              </a:rPr>
              <a:t>Figure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155" dirty="0">
                <a:latin typeface="Times New Roman"/>
                <a:cs typeface="Times New Roman"/>
              </a:rPr>
              <a:t>shows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204" dirty="0">
                <a:latin typeface="Times New Roman"/>
                <a:cs typeface="Times New Roman"/>
              </a:rPr>
              <a:t>a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90" dirty="0">
                <a:latin typeface="Times New Roman"/>
                <a:cs typeface="Times New Roman"/>
              </a:rPr>
              <a:t>drill-</a:t>
            </a:r>
            <a:r>
              <a:rPr sz="1800" spc="150" dirty="0">
                <a:latin typeface="Times New Roman"/>
                <a:cs typeface="Times New Roman"/>
              </a:rPr>
              <a:t>down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operation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on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the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175" dirty="0">
                <a:latin typeface="Times New Roman"/>
                <a:cs typeface="Times New Roman"/>
              </a:rPr>
              <a:t>State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Utah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175" dirty="0">
                <a:latin typeface="Times New Roman"/>
                <a:cs typeface="Times New Roman"/>
              </a:rPr>
              <a:t>the </a:t>
            </a:r>
            <a:r>
              <a:rPr sz="1800" spc="125" dirty="0">
                <a:latin typeface="Times New Roman"/>
                <a:cs typeface="Times New Roman"/>
              </a:rPr>
              <a:t>Location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45" dirty="0">
                <a:latin typeface="Times New Roman"/>
                <a:cs typeface="Times New Roman"/>
              </a:rPr>
              <a:t>dimension.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14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150" dirty="0">
                <a:latin typeface="Times New Roman"/>
                <a:cs typeface="Times New Roman"/>
              </a:rPr>
              <a:t>plus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40" dirty="0">
                <a:latin typeface="Times New Roman"/>
                <a:cs typeface="Times New Roman"/>
              </a:rPr>
              <a:t>sign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40" dirty="0">
                <a:latin typeface="Times New Roman"/>
                <a:cs typeface="Times New Roman"/>
              </a:rPr>
              <a:t>by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60" dirty="0">
                <a:latin typeface="Times New Roman"/>
                <a:cs typeface="Times New Roman"/>
              </a:rPr>
              <a:t>Utah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50" dirty="0">
                <a:latin typeface="Times New Roman"/>
                <a:cs typeface="Times New Roman"/>
              </a:rPr>
              <a:t>indicates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204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90" dirty="0">
                <a:latin typeface="Times New Roman"/>
                <a:cs typeface="Times New Roman"/>
              </a:rPr>
              <a:t>drill-</a:t>
            </a:r>
            <a:r>
              <a:rPr sz="1800" spc="125" dirty="0">
                <a:latin typeface="Times New Roman"/>
                <a:cs typeface="Times New Roman"/>
              </a:rPr>
              <a:t>down </a:t>
            </a:r>
            <a:r>
              <a:rPr sz="1800" spc="140" dirty="0">
                <a:latin typeface="Times New Roman"/>
                <a:cs typeface="Times New Roman"/>
              </a:rPr>
              <a:t>operation.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107" y="1692259"/>
            <a:ext cx="7783724" cy="275609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Drill-</a:t>
            </a:r>
            <a:r>
              <a:rPr spc="-20" dirty="0"/>
              <a:t>Down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327" y="1688592"/>
            <a:ext cx="4642104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Roll-Up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95778"/>
            <a:ext cx="7537450" cy="33966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80" dirty="0">
                <a:latin typeface="Times New Roman"/>
                <a:cs typeface="Times New Roman"/>
              </a:rPr>
              <a:t>Roll-</a:t>
            </a:r>
            <a:r>
              <a:rPr sz="2800" spc="300" dirty="0">
                <a:latin typeface="Times New Roman"/>
                <a:cs typeface="Times New Roman"/>
              </a:rPr>
              <a:t>up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25" dirty="0">
                <a:latin typeface="Times New Roman"/>
                <a:cs typeface="Times New Roman"/>
              </a:rPr>
              <a:t>(also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95" dirty="0">
                <a:latin typeface="Times New Roman"/>
                <a:cs typeface="Times New Roman"/>
              </a:rPr>
              <a:t>called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35" dirty="0">
                <a:latin typeface="Times New Roman"/>
                <a:cs typeface="Times New Roman"/>
              </a:rPr>
              <a:t>drill-</a:t>
            </a:r>
            <a:r>
              <a:rPr sz="2800" spc="305" dirty="0">
                <a:latin typeface="Times New Roman"/>
                <a:cs typeface="Times New Roman"/>
              </a:rPr>
              <a:t>up)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180" dirty="0">
                <a:latin typeface="Times New Roman"/>
                <a:cs typeface="Times New Roman"/>
              </a:rPr>
              <a:t>is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15" dirty="0">
                <a:latin typeface="Times New Roman"/>
                <a:cs typeface="Times New Roman"/>
              </a:rPr>
              <a:t>the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04" dirty="0">
                <a:latin typeface="Times New Roman"/>
                <a:cs typeface="Times New Roman"/>
              </a:rPr>
              <a:t>opposite </a:t>
            </a:r>
            <a:r>
              <a:rPr sz="2800" spc="70" dirty="0">
                <a:latin typeface="Times New Roman"/>
                <a:cs typeface="Times New Roman"/>
              </a:rPr>
              <a:t>of </a:t>
            </a:r>
            <a:r>
              <a:rPr sz="2800" spc="135" dirty="0">
                <a:latin typeface="Times New Roman"/>
                <a:cs typeface="Times New Roman"/>
              </a:rPr>
              <a:t>drill-</a:t>
            </a:r>
            <a:r>
              <a:rPr sz="2800" spc="185" dirty="0">
                <a:latin typeface="Times New Roman"/>
                <a:cs typeface="Times New Roman"/>
              </a:rPr>
              <a:t>down.</a:t>
            </a:r>
            <a:endParaRPr sz="2800">
              <a:latin typeface="Times New Roman"/>
              <a:cs typeface="Times New Roman"/>
            </a:endParaRPr>
          </a:p>
          <a:p>
            <a:pPr marL="241300" marR="628015" indent="-228600">
              <a:lnSpc>
                <a:spcPct val="91100"/>
              </a:lnSpc>
              <a:spcBef>
                <a:spcPts val="8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80" dirty="0">
                <a:latin typeface="Times New Roman"/>
                <a:cs typeface="Times New Roman"/>
              </a:rPr>
              <a:t>Roll-</a:t>
            </a:r>
            <a:r>
              <a:rPr sz="2800" spc="300" dirty="0">
                <a:latin typeface="Times New Roman"/>
                <a:cs typeface="Times New Roman"/>
              </a:rPr>
              <a:t>up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00" dirty="0">
                <a:latin typeface="Times New Roman"/>
                <a:cs typeface="Times New Roman"/>
              </a:rPr>
              <a:t>involves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moving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from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65" dirty="0">
                <a:latin typeface="Times New Roman"/>
                <a:cs typeface="Times New Roman"/>
              </a:rPr>
              <a:t>specific </a:t>
            </a:r>
            <a:r>
              <a:rPr sz="2800" spc="170" dirty="0">
                <a:latin typeface="Times New Roman"/>
                <a:cs typeface="Times New Roman"/>
              </a:rPr>
              <a:t>level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00" dirty="0">
                <a:latin typeface="Times New Roman"/>
                <a:cs typeface="Times New Roman"/>
              </a:rPr>
              <a:t>more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50" dirty="0">
                <a:latin typeface="Times New Roman"/>
                <a:cs typeface="Times New Roman"/>
              </a:rPr>
              <a:t>general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level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a </a:t>
            </a:r>
            <a:r>
              <a:rPr sz="2800" spc="254" dirty="0">
                <a:latin typeface="Times New Roman"/>
                <a:cs typeface="Times New Roman"/>
              </a:rPr>
              <a:t>hierarchical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220" dirty="0">
                <a:latin typeface="Times New Roman"/>
                <a:cs typeface="Times New Roman"/>
              </a:rPr>
              <a:t>dimension.</a:t>
            </a:r>
            <a:endParaRPr sz="2800">
              <a:latin typeface="Times New Roman"/>
              <a:cs typeface="Times New Roman"/>
            </a:endParaRPr>
          </a:p>
          <a:p>
            <a:pPr marL="241300" marR="79375" indent="-228600" algn="just">
              <a:lnSpc>
                <a:spcPct val="90700"/>
              </a:lnSpc>
              <a:spcBef>
                <a:spcPts val="9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20" dirty="0">
                <a:latin typeface="Times New Roman"/>
                <a:cs typeface="Times New Roman"/>
              </a:rPr>
              <a:t>For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240" dirty="0">
                <a:latin typeface="Times New Roman"/>
                <a:cs typeface="Times New Roman"/>
              </a:rPr>
              <a:t>example,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33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00" dirty="0">
                <a:latin typeface="Times New Roman"/>
                <a:cs typeface="Times New Roman"/>
              </a:rPr>
              <a:t>decision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35" dirty="0">
                <a:latin typeface="Times New Roman"/>
                <a:cs typeface="Times New Roman"/>
              </a:rPr>
              <a:t>maker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may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75" dirty="0">
                <a:latin typeface="Times New Roman"/>
                <a:cs typeface="Times New Roman"/>
              </a:rPr>
              <a:t>roll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75" dirty="0">
                <a:latin typeface="Times New Roman"/>
                <a:cs typeface="Times New Roman"/>
              </a:rPr>
              <a:t>up </a:t>
            </a:r>
            <a:r>
              <a:rPr sz="2800" spc="240" dirty="0">
                <a:latin typeface="Times New Roman"/>
                <a:cs typeface="Times New Roman"/>
              </a:rPr>
              <a:t>sales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320" dirty="0">
                <a:latin typeface="Times New Roman"/>
                <a:cs typeface="Times New Roman"/>
              </a:rPr>
              <a:t>data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45" dirty="0">
                <a:latin typeface="Times New Roman"/>
                <a:cs typeface="Times New Roman"/>
              </a:rPr>
              <a:t>from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95" dirty="0">
                <a:latin typeface="Times New Roman"/>
                <a:cs typeface="Times New Roman"/>
              </a:rPr>
              <a:t>daily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3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285" dirty="0">
                <a:latin typeface="Times New Roman"/>
                <a:cs typeface="Times New Roman"/>
              </a:rPr>
              <a:t>quarterly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70" dirty="0">
                <a:latin typeface="Times New Roman"/>
                <a:cs typeface="Times New Roman"/>
              </a:rPr>
              <a:t>level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145" dirty="0">
                <a:latin typeface="Times New Roman"/>
                <a:cs typeface="Times New Roman"/>
              </a:rPr>
              <a:t>for </a:t>
            </a:r>
            <a:r>
              <a:rPr sz="2800" spc="195" dirty="0">
                <a:latin typeface="Times New Roman"/>
                <a:cs typeface="Times New Roman"/>
              </a:rPr>
              <a:t>end-</a:t>
            </a:r>
            <a:r>
              <a:rPr sz="2800" dirty="0">
                <a:latin typeface="Times New Roman"/>
                <a:cs typeface="Times New Roman"/>
              </a:rPr>
              <a:t>of-</a:t>
            </a:r>
            <a:r>
              <a:rPr sz="2800" spc="320" dirty="0">
                <a:latin typeface="Times New Roman"/>
                <a:cs typeface="Times New Roman"/>
              </a:rPr>
              <a:t>quarter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spc="270" dirty="0">
                <a:latin typeface="Times New Roman"/>
                <a:cs typeface="Times New Roman"/>
              </a:rPr>
              <a:t>reporting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needs.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Roll-Up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759" y="1688592"/>
            <a:ext cx="4267200" cy="419709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Pivot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pc="225" dirty="0"/>
              <a:t>The</a:t>
            </a:r>
            <a:r>
              <a:rPr spc="5" dirty="0"/>
              <a:t> </a:t>
            </a:r>
            <a:r>
              <a:rPr spc="210" dirty="0"/>
              <a:t>pivot</a:t>
            </a:r>
            <a:r>
              <a:rPr spc="20" dirty="0"/>
              <a:t> </a:t>
            </a:r>
            <a:r>
              <a:rPr spc="285" dirty="0"/>
              <a:t>operator</a:t>
            </a:r>
            <a:r>
              <a:rPr spc="10" dirty="0"/>
              <a:t> </a:t>
            </a:r>
            <a:r>
              <a:rPr spc="295" dirty="0"/>
              <a:t>supports</a:t>
            </a:r>
            <a:r>
              <a:rPr spc="10" dirty="0"/>
              <a:t> </a:t>
            </a:r>
            <a:r>
              <a:rPr spc="315" dirty="0"/>
              <a:t>rearrangement </a:t>
            </a:r>
            <a:r>
              <a:rPr spc="70" dirty="0"/>
              <a:t>of</a:t>
            </a:r>
            <a:r>
              <a:rPr spc="10" dirty="0"/>
              <a:t> </a:t>
            </a:r>
            <a:r>
              <a:rPr spc="315" dirty="0"/>
              <a:t>the</a:t>
            </a:r>
            <a:r>
              <a:rPr spc="5" dirty="0"/>
              <a:t> </a:t>
            </a:r>
            <a:r>
              <a:rPr spc="250" dirty="0"/>
              <a:t>dimensions</a:t>
            </a:r>
            <a:r>
              <a:rPr spc="5" dirty="0"/>
              <a:t> </a:t>
            </a:r>
            <a:r>
              <a:rPr spc="229" dirty="0"/>
              <a:t>in</a:t>
            </a:r>
            <a:r>
              <a:rPr spc="10" dirty="0"/>
              <a:t> </a:t>
            </a:r>
            <a:r>
              <a:rPr spc="330" dirty="0"/>
              <a:t>a</a:t>
            </a:r>
            <a:r>
              <a:rPr spc="5" dirty="0"/>
              <a:t> </a:t>
            </a:r>
            <a:r>
              <a:rPr spc="320" dirty="0"/>
              <a:t>data</a:t>
            </a:r>
            <a:r>
              <a:rPr dirty="0"/>
              <a:t> </a:t>
            </a:r>
            <a:r>
              <a:rPr spc="170" dirty="0"/>
              <a:t>cube.</a:t>
            </a:r>
          </a:p>
          <a:p>
            <a:pPr marL="241300" marR="652780" indent="-228600">
              <a:lnSpc>
                <a:spcPct val="90500"/>
              </a:lnSpc>
              <a:spcBef>
                <a:spcPts val="900"/>
              </a:spcBef>
              <a:buFont typeface="Arial"/>
              <a:buChar char="•"/>
              <a:tabLst>
                <a:tab pos="241300" algn="l"/>
              </a:tabLst>
            </a:pPr>
            <a:r>
              <a:rPr spc="220" dirty="0"/>
              <a:t>For</a:t>
            </a:r>
            <a:r>
              <a:rPr spc="5" dirty="0"/>
              <a:t> </a:t>
            </a:r>
            <a:r>
              <a:rPr spc="240" dirty="0"/>
              <a:t>example,</a:t>
            </a:r>
            <a:r>
              <a:rPr spc="5" dirty="0"/>
              <a:t> </a:t>
            </a:r>
            <a:r>
              <a:rPr spc="315" dirty="0"/>
              <a:t>the</a:t>
            </a:r>
            <a:r>
              <a:rPr spc="5" dirty="0"/>
              <a:t> </a:t>
            </a:r>
            <a:r>
              <a:rPr spc="210" dirty="0"/>
              <a:t>position</a:t>
            </a:r>
            <a:r>
              <a:rPr spc="10" dirty="0"/>
              <a:t> </a:t>
            </a:r>
            <a:r>
              <a:rPr spc="70" dirty="0"/>
              <a:t>of</a:t>
            </a:r>
            <a:r>
              <a:rPr spc="15" dirty="0"/>
              <a:t> </a:t>
            </a:r>
            <a:r>
              <a:rPr spc="315" dirty="0"/>
              <a:t>the</a:t>
            </a:r>
            <a:r>
              <a:rPr dirty="0"/>
              <a:t> </a:t>
            </a:r>
            <a:r>
              <a:rPr spc="254" dirty="0"/>
              <a:t>Product </a:t>
            </a:r>
            <a:r>
              <a:rPr spc="325" dirty="0"/>
              <a:t>and</a:t>
            </a:r>
            <a:r>
              <a:rPr spc="10" dirty="0"/>
              <a:t> </a:t>
            </a:r>
            <a:r>
              <a:rPr spc="315" dirty="0"/>
              <a:t>the</a:t>
            </a:r>
            <a:r>
              <a:rPr spc="10" dirty="0"/>
              <a:t> </a:t>
            </a:r>
            <a:r>
              <a:rPr spc="200" dirty="0"/>
              <a:t>Location</a:t>
            </a:r>
            <a:r>
              <a:rPr spc="15" dirty="0"/>
              <a:t> </a:t>
            </a:r>
            <a:r>
              <a:rPr spc="250" dirty="0"/>
              <a:t>dimensions</a:t>
            </a:r>
            <a:r>
              <a:rPr spc="10" dirty="0"/>
              <a:t> </a:t>
            </a:r>
            <a:r>
              <a:rPr spc="295" dirty="0"/>
              <a:t>can</a:t>
            </a:r>
            <a:r>
              <a:rPr spc="15" dirty="0"/>
              <a:t> </a:t>
            </a:r>
            <a:r>
              <a:rPr spc="170" dirty="0"/>
              <a:t>be </a:t>
            </a:r>
            <a:r>
              <a:rPr spc="290" dirty="0"/>
              <a:t>reversed</a:t>
            </a:r>
            <a:r>
              <a:rPr spc="10" dirty="0"/>
              <a:t> </a:t>
            </a:r>
            <a:r>
              <a:rPr spc="200" dirty="0"/>
              <a:t>so</a:t>
            </a:r>
            <a:r>
              <a:rPr spc="15" dirty="0"/>
              <a:t> </a:t>
            </a:r>
            <a:r>
              <a:rPr spc="345" dirty="0"/>
              <a:t>that</a:t>
            </a:r>
            <a:r>
              <a:rPr spc="25" dirty="0"/>
              <a:t> </a:t>
            </a:r>
            <a:r>
              <a:rPr spc="265" dirty="0"/>
              <a:t>Product</a:t>
            </a:r>
            <a:r>
              <a:rPr spc="25" dirty="0"/>
              <a:t> </a:t>
            </a:r>
            <a:r>
              <a:rPr spc="305" dirty="0"/>
              <a:t>appears</a:t>
            </a:r>
            <a:r>
              <a:rPr spc="15" dirty="0"/>
              <a:t> </a:t>
            </a:r>
            <a:r>
              <a:rPr spc="245" dirty="0"/>
              <a:t>on</a:t>
            </a:r>
            <a:r>
              <a:rPr spc="15" dirty="0"/>
              <a:t> </a:t>
            </a:r>
            <a:r>
              <a:rPr spc="290" dirty="0"/>
              <a:t>the </a:t>
            </a:r>
            <a:r>
              <a:rPr spc="245" dirty="0"/>
              <a:t>rows</a:t>
            </a:r>
            <a:r>
              <a:rPr dirty="0"/>
              <a:t> </a:t>
            </a:r>
            <a:r>
              <a:rPr spc="325" dirty="0"/>
              <a:t>and</a:t>
            </a:r>
            <a:r>
              <a:rPr spc="10" dirty="0"/>
              <a:t> </a:t>
            </a:r>
            <a:r>
              <a:rPr spc="200" dirty="0"/>
              <a:t>Location</a:t>
            </a:r>
            <a:r>
              <a:rPr spc="15" dirty="0"/>
              <a:t> </a:t>
            </a:r>
            <a:r>
              <a:rPr spc="245" dirty="0"/>
              <a:t>on</a:t>
            </a:r>
            <a:r>
              <a:rPr spc="15" dirty="0"/>
              <a:t> </a:t>
            </a:r>
            <a:r>
              <a:rPr spc="315" dirty="0"/>
              <a:t>the</a:t>
            </a:r>
            <a:r>
              <a:rPr spc="15" dirty="0"/>
              <a:t> </a:t>
            </a:r>
            <a:r>
              <a:rPr spc="215" dirty="0"/>
              <a:t>columns.</a:t>
            </a:r>
          </a:p>
          <a:p>
            <a:pPr marL="241300" marR="230504" indent="-228600">
              <a:lnSpc>
                <a:spcPct val="90700"/>
              </a:lnSpc>
              <a:spcBef>
                <a:spcPts val="940"/>
              </a:spcBef>
              <a:buFont typeface="Arial"/>
              <a:buChar char="•"/>
              <a:tabLst>
                <a:tab pos="241300" algn="l"/>
              </a:tabLst>
            </a:pPr>
            <a:r>
              <a:rPr spc="225" dirty="0"/>
              <a:t>The</a:t>
            </a:r>
            <a:r>
              <a:rPr dirty="0"/>
              <a:t> </a:t>
            </a:r>
            <a:r>
              <a:rPr spc="210" dirty="0"/>
              <a:t>pivot</a:t>
            </a:r>
            <a:r>
              <a:rPr spc="10" dirty="0"/>
              <a:t> </a:t>
            </a:r>
            <a:r>
              <a:rPr spc="285" dirty="0"/>
              <a:t>operator</a:t>
            </a:r>
            <a:r>
              <a:rPr spc="5" dirty="0"/>
              <a:t> </a:t>
            </a:r>
            <a:r>
              <a:rPr spc="175" dirty="0"/>
              <a:t>allows</a:t>
            </a:r>
            <a:r>
              <a:rPr dirty="0"/>
              <a:t> </a:t>
            </a:r>
            <a:r>
              <a:rPr spc="330" dirty="0"/>
              <a:t>a</a:t>
            </a:r>
            <a:r>
              <a:rPr spc="5" dirty="0"/>
              <a:t> </a:t>
            </a:r>
            <a:r>
              <a:rPr spc="320" dirty="0"/>
              <a:t>data</a:t>
            </a:r>
            <a:r>
              <a:rPr dirty="0"/>
              <a:t> </a:t>
            </a:r>
            <a:r>
              <a:rPr spc="225" dirty="0"/>
              <a:t>cube</a:t>
            </a:r>
            <a:r>
              <a:rPr dirty="0"/>
              <a:t> </a:t>
            </a:r>
            <a:r>
              <a:rPr spc="235" dirty="0"/>
              <a:t>to</a:t>
            </a:r>
            <a:r>
              <a:rPr dirty="0"/>
              <a:t> </a:t>
            </a:r>
            <a:r>
              <a:rPr spc="170" dirty="0"/>
              <a:t>be </a:t>
            </a:r>
            <a:r>
              <a:rPr spc="295" dirty="0"/>
              <a:t>presented</a:t>
            </a:r>
            <a:r>
              <a:rPr spc="10" dirty="0"/>
              <a:t> </a:t>
            </a:r>
            <a:r>
              <a:rPr spc="229" dirty="0"/>
              <a:t>in</a:t>
            </a:r>
            <a:r>
              <a:rPr spc="15" dirty="0"/>
              <a:t> </a:t>
            </a:r>
            <a:r>
              <a:rPr spc="315" dirty="0"/>
              <a:t>the</a:t>
            </a:r>
            <a:r>
              <a:rPr spc="15" dirty="0"/>
              <a:t> </a:t>
            </a:r>
            <a:r>
              <a:rPr spc="285" dirty="0"/>
              <a:t>most</a:t>
            </a:r>
            <a:r>
              <a:rPr spc="20" dirty="0"/>
              <a:t> </a:t>
            </a:r>
            <a:r>
              <a:rPr spc="229" dirty="0"/>
              <a:t>appealing</a:t>
            </a:r>
            <a:r>
              <a:rPr spc="15" dirty="0"/>
              <a:t> </a:t>
            </a:r>
            <a:r>
              <a:rPr spc="215" dirty="0"/>
              <a:t>visual </a:t>
            </a:r>
            <a:r>
              <a:rPr spc="200" dirty="0"/>
              <a:t>order.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Pivot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944" y="1456944"/>
            <a:ext cx="3563111" cy="444093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Pivot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pc="225" dirty="0"/>
              <a:t>The</a:t>
            </a:r>
            <a:r>
              <a:rPr spc="5" dirty="0"/>
              <a:t> </a:t>
            </a:r>
            <a:r>
              <a:rPr spc="210" dirty="0"/>
              <a:t>pivot</a:t>
            </a:r>
            <a:r>
              <a:rPr spc="20" dirty="0"/>
              <a:t> </a:t>
            </a:r>
            <a:r>
              <a:rPr spc="285" dirty="0"/>
              <a:t>operator</a:t>
            </a:r>
            <a:r>
              <a:rPr spc="10" dirty="0"/>
              <a:t> </a:t>
            </a:r>
            <a:r>
              <a:rPr spc="295" dirty="0"/>
              <a:t>supports</a:t>
            </a:r>
            <a:r>
              <a:rPr spc="10" dirty="0"/>
              <a:t> </a:t>
            </a:r>
            <a:r>
              <a:rPr spc="315" dirty="0"/>
              <a:t>rearrangement </a:t>
            </a:r>
            <a:r>
              <a:rPr spc="70" dirty="0"/>
              <a:t>of</a:t>
            </a:r>
            <a:r>
              <a:rPr spc="10" dirty="0"/>
              <a:t> </a:t>
            </a:r>
            <a:r>
              <a:rPr spc="315" dirty="0"/>
              <a:t>the</a:t>
            </a:r>
            <a:r>
              <a:rPr spc="5" dirty="0"/>
              <a:t> </a:t>
            </a:r>
            <a:r>
              <a:rPr spc="250" dirty="0"/>
              <a:t>dimensions</a:t>
            </a:r>
            <a:r>
              <a:rPr spc="5" dirty="0"/>
              <a:t> </a:t>
            </a:r>
            <a:r>
              <a:rPr spc="229" dirty="0"/>
              <a:t>in</a:t>
            </a:r>
            <a:r>
              <a:rPr spc="10" dirty="0"/>
              <a:t> </a:t>
            </a:r>
            <a:r>
              <a:rPr spc="330" dirty="0"/>
              <a:t>a</a:t>
            </a:r>
            <a:r>
              <a:rPr spc="5" dirty="0"/>
              <a:t> </a:t>
            </a:r>
            <a:r>
              <a:rPr spc="320" dirty="0"/>
              <a:t>data</a:t>
            </a:r>
            <a:r>
              <a:rPr dirty="0"/>
              <a:t> </a:t>
            </a:r>
            <a:r>
              <a:rPr spc="170" dirty="0"/>
              <a:t>cube.</a:t>
            </a:r>
          </a:p>
          <a:p>
            <a:pPr marL="241300" marR="652780" indent="-228600">
              <a:lnSpc>
                <a:spcPct val="90500"/>
              </a:lnSpc>
              <a:spcBef>
                <a:spcPts val="900"/>
              </a:spcBef>
              <a:buFont typeface="Arial"/>
              <a:buChar char="•"/>
              <a:tabLst>
                <a:tab pos="241300" algn="l"/>
              </a:tabLst>
            </a:pPr>
            <a:r>
              <a:rPr spc="220" dirty="0"/>
              <a:t>For</a:t>
            </a:r>
            <a:r>
              <a:rPr spc="5" dirty="0"/>
              <a:t> </a:t>
            </a:r>
            <a:r>
              <a:rPr spc="240" dirty="0"/>
              <a:t>example,</a:t>
            </a:r>
            <a:r>
              <a:rPr spc="5" dirty="0"/>
              <a:t> </a:t>
            </a:r>
            <a:r>
              <a:rPr spc="315" dirty="0"/>
              <a:t>the</a:t>
            </a:r>
            <a:r>
              <a:rPr spc="5" dirty="0"/>
              <a:t> </a:t>
            </a:r>
            <a:r>
              <a:rPr spc="210" dirty="0"/>
              <a:t>position</a:t>
            </a:r>
            <a:r>
              <a:rPr spc="10" dirty="0"/>
              <a:t> </a:t>
            </a:r>
            <a:r>
              <a:rPr spc="70" dirty="0"/>
              <a:t>of</a:t>
            </a:r>
            <a:r>
              <a:rPr spc="15" dirty="0"/>
              <a:t> </a:t>
            </a:r>
            <a:r>
              <a:rPr spc="315" dirty="0"/>
              <a:t>the</a:t>
            </a:r>
            <a:r>
              <a:rPr dirty="0"/>
              <a:t> </a:t>
            </a:r>
            <a:r>
              <a:rPr spc="254" dirty="0"/>
              <a:t>Product </a:t>
            </a:r>
            <a:r>
              <a:rPr spc="325" dirty="0"/>
              <a:t>and</a:t>
            </a:r>
            <a:r>
              <a:rPr spc="10" dirty="0"/>
              <a:t> </a:t>
            </a:r>
            <a:r>
              <a:rPr spc="315" dirty="0"/>
              <a:t>the</a:t>
            </a:r>
            <a:r>
              <a:rPr spc="10" dirty="0"/>
              <a:t> </a:t>
            </a:r>
            <a:r>
              <a:rPr spc="200" dirty="0"/>
              <a:t>Location</a:t>
            </a:r>
            <a:r>
              <a:rPr spc="15" dirty="0"/>
              <a:t> </a:t>
            </a:r>
            <a:r>
              <a:rPr spc="250" dirty="0"/>
              <a:t>dimensions</a:t>
            </a:r>
            <a:r>
              <a:rPr spc="10" dirty="0"/>
              <a:t> </a:t>
            </a:r>
            <a:r>
              <a:rPr spc="295" dirty="0"/>
              <a:t>can</a:t>
            </a:r>
            <a:r>
              <a:rPr spc="15" dirty="0"/>
              <a:t> </a:t>
            </a:r>
            <a:r>
              <a:rPr spc="170" dirty="0"/>
              <a:t>be </a:t>
            </a:r>
            <a:r>
              <a:rPr spc="290" dirty="0"/>
              <a:t>reversed</a:t>
            </a:r>
            <a:r>
              <a:rPr spc="10" dirty="0"/>
              <a:t> </a:t>
            </a:r>
            <a:r>
              <a:rPr spc="200" dirty="0"/>
              <a:t>so</a:t>
            </a:r>
            <a:r>
              <a:rPr spc="15" dirty="0"/>
              <a:t> </a:t>
            </a:r>
            <a:r>
              <a:rPr spc="345" dirty="0"/>
              <a:t>that</a:t>
            </a:r>
            <a:r>
              <a:rPr spc="25" dirty="0"/>
              <a:t> </a:t>
            </a:r>
            <a:r>
              <a:rPr spc="265" dirty="0"/>
              <a:t>Product</a:t>
            </a:r>
            <a:r>
              <a:rPr spc="25" dirty="0"/>
              <a:t> </a:t>
            </a:r>
            <a:r>
              <a:rPr spc="305" dirty="0"/>
              <a:t>appears</a:t>
            </a:r>
            <a:r>
              <a:rPr spc="15" dirty="0"/>
              <a:t> </a:t>
            </a:r>
            <a:r>
              <a:rPr spc="245" dirty="0"/>
              <a:t>on</a:t>
            </a:r>
            <a:r>
              <a:rPr spc="15" dirty="0"/>
              <a:t> </a:t>
            </a:r>
            <a:r>
              <a:rPr spc="290" dirty="0"/>
              <a:t>the </a:t>
            </a:r>
            <a:r>
              <a:rPr spc="245" dirty="0"/>
              <a:t>rows</a:t>
            </a:r>
            <a:r>
              <a:rPr dirty="0"/>
              <a:t> </a:t>
            </a:r>
            <a:r>
              <a:rPr spc="325" dirty="0"/>
              <a:t>and</a:t>
            </a:r>
            <a:r>
              <a:rPr spc="10" dirty="0"/>
              <a:t> </a:t>
            </a:r>
            <a:r>
              <a:rPr spc="200" dirty="0"/>
              <a:t>Location</a:t>
            </a:r>
            <a:r>
              <a:rPr spc="15" dirty="0"/>
              <a:t> </a:t>
            </a:r>
            <a:r>
              <a:rPr spc="245" dirty="0"/>
              <a:t>on</a:t>
            </a:r>
            <a:r>
              <a:rPr spc="15" dirty="0"/>
              <a:t> </a:t>
            </a:r>
            <a:r>
              <a:rPr spc="315" dirty="0"/>
              <a:t>the</a:t>
            </a:r>
            <a:r>
              <a:rPr spc="15" dirty="0"/>
              <a:t> </a:t>
            </a:r>
            <a:r>
              <a:rPr spc="215" dirty="0"/>
              <a:t>columns.</a:t>
            </a:r>
          </a:p>
          <a:p>
            <a:pPr marL="241300" marR="230504" indent="-228600">
              <a:lnSpc>
                <a:spcPct val="90700"/>
              </a:lnSpc>
              <a:spcBef>
                <a:spcPts val="940"/>
              </a:spcBef>
              <a:buFont typeface="Arial"/>
              <a:buChar char="•"/>
              <a:tabLst>
                <a:tab pos="241300" algn="l"/>
              </a:tabLst>
            </a:pPr>
            <a:r>
              <a:rPr spc="225" dirty="0"/>
              <a:t>The</a:t>
            </a:r>
            <a:r>
              <a:rPr dirty="0"/>
              <a:t> </a:t>
            </a:r>
            <a:r>
              <a:rPr spc="210" dirty="0"/>
              <a:t>pivot</a:t>
            </a:r>
            <a:r>
              <a:rPr spc="10" dirty="0"/>
              <a:t> </a:t>
            </a:r>
            <a:r>
              <a:rPr spc="285" dirty="0"/>
              <a:t>operator</a:t>
            </a:r>
            <a:r>
              <a:rPr spc="5" dirty="0"/>
              <a:t> </a:t>
            </a:r>
            <a:r>
              <a:rPr spc="175" dirty="0"/>
              <a:t>allows</a:t>
            </a:r>
            <a:r>
              <a:rPr dirty="0"/>
              <a:t> </a:t>
            </a:r>
            <a:r>
              <a:rPr spc="330" dirty="0"/>
              <a:t>a</a:t>
            </a:r>
            <a:r>
              <a:rPr spc="5" dirty="0"/>
              <a:t> </a:t>
            </a:r>
            <a:r>
              <a:rPr spc="320" dirty="0"/>
              <a:t>data</a:t>
            </a:r>
            <a:r>
              <a:rPr dirty="0"/>
              <a:t> </a:t>
            </a:r>
            <a:r>
              <a:rPr spc="225" dirty="0"/>
              <a:t>cube</a:t>
            </a:r>
            <a:r>
              <a:rPr dirty="0"/>
              <a:t> </a:t>
            </a:r>
            <a:r>
              <a:rPr spc="235" dirty="0"/>
              <a:t>to</a:t>
            </a:r>
            <a:r>
              <a:rPr dirty="0"/>
              <a:t> </a:t>
            </a:r>
            <a:r>
              <a:rPr spc="170" dirty="0"/>
              <a:t>be </a:t>
            </a:r>
            <a:r>
              <a:rPr spc="295" dirty="0"/>
              <a:t>presented</a:t>
            </a:r>
            <a:r>
              <a:rPr spc="10" dirty="0"/>
              <a:t> </a:t>
            </a:r>
            <a:r>
              <a:rPr spc="229" dirty="0"/>
              <a:t>in</a:t>
            </a:r>
            <a:r>
              <a:rPr spc="15" dirty="0"/>
              <a:t> </a:t>
            </a:r>
            <a:r>
              <a:rPr spc="315" dirty="0"/>
              <a:t>the</a:t>
            </a:r>
            <a:r>
              <a:rPr spc="15" dirty="0"/>
              <a:t> </a:t>
            </a:r>
            <a:r>
              <a:rPr spc="285" dirty="0"/>
              <a:t>most</a:t>
            </a:r>
            <a:r>
              <a:rPr spc="20" dirty="0"/>
              <a:t> </a:t>
            </a:r>
            <a:r>
              <a:rPr spc="229" dirty="0"/>
              <a:t>appealing</a:t>
            </a:r>
            <a:r>
              <a:rPr spc="15" dirty="0"/>
              <a:t> </a:t>
            </a:r>
            <a:r>
              <a:rPr spc="215" dirty="0"/>
              <a:t>visual </a:t>
            </a:r>
            <a:r>
              <a:rPr spc="200" dirty="0"/>
              <a:t>order.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2637" y="2767076"/>
            <a:ext cx="23983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/>
              <a:t>Question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Introduction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" dirty="0"/>
              <a:t>Multidimensional</a:t>
            </a:r>
            <a:r>
              <a:rPr dirty="0"/>
              <a:t> Data </a:t>
            </a:r>
            <a:r>
              <a:rPr spc="-20" dirty="0"/>
              <a:t>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Musabbir</a:t>
            </a:r>
            <a:r>
              <a:rPr spc="-40" dirty="0"/>
              <a:t> </a:t>
            </a:r>
            <a:r>
              <a:rPr spc="-10" dirty="0"/>
              <a:t>Hasan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742947"/>
            <a:ext cx="7512050" cy="3848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45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210" dirty="0">
                <a:latin typeface="Times New Roman"/>
                <a:cs typeface="Times New Roman"/>
              </a:rPr>
              <a:t>What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280" dirty="0">
                <a:latin typeface="Times New Roman"/>
                <a:cs typeface="Times New Roman"/>
              </a:rPr>
              <a:t>are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27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240" dirty="0">
                <a:latin typeface="Times New Roman"/>
                <a:cs typeface="Times New Roman"/>
              </a:rPr>
              <a:t>advantages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195" dirty="0">
                <a:latin typeface="Times New Roman"/>
                <a:cs typeface="Times New Roman"/>
              </a:rPr>
              <a:t>multidimensional</a:t>
            </a:r>
            <a:endParaRPr sz="2400">
              <a:latin typeface="Times New Roman"/>
              <a:cs typeface="Times New Roman"/>
            </a:endParaRPr>
          </a:p>
          <a:p>
            <a:pPr marL="241300" marR="118745">
              <a:lnSpc>
                <a:spcPct val="69200"/>
              </a:lnSpc>
              <a:spcBef>
                <a:spcPts val="455"/>
              </a:spcBef>
            </a:pPr>
            <a:r>
              <a:rPr sz="2400" spc="245" dirty="0">
                <a:latin typeface="Times New Roman"/>
                <a:cs typeface="Times New Roman"/>
              </a:rPr>
              <a:t>representation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220" dirty="0">
                <a:latin typeface="Times New Roman"/>
                <a:cs typeface="Times New Roman"/>
              </a:rPr>
              <a:t>over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204" dirty="0">
                <a:latin typeface="Times New Roman"/>
                <a:cs typeface="Times New Roman"/>
              </a:rPr>
              <a:t>relational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245" dirty="0">
                <a:latin typeface="Times New Roman"/>
                <a:cs typeface="Times New Roman"/>
              </a:rPr>
              <a:t>representation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120" dirty="0">
                <a:latin typeface="Times New Roman"/>
                <a:cs typeface="Times New Roman"/>
              </a:rPr>
              <a:t>for </a:t>
            </a:r>
            <a:r>
              <a:rPr sz="2400" spc="210" dirty="0">
                <a:latin typeface="Times New Roman"/>
                <a:cs typeface="Times New Roman"/>
              </a:rPr>
              <a:t>business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235" dirty="0">
                <a:latin typeface="Times New Roman"/>
                <a:cs typeface="Times New Roman"/>
              </a:rPr>
              <a:t>analysts?</a:t>
            </a:r>
            <a:endParaRPr sz="2400">
              <a:latin typeface="Times New Roman"/>
              <a:cs typeface="Times New Roman"/>
            </a:endParaRPr>
          </a:p>
          <a:p>
            <a:pPr marL="240029" marR="822325" indent="-227329">
              <a:lnSpc>
                <a:spcPct val="70000"/>
              </a:lnSpc>
              <a:spcBef>
                <a:spcPts val="108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204" dirty="0">
                <a:latin typeface="Times New Roman"/>
                <a:cs typeface="Times New Roman"/>
              </a:rPr>
              <a:t>Explain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225" dirty="0">
                <a:latin typeface="Times New Roman"/>
                <a:cs typeface="Times New Roman"/>
              </a:rPr>
              <a:t>why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285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210" dirty="0">
                <a:latin typeface="Times New Roman"/>
                <a:cs typeface="Times New Roman"/>
              </a:rPr>
              <a:t>dimension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270" dirty="0">
                <a:latin typeface="Times New Roman"/>
                <a:cs typeface="Times New Roman"/>
              </a:rPr>
              <a:t>may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225" dirty="0">
                <a:latin typeface="Times New Roman"/>
                <a:cs typeface="Times New Roman"/>
              </a:rPr>
              <a:t>have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185" dirty="0">
                <a:latin typeface="Times New Roman"/>
                <a:cs typeface="Times New Roman"/>
              </a:rPr>
              <a:t>multiple 	</a:t>
            </a:r>
            <a:r>
              <a:rPr sz="2400" spc="204" dirty="0">
                <a:latin typeface="Times New Roman"/>
                <a:cs typeface="Times New Roman"/>
              </a:rPr>
              <a:t>hierarchies.</a:t>
            </a:r>
            <a:endParaRPr sz="2400">
              <a:latin typeface="Times New Roman"/>
              <a:cs typeface="Times New Roman"/>
            </a:endParaRPr>
          </a:p>
          <a:p>
            <a:pPr marL="240029" marR="5080" indent="-227329">
              <a:lnSpc>
                <a:spcPct val="692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210" dirty="0">
                <a:latin typeface="Times New Roman"/>
                <a:cs typeface="Times New Roman"/>
              </a:rPr>
              <a:t>What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280" dirty="0">
                <a:latin typeface="Times New Roman"/>
                <a:cs typeface="Times New Roman"/>
              </a:rPr>
              <a:t>are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27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240" dirty="0">
                <a:latin typeface="Times New Roman"/>
                <a:cs typeface="Times New Roman"/>
              </a:rPr>
              <a:t>advantages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200" dirty="0">
                <a:latin typeface="Times New Roman"/>
                <a:cs typeface="Times New Roman"/>
              </a:rPr>
              <a:t>using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170" dirty="0">
                <a:latin typeface="Times New Roman"/>
                <a:cs typeface="Times New Roman"/>
              </a:rPr>
              <a:t>time-</a:t>
            </a:r>
            <a:r>
              <a:rPr sz="2400" spc="215" dirty="0">
                <a:latin typeface="Times New Roman"/>
                <a:cs typeface="Times New Roman"/>
              </a:rPr>
              <a:t>series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250" dirty="0">
                <a:latin typeface="Times New Roman"/>
                <a:cs typeface="Times New Roman"/>
              </a:rPr>
              <a:t>data 	</a:t>
            </a:r>
            <a:r>
              <a:rPr sz="2400" spc="200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285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120" dirty="0">
                <a:latin typeface="Times New Roman"/>
                <a:cs typeface="Times New Roman"/>
              </a:rPr>
              <a:t>cell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229" dirty="0">
                <a:latin typeface="Times New Roman"/>
                <a:cs typeface="Times New Roman"/>
              </a:rPr>
              <a:t>instead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229" dirty="0">
                <a:latin typeface="Times New Roman"/>
                <a:cs typeface="Times New Roman"/>
              </a:rPr>
              <a:t>time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254" dirty="0">
                <a:latin typeface="Times New Roman"/>
                <a:cs typeface="Times New Roman"/>
              </a:rPr>
              <a:t>as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285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215" dirty="0">
                <a:latin typeface="Times New Roman"/>
                <a:cs typeface="Times New Roman"/>
              </a:rPr>
              <a:t>dimension?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130" dirty="0">
                <a:latin typeface="Times New Roman"/>
                <a:cs typeface="Times New Roman"/>
              </a:rPr>
              <a:t>How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155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Times New Roman"/>
                <a:cs typeface="Times New Roman"/>
              </a:rPr>
              <a:t>slicing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285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270" dirty="0">
                <a:latin typeface="Times New Roman"/>
                <a:cs typeface="Times New Roman"/>
              </a:rPr>
              <a:t>data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190" dirty="0">
                <a:latin typeface="Times New Roman"/>
                <a:cs typeface="Times New Roman"/>
              </a:rPr>
              <a:t>cube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185" dirty="0">
                <a:latin typeface="Times New Roman"/>
                <a:cs typeface="Times New Roman"/>
              </a:rPr>
              <a:t>different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210" dirty="0">
                <a:latin typeface="Times New Roman"/>
                <a:cs typeface="Times New Roman"/>
              </a:rPr>
              <a:t>from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180" dirty="0">
                <a:latin typeface="Times New Roman"/>
                <a:cs typeface="Times New Roman"/>
              </a:rPr>
              <a:t>dicing?</a:t>
            </a:r>
            <a:endParaRPr sz="2400">
              <a:latin typeface="Times New Roman"/>
              <a:cs typeface="Times New Roman"/>
            </a:endParaRPr>
          </a:p>
          <a:p>
            <a:pPr marL="240029" marR="385445" indent="-227329">
              <a:lnSpc>
                <a:spcPct val="72500"/>
              </a:lnSpc>
              <a:spcBef>
                <a:spcPts val="91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210" dirty="0">
                <a:latin typeface="Times New Roman"/>
                <a:cs typeface="Times New Roman"/>
              </a:rPr>
              <a:t>What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280" dirty="0">
                <a:latin typeface="Times New Roman"/>
                <a:cs typeface="Times New Roman"/>
              </a:rPr>
              <a:t>are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270" dirty="0">
                <a:latin typeface="Times New Roman"/>
                <a:cs typeface="Times New Roman"/>
              </a:rPr>
              <a:t>the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180" dirty="0">
                <a:latin typeface="Times New Roman"/>
                <a:cs typeface="Times New Roman"/>
              </a:rPr>
              <a:t>differences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210" dirty="0">
                <a:latin typeface="Times New Roman"/>
                <a:cs typeface="Times New Roman"/>
              </a:rPr>
              <a:t>between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Times New Roman"/>
                <a:cs typeface="Times New Roman"/>
              </a:rPr>
              <a:t>drilling-</a:t>
            </a:r>
            <a:r>
              <a:rPr sz="2400" spc="180" dirty="0">
                <a:latin typeface="Times New Roman"/>
                <a:cs typeface="Times New Roman"/>
              </a:rPr>
              <a:t>down 	</a:t>
            </a:r>
            <a:r>
              <a:rPr sz="2400" spc="280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130" dirty="0">
                <a:latin typeface="Times New Roman"/>
                <a:cs typeface="Times New Roman"/>
              </a:rPr>
              <a:t>rolling-</a:t>
            </a:r>
            <a:r>
              <a:rPr sz="2400" spc="254" dirty="0">
                <a:latin typeface="Times New Roman"/>
                <a:cs typeface="Times New Roman"/>
              </a:rPr>
              <a:t>up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285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270" dirty="0">
                <a:latin typeface="Times New Roman"/>
                <a:cs typeface="Times New Roman"/>
              </a:rPr>
              <a:t>data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190" dirty="0">
                <a:latin typeface="Times New Roman"/>
                <a:cs typeface="Times New Roman"/>
              </a:rPr>
              <a:t>cube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215" dirty="0">
                <a:latin typeface="Times New Roman"/>
                <a:cs typeface="Times New Roman"/>
              </a:rPr>
              <a:t>dimension?</a:t>
            </a:r>
            <a:endParaRPr sz="2400">
              <a:latin typeface="Times New Roman"/>
              <a:cs typeface="Times New Roman"/>
            </a:endParaRPr>
          </a:p>
          <a:p>
            <a:pPr marL="240029" marR="2289810" indent="-227329">
              <a:lnSpc>
                <a:spcPct val="700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130" dirty="0">
                <a:latin typeface="Times New Roman"/>
                <a:cs typeface="Times New Roman"/>
              </a:rPr>
              <a:t>How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15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285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180" dirty="0">
                <a:latin typeface="Times New Roman"/>
                <a:cs typeface="Times New Roman"/>
              </a:rPr>
              <a:t>pivot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220" dirty="0">
                <a:latin typeface="Times New Roman"/>
                <a:cs typeface="Times New Roman"/>
              </a:rPr>
              <a:t>operation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175" dirty="0">
                <a:latin typeface="Times New Roman"/>
                <a:cs typeface="Times New Roman"/>
              </a:rPr>
              <a:t>useful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120" dirty="0">
                <a:latin typeface="Times New Roman"/>
                <a:cs typeface="Times New Roman"/>
              </a:rPr>
              <a:t>for 	</a:t>
            </a:r>
            <a:r>
              <a:rPr sz="2400" spc="204" dirty="0">
                <a:latin typeface="Times New Roman"/>
                <a:cs typeface="Times New Roman"/>
              </a:rPr>
              <a:t>multidimensional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240" dirty="0">
                <a:latin typeface="Times New Roman"/>
                <a:cs typeface="Times New Roman"/>
              </a:rPr>
              <a:t>databases?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156</TotalTime>
  <Words>2592</Words>
  <Application>Microsoft Office PowerPoint</Application>
  <PresentationFormat>On-screen Show (4:3)</PresentationFormat>
  <Paragraphs>331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Aptos</vt:lpstr>
      <vt:lpstr>Aptos Display</vt:lpstr>
      <vt:lpstr>Arial</vt:lpstr>
      <vt:lpstr>Book Antiqua</vt:lpstr>
      <vt:lpstr>Calibri</vt:lpstr>
      <vt:lpstr>Times New Roman</vt:lpstr>
      <vt:lpstr>Office Theme</vt:lpstr>
      <vt:lpstr>Introduction to Multidimensional Data Model</vt:lpstr>
      <vt:lpstr>Online Transaction Processing (OLTP) Systems</vt:lpstr>
      <vt:lpstr>OLTP</vt:lpstr>
      <vt:lpstr>OLTP</vt:lpstr>
      <vt:lpstr>OLTP</vt:lpstr>
      <vt:lpstr>Transactions</vt:lpstr>
      <vt:lpstr>OLTP</vt:lpstr>
      <vt:lpstr>Online Analytical Processing (OLAP)</vt:lpstr>
      <vt:lpstr>OLAP</vt:lpstr>
      <vt:lpstr>OLAP</vt:lpstr>
      <vt:lpstr>OLTP vs OLAP</vt:lpstr>
      <vt:lpstr>Multidimensional Data Representation</vt:lpstr>
      <vt:lpstr>Why Multidimensional Data</vt:lpstr>
      <vt:lpstr>Why Dimensional Modeling?</vt:lpstr>
      <vt:lpstr>An Example</vt:lpstr>
      <vt:lpstr>An Example</vt:lpstr>
      <vt:lpstr>An Example</vt:lpstr>
      <vt:lpstr>Another Example</vt:lpstr>
      <vt:lpstr>Relational Data</vt:lpstr>
      <vt:lpstr>Problems with Relational Data</vt:lpstr>
      <vt:lpstr>Problems with Relational Data</vt:lpstr>
      <vt:lpstr>Solution: Multidimensional Data</vt:lpstr>
      <vt:lpstr>Multidimensional Data Advantages</vt:lpstr>
      <vt:lpstr>Multidimensional Data Advantages</vt:lpstr>
      <vt:lpstr>Multidimensional Data Advantages</vt:lpstr>
      <vt:lpstr>Multidimensional Data Disadvantages</vt:lpstr>
      <vt:lpstr>Multidimensional Terminologies</vt:lpstr>
      <vt:lpstr>Data Cube</vt:lpstr>
      <vt:lpstr>Data Cube</vt:lpstr>
      <vt:lpstr>Dimension Details</vt:lpstr>
      <vt:lpstr>Dimension Details</vt:lpstr>
      <vt:lpstr>Multiple Hierarchies</vt:lpstr>
      <vt:lpstr>Measure Details</vt:lpstr>
      <vt:lpstr>Measure Details</vt:lpstr>
      <vt:lpstr>Data Cube Operations</vt:lpstr>
      <vt:lpstr>Slice</vt:lpstr>
      <vt:lpstr>Slice</vt:lpstr>
      <vt:lpstr>Slice</vt:lpstr>
      <vt:lpstr>Slice-Summarize</vt:lpstr>
      <vt:lpstr>Slice-Summarize</vt:lpstr>
      <vt:lpstr>Dice</vt:lpstr>
      <vt:lpstr>Dice</vt:lpstr>
      <vt:lpstr>Dice</vt:lpstr>
      <vt:lpstr>Drill-Down</vt:lpstr>
      <vt:lpstr>Drill-Down</vt:lpstr>
      <vt:lpstr>Drill-Down</vt:lpstr>
      <vt:lpstr>Roll-Up</vt:lpstr>
      <vt:lpstr>Roll-Up</vt:lpstr>
      <vt:lpstr>Pivot</vt:lpstr>
      <vt:lpstr>Pivot</vt:lpstr>
      <vt:lpstr>Pivot</vt:lpstr>
      <vt:lpstr>Question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Ashraful Islam Paran</cp:lastModifiedBy>
  <cp:revision>5</cp:revision>
  <dcterms:created xsi:type="dcterms:W3CDTF">2025-10-04T13:25:18Z</dcterms:created>
  <dcterms:modified xsi:type="dcterms:W3CDTF">2025-10-04T16:07:55Z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2023-09-15T00:00:00Z</vt:filetime>
  </property>
  <property fmtid="{D5CDD505-2E9C-101B-9397-08002B2CF9AE}" pid="3" name="LastSaved">
    <vt:filetime>2025-10-04T00:00:00Z</vt:filetime>
  </property>
  <property fmtid="{D5CDD505-2E9C-101B-9397-08002B2CF9AE}" pid="4" name="Producer">
    <vt:lpwstr>3-Heights(TM) PDF Security Shell 4.8.25.2 (http://www.pdf-tools.com)</vt:lpwstr>
  </property>
  <property fmtid="{D5CDD505-2E9C-101B-9397-08002B2CF9AE}" pid="5" name="MSIP_Label_defa4170-0d19-0005-0004-bc88714345d2_Enabled">
    <vt:lpwstr>true</vt:lpwstr>
  </property>
  <property fmtid="{D5CDD505-2E9C-101B-9397-08002B2CF9AE}" pid="6" name="MSIP_Label_defa4170-0d19-0005-0004-bc88714345d2_SetDate">
    <vt:lpwstr>2025-10-04T13:31:53Z</vt:lpwstr>
  </property>
  <property fmtid="{D5CDD505-2E9C-101B-9397-08002B2CF9AE}" pid="7" name="MSIP_Label_defa4170-0d19-0005-0004-bc88714345d2_Method">
    <vt:lpwstr>Standard</vt:lpwstr>
  </property>
  <property fmtid="{D5CDD505-2E9C-101B-9397-08002B2CF9AE}" pid="8" name="MSIP_Label_defa4170-0d19-0005-0004-bc88714345d2_Name">
    <vt:lpwstr>defa4170-0d19-0005-0004-bc88714345d2</vt:lpwstr>
  </property>
  <property fmtid="{D5CDD505-2E9C-101B-9397-08002B2CF9AE}" pid="9" name="MSIP_Label_defa4170-0d19-0005-0004-bc88714345d2_SiteId">
    <vt:lpwstr>248d3fd5-07bc-47d9-926d-1556b634441f</vt:lpwstr>
  </property>
  <property fmtid="{D5CDD505-2E9C-101B-9397-08002B2CF9AE}" pid="10" name="MSIP_Label_defa4170-0d19-0005-0004-bc88714345d2_ActionId">
    <vt:lpwstr>85a6602f-40e6-469b-9fae-89b5a9f3389a</vt:lpwstr>
  </property>
  <property fmtid="{D5CDD505-2E9C-101B-9397-08002B2CF9AE}" pid="11" name="MSIP_Label_defa4170-0d19-0005-0004-bc88714345d2_ContentBits">
    <vt:lpwstr>0</vt:lpwstr>
  </property>
  <property fmtid="{D5CDD505-2E9C-101B-9397-08002B2CF9AE}" pid="12" name="MSIP_Label_defa4170-0d19-0005-0004-bc88714345d2_Tag">
    <vt:lpwstr>10, 3, 0, 1</vt:lpwstr>
  </property>
</Properties>
</file>